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7495ce608c4964" /><Relationship Type="http://schemas.openxmlformats.org/officeDocument/2006/relationships/extended-properties" Target="/docProps/app.xml" Id="R237f4bfcc78349ca" /><Relationship Type="http://schemas.openxmlformats.org/officeDocument/2006/relationships/officeDocument" Target="/ppt/presentation.xml" Id="R76c8ba3c3a2e41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2b4bf664ed46f5"/>
  </p:sldMasterIdLst>
  <p:notesMasterIdLst>
    <p:notesMasterId xmlns:r="http://schemas.openxmlformats.org/officeDocument/2006/relationships" r:id="Re4de8bcd427b4ed2"/>
  </p:notesMasterIdLst>
  <p:sldIdLst>
    <p:sldId xmlns:r="http://schemas.openxmlformats.org/officeDocument/2006/relationships" id="256" r:id="Rad06fbbb2edf4c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51e932c86542d7" /><Relationship Type="http://schemas.openxmlformats.org/officeDocument/2006/relationships/slideMaster" Target="/ppt/slideMasters/slideMaster1.xml" Id="Rea2b4bf664ed46f5" /><Relationship Type="http://schemas.openxmlformats.org/officeDocument/2006/relationships/notesMaster" Target="/ppt/notesMasters/notesMaster1.xml" Id="Re4de8bcd427b4ed2" /><Relationship Type="http://schemas.openxmlformats.org/officeDocument/2006/relationships/presProps" Target="/ppt/presProps.xml" Id="R6f1821b472ea44a5" /><Relationship Type="http://schemas.openxmlformats.org/officeDocument/2006/relationships/tableStyles" Target="/ppt/tableStyles.xml" Id="Rbf23f184819845ad" /><Relationship Type="http://schemas.openxmlformats.org/officeDocument/2006/relationships/slide" Target="/ppt/slides/slide1.xml" Id="Rad06fbbb2edf4c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b886888a1942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95348201514ed4" /><Relationship Type="http://schemas.openxmlformats.org/officeDocument/2006/relationships/notesMaster" Target="/ppt/notesMasters/notesMaster1.xml" Id="Refdd95dcc88a43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657a80ae64d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c634f556fe4699" /><Relationship Type="http://schemas.openxmlformats.org/officeDocument/2006/relationships/slideLayout" Target="/ppt/slideLayouts/slideLayout1.xml" Id="Ra2de942c8df742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de942c8df742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87337ef0a44dd" /><Relationship Type="http://schemas.openxmlformats.org/officeDocument/2006/relationships/image" Target="/ppt/media/image.png" Id="R3d0bcbf187274461" /><Relationship Type="http://schemas.openxmlformats.org/officeDocument/2006/relationships/image" Target="/ppt/media/image2.png" Id="Rd6442cc958584c8c" /><Relationship Type="http://schemas.openxmlformats.org/officeDocument/2006/relationships/image" Target="/ppt/media/image3.png" Id="Rc0366ac477c84d2c" /><Relationship Type="http://schemas.openxmlformats.org/officeDocument/2006/relationships/image" Target="/ppt/media/image4.png" Id="R1da3df96ccc94162" /><Relationship Type="http://schemas.openxmlformats.org/officeDocument/2006/relationships/image" Target="/ppt/media/image5.png" Id="R1a23a05a32174fee" /><Relationship Type="http://schemas.openxmlformats.org/officeDocument/2006/relationships/image" Target="/ppt/media/image6.png" Id="Rc5f9d50a0f2747a4" /><Relationship Type="http://schemas.openxmlformats.org/officeDocument/2006/relationships/image" Target="/ppt/media/image7.png" Id="Rf6dcb115e72d4125" /><Relationship Type="http://schemas.openxmlformats.org/officeDocument/2006/relationships/image" Target="/ppt/media/image8.png" Id="R1e1d65b88cad4543" /><Relationship Type="http://schemas.openxmlformats.org/officeDocument/2006/relationships/image" Target="/ppt/media/image9.png" Id="R44ba912e1a4c49a0" /><Relationship Type="http://schemas.openxmlformats.org/officeDocument/2006/relationships/notesSlide" Target="/ppt/notesSlides/notesSlide1.xml" Id="Re24fda1a48dc46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Digital Brain">
            <a:extLst xmlns:a="http://schemas.openxmlformats.org/drawingml/2006/main">
              <a:ext uri="{FF2B5EF4-FFF2-40B4-BE49-F238E27FC236}">
                <a16:creationId xmlns:a16="http://schemas.microsoft.com/office/drawing/2014/main" id="{283E71C5-9680-43B3-9562-C87E59A3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Digital Brain</a:t>
            </a:r>
          </a:p>
        </p:txBody>
      </p:sp>
      <p:sp>
        <p:nvSpPr>
          <p:cNvPr id="2" name="ARCHITECTURE">
            <a:extLst xmlns:a="http://schemas.openxmlformats.org/drawingml/2006/main">
              <a:ext uri="{FF2B5EF4-FFF2-40B4-BE49-F238E27FC236}">
                <a16:creationId xmlns:a16="http://schemas.microsoft.com/office/drawing/2014/main" id="{F656C96B-6EB6-4584-9205-D787EE58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90575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AC033-8C2C-4F1F-AC17-9B732BA0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572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4" name="Connect">
            <a:extLst xmlns:a="http://schemas.openxmlformats.org/drawingml/2006/main">
              <a:ext uri="{FF2B5EF4-FFF2-40B4-BE49-F238E27FC236}">
                <a16:creationId xmlns:a16="http://schemas.microsoft.com/office/drawing/2014/main" id="{22AD7EBB-9580-4173-83AF-E2484F2B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71575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5" name="pluggable connectors">
            <a:extLst xmlns:a="http://schemas.openxmlformats.org/drawingml/2006/main">
              <a:ext uri="{FF2B5EF4-FFF2-40B4-BE49-F238E27FC236}">
                <a16:creationId xmlns:a16="http://schemas.microsoft.com/office/drawing/2014/main" id="{6335CA4E-BF29-46B3-8821-6B075357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38275"/>
            <a:ext cx="1524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pluggable connectors</a:t>
            </a:r>
          </a:p>
        </p:txBody>
      </p:sp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bcbf187274461"/>
          <a:stretch xmlns:a="http://schemas.openxmlformats.org/drawingml/2006/main"/>
        </p:blipFill>
        <p:spPr>
          <a:xfrm xmlns:a="http://schemas.openxmlformats.org/drawingml/2006/main">
            <a:off x="381000" y="1752600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7" name="Upload &amp; links">
            <a:extLst xmlns:a="http://schemas.openxmlformats.org/drawingml/2006/main">
              <a:ext uri="{FF2B5EF4-FFF2-40B4-BE49-F238E27FC236}">
                <a16:creationId xmlns:a16="http://schemas.microsoft.com/office/drawing/2014/main" id="{48FE8916-C73D-4DA0-855D-1532949E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362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83D50"/>
                </a:solidFill>
                <a:latin typeface="Arial"/>
                <a:ea typeface="Arial"/>
                <a:cs typeface="Arial"/>
              </a:rPr>
              <a:t>Upload &amp; links</a:t>
            </a:r>
          </a:p>
        </p:txBody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42cc958584c8c"/>
          <a:stretch xmlns:a="http://schemas.openxmlformats.org/drawingml/2006/main"/>
        </p:blipFill>
        <p:spPr>
          <a:xfrm xmlns:a="http://schemas.openxmlformats.org/drawingml/2006/main">
            <a:off x="381000" y="2009775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9" name="SharePoint OneDrive">
            <a:extLst xmlns:a="http://schemas.openxmlformats.org/drawingml/2006/main">
              <a:ext uri="{FF2B5EF4-FFF2-40B4-BE49-F238E27FC236}">
                <a16:creationId xmlns:a16="http://schemas.microsoft.com/office/drawing/2014/main" id="{3E750046-B770-4842-8463-2052FA42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1362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SharePoint OneDrive</a:t>
            </a:r>
          </a:p>
        </p:txBody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66ac477c84d2c"/>
          <a:stretch xmlns:a="http://schemas.openxmlformats.org/drawingml/2006/main"/>
        </p:blipFill>
        <p:spPr>
          <a:xfrm xmlns:a="http://schemas.openxmlformats.org/drawingml/2006/main">
            <a:off x="381000" y="2266950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11" name="GitHub">
            <a:extLst xmlns:a="http://schemas.openxmlformats.org/drawingml/2006/main">
              <a:ext uri="{FF2B5EF4-FFF2-40B4-BE49-F238E27FC236}">
                <a16:creationId xmlns:a16="http://schemas.microsoft.com/office/drawing/2014/main" id="{58073B5B-AA74-4088-A92A-5E3FA81C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1362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3df96ccc94162"/>
          <a:stretch xmlns:a="http://schemas.openxmlformats.org/drawingml/2006/main"/>
        </p:blipFill>
        <p:spPr>
          <a:xfrm xmlns:a="http://schemas.openxmlformats.org/drawingml/2006/main">
            <a:off x="381000" y="2524125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13" name="Jira">
            <a:extLst xmlns:a="http://schemas.openxmlformats.org/drawingml/2006/main">
              <a:ext uri="{FF2B5EF4-FFF2-40B4-BE49-F238E27FC236}">
                <a16:creationId xmlns:a16="http://schemas.microsoft.com/office/drawing/2014/main" id="{2E7C4154-920D-4B02-B262-79D0B0BC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1362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Jira</a:t>
            </a:r>
          </a:p>
        </p:txBody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3a05a32174fee"/>
          <a:stretch xmlns:a="http://schemas.openxmlformats.org/drawingml/2006/main"/>
        </p:blipFill>
        <p:spPr>
          <a:xfrm xmlns:a="http://schemas.openxmlformats.org/drawingml/2006/main">
            <a:off x="381000" y="2781300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15" name="ServiceNow">
            <a:extLst xmlns:a="http://schemas.openxmlformats.org/drawingml/2006/main">
              <a:ext uri="{FF2B5EF4-FFF2-40B4-BE49-F238E27FC236}">
                <a16:creationId xmlns:a16="http://schemas.microsoft.com/office/drawing/2014/main" id="{44D1E2B4-2E3D-41EE-854B-D3E8717A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362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ServiceNow</a:t>
            </a:r>
          </a:p>
        </p:txBody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9d50a0f2747a4"/>
          <a:stretch xmlns:a="http://schemas.openxmlformats.org/drawingml/2006/main"/>
        </p:blipFill>
        <p:spPr>
          <a:xfrm xmlns:a="http://schemas.openxmlformats.org/drawingml/2006/main">
            <a:off x="381000" y="3038475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17" name="Add more">
            <a:extLst xmlns:a="http://schemas.openxmlformats.org/drawingml/2006/main">
              <a:ext uri="{FF2B5EF4-FFF2-40B4-BE49-F238E27FC236}">
                <a16:creationId xmlns:a16="http://schemas.microsoft.com/office/drawing/2014/main" id="{FDB5EAF7-A2F2-4A21-92D3-031BD454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9425"/>
            <a:ext cx="1362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Add more</a:t>
            </a:r>
          </a:p>
        </p:txBody>
      </p:sp>
      <p:sp>
        <p:nvSpPr>
          <p:cNvPr id="18" name="→">
            <a:extLst xmlns:a="http://schemas.openxmlformats.org/drawingml/2006/main">
              <a:ext uri="{FF2B5EF4-FFF2-40B4-BE49-F238E27FC236}">
                <a16:creationId xmlns:a16="http://schemas.microsoft.com/office/drawing/2014/main" id="{875B6046-6122-44F2-891B-82DB07F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152525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Ingest">
            <a:extLst xmlns:a="http://schemas.openxmlformats.org/drawingml/2006/main">
              <a:ext uri="{FF2B5EF4-FFF2-40B4-BE49-F238E27FC236}">
                <a16:creationId xmlns:a16="http://schemas.microsoft.com/office/drawing/2014/main" id="{66EC4D13-6C2C-4AD0-AF28-4CB90FB7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1715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Ingest</a:t>
            </a:r>
          </a:p>
        </p:txBody>
      </p:sp>
      <p:sp>
        <p:nvSpPr>
          <p:cNvPr id="20" name="safe &amp; traceable">
            <a:extLst xmlns:a="http://schemas.openxmlformats.org/drawingml/2006/main">
              <a:ext uri="{FF2B5EF4-FFF2-40B4-BE49-F238E27FC236}">
                <a16:creationId xmlns:a16="http://schemas.microsoft.com/office/drawing/2014/main" id="{39166F0E-6666-41F3-91C1-7980BE34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38275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safe &amp; traceable</a:t>
            </a:r>
          </a:p>
        </p:txBody>
      </p:sp>
      <p:sp>
        <p:nvSpPr>
          <p:cNvPr id="21" name="Secure upload">
            <a:extLst xmlns:a="http://schemas.openxmlformats.org/drawingml/2006/main">
              <a:ext uri="{FF2B5EF4-FFF2-40B4-BE49-F238E27FC236}">
                <a16:creationId xmlns:a16="http://schemas.microsoft.com/office/drawing/2014/main" id="{31875AA7-48BF-4FE8-958D-055EAC04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14500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Secure upload</a:t>
            </a:r>
          </a:p>
        </p:txBody>
      </p:sp>
      <p:sp>
        <p:nvSpPr>
          <p:cNvPr id="22" name="held privately">
            <a:extLst xmlns:a="http://schemas.openxmlformats.org/drawingml/2006/main">
              <a:ext uri="{FF2B5EF4-FFF2-40B4-BE49-F238E27FC236}">
                <a16:creationId xmlns:a16="http://schemas.microsoft.com/office/drawing/2014/main" id="{CAB00358-EC25-4187-A1D8-09412285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14525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held privately</a:t>
            </a:r>
          </a:p>
        </p:txBody>
      </p:sp>
      <p:sp>
        <p:nvSpPr>
          <p:cNvPr id="23" name="↓">
            <a:extLst xmlns:a="http://schemas.openxmlformats.org/drawingml/2006/main">
              <a:ext uri="{FF2B5EF4-FFF2-40B4-BE49-F238E27FC236}">
                <a16:creationId xmlns:a16="http://schemas.microsoft.com/office/drawing/2014/main" id="{CDD1BC05-ADFF-45C1-B6B1-99968739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81200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4" name="Security scan">
            <a:extLst xmlns:a="http://schemas.openxmlformats.org/drawingml/2006/main">
              <a:ext uri="{FF2B5EF4-FFF2-40B4-BE49-F238E27FC236}">
                <a16:creationId xmlns:a16="http://schemas.microsoft.com/office/drawing/2014/main" id="{6594C61C-5EAB-45E2-91AB-3F7C35CB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24075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Security scan</a:t>
            </a:r>
          </a:p>
        </p:txBody>
      </p:sp>
      <p:sp>
        <p:nvSpPr>
          <p:cNvPr id="25" name="unsafe files blocked">
            <a:extLst xmlns:a="http://schemas.openxmlformats.org/drawingml/2006/main">
              <a:ext uri="{FF2B5EF4-FFF2-40B4-BE49-F238E27FC236}">
                <a16:creationId xmlns:a16="http://schemas.microsoft.com/office/drawing/2014/main" id="{20A87B7E-29E6-42B3-9CFC-8ACD79DD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24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unsafe files blocked</a:t>
            </a:r>
          </a:p>
        </p:txBody>
      </p:sp>
      <p:sp>
        <p:nvSpPr>
          <p:cNvPr id="26" name="↓">
            <a:extLst xmlns:a="http://schemas.openxmlformats.org/drawingml/2006/main">
              <a:ext uri="{FF2B5EF4-FFF2-40B4-BE49-F238E27FC236}">
                <a16:creationId xmlns:a16="http://schemas.microsoft.com/office/drawing/2014/main" id="{BEE61D2D-4715-4EA3-B449-67ADEAD7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90775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7" name="To Markdown">
            <a:extLst xmlns:a="http://schemas.openxmlformats.org/drawingml/2006/main">
              <a:ext uri="{FF2B5EF4-FFF2-40B4-BE49-F238E27FC236}">
                <a16:creationId xmlns:a16="http://schemas.microsoft.com/office/drawing/2014/main" id="{ED5D36EF-6363-47D7-813B-AB54EDF0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3650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To Markdown</a:t>
            </a:r>
          </a:p>
        </p:txBody>
      </p:sp>
      <p:sp>
        <p:nvSpPr>
          <p:cNvPr id="28" name="converted offline">
            <a:extLst xmlns:a="http://schemas.openxmlformats.org/drawingml/2006/main">
              <a:ext uri="{FF2B5EF4-FFF2-40B4-BE49-F238E27FC236}">
                <a16:creationId xmlns:a16="http://schemas.microsoft.com/office/drawing/2014/main" id="{EF035263-6386-4C0E-AD70-B56B14C9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33675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converted offline</a:t>
            </a:r>
          </a:p>
        </p:txBody>
      </p:sp>
      <p:sp>
        <p:nvSpPr>
          <p:cNvPr id="29" name="↓">
            <a:extLst xmlns:a="http://schemas.openxmlformats.org/drawingml/2006/main">
              <a:ext uri="{FF2B5EF4-FFF2-40B4-BE49-F238E27FC236}">
                <a16:creationId xmlns:a16="http://schemas.microsoft.com/office/drawing/2014/main" id="{04FB9160-B70E-4485-9959-B24F22F1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00350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0" name="Knowledge">
            <a:extLst xmlns:a="http://schemas.openxmlformats.org/drawingml/2006/main">
              <a:ext uri="{FF2B5EF4-FFF2-40B4-BE49-F238E27FC236}">
                <a16:creationId xmlns:a16="http://schemas.microsoft.com/office/drawing/2014/main" id="{C2DE08EC-6646-405E-8653-B6A953A3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43225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31" name="version controlled">
            <a:extLst xmlns:a="http://schemas.openxmlformats.org/drawingml/2006/main">
              <a:ext uri="{FF2B5EF4-FFF2-40B4-BE49-F238E27FC236}">
                <a16:creationId xmlns:a16="http://schemas.microsoft.com/office/drawing/2014/main" id="{4A15A092-00A2-487E-94C5-E4DC4833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432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version controlled</a:t>
            </a:r>
          </a:p>
        </p:txBody>
      </p:sp>
      <p:sp>
        <p:nvSpPr>
          <p:cNvPr id="32" name="→">
            <a:extLst xmlns:a="http://schemas.openxmlformats.org/drawingml/2006/main">
              <a:ext uri="{FF2B5EF4-FFF2-40B4-BE49-F238E27FC236}">
                <a16:creationId xmlns:a16="http://schemas.microsoft.com/office/drawing/2014/main" id="{D0A31D79-806E-40CF-9648-BC28B5D8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152525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3" name="Know &amp; Act">
            <a:extLst xmlns:a="http://schemas.openxmlformats.org/drawingml/2006/main">
              <a:ext uri="{FF2B5EF4-FFF2-40B4-BE49-F238E27FC236}">
                <a16:creationId xmlns:a16="http://schemas.microsoft.com/office/drawing/2014/main" id="{748AF9C5-2E5F-4A20-99E5-F93842FF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1715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Know &amp; Act</a:t>
            </a:r>
          </a:p>
        </p:txBody>
      </p:sp>
      <p:sp>
        <p:nvSpPr>
          <p:cNvPr id="34" name="sealed per application">
            <a:extLst xmlns:a="http://schemas.openxmlformats.org/drawingml/2006/main">
              <a:ext uri="{FF2B5EF4-FFF2-40B4-BE49-F238E27FC236}">
                <a16:creationId xmlns:a16="http://schemas.microsoft.com/office/drawing/2014/main" id="{2415D654-99BE-423D-B573-9399ECC9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09675"/>
            <a:ext cx="2238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sealed per application</a:t>
            </a:r>
          </a:p>
        </p:txBody>
      </p:sp>
      <p:sp>
        <p:nvSpPr>
          <p:cNvPr id="35" name="CODE FACTORY">
            <a:extLst xmlns:a="http://schemas.openxmlformats.org/drawingml/2006/main">
              <a:ext uri="{FF2B5EF4-FFF2-40B4-BE49-F238E27FC236}">
                <a16:creationId xmlns:a16="http://schemas.microsoft.com/office/drawing/2014/main" id="{6B7880EC-5E96-4B03-B08E-2A65B457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90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CODE FACTORY</a:t>
            </a:r>
          </a:p>
        </p:txBody>
      </p:sp>
      <p:sp>
        <p:nvSpPr>
          <p:cNvPr id="36" name="USES">
            <a:extLst xmlns:a="http://schemas.openxmlformats.org/drawingml/2006/main">
              <a:ext uri="{FF2B5EF4-FFF2-40B4-BE49-F238E27FC236}">
                <a16:creationId xmlns:a16="http://schemas.microsoft.com/office/drawing/2014/main" id="{7C161D68-095C-4787-857D-C1950240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192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37" name="Project docs&#10;knowledge graph">
            <a:extLst xmlns:a="http://schemas.openxmlformats.org/drawingml/2006/main">
              <a:ext uri="{FF2B5EF4-FFF2-40B4-BE49-F238E27FC236}">
                <a16:creationId xmlns:a16="http://schemas.microsoft.com/office/drawing/2014/main" id="{587EFAC6-EA5F-4246-BE14-A376F004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790700"/>
            <a:ext cx="1838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Project docs</a:t>
            </a:r>
          </a:p>
          <a:p xmlns:a="http://schemas.openxmlformats.org/drawingml/2006/main">
            <a:pPr algn="l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knowledge graph</a:t>
            </a:r>
          </a:p>
        </p:txBody>
      </p:sp>
      <p:sp>
        <p:nvSpPr>
          <p:cNvPr id="38" name="Code&#10;code graph">
            <a:extLst xmlns:a="http://schemas.openxmlformats.org/drawingml/2006/main">
              <a:ext uri="{FF2B5EF4-FFF2-40B4-BE49-F238E27FC236}">
                <a16:creationId xmlns:a16="http://schemas.microsoft.com/office/drawing/2014/main" id="{B44F96CB-893B-47D1-8937-230E4D6B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7907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Code</a:t>
            </a:r>
          </a:p>
          <a:p xmlns:a="http://schemas.openxmlformats.org/drawingml/2006/main">
            <a:pPr algn="l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code graph</a:t>
            </a:r>
          </a:p>
        </p:txBody>
      </p:sp>
      <p:sp>
        <p:nvSpPr>
          <p:cNvPr id="39" name="Bug&#10;from ticket">
            <a:extLst xmlns:a="http://schemas.openxmlformats.org/drawingml/2006/main">
              <a:ext uri="{FF2B5EF4-FFF2-40B4-BE49-F238E27FC236}">
                <a16:creationId xmlns:a16="http://schemas.microsoft.com/office/drawing/2014/main" id="{7616C157-E612-404C-8D05-7C713CF5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790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Bug</a:t>
            </a:r>
          </a:p>
          <a:p xmlns:a="http://schemas.openxmlformats.org/drawingml/2006/main">
            <a:pPr algn="l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from ticket</a:t>
            </a:r>
          </a:p>
        </p:txBody>
      </p:sp>
      <p:sp>
        <p:nvSpPr>
          <p:cNvPr id="40" name="RUNS">
            <a:extLst xmlns:a="http://schemas.openxmlformats.org/drawingml/2006/main">
              <a:ext uri="{FF2B5EF4-FFF2-40B4-BE49-F238E27FC236}">
                <a16:creationId xmlns:a16="http://schemas.microsoft.com/office/drawing/2014/main" id="{5FEE924B-0AD8-4A62-9EB2-19154265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41" name="Pre-checks">
            <a:extLst xmlns:a="http://schemas.openxmlformats.org/drawingml/2006/main">
              <a:ext uri="{FF2B5EF4-FFF2-40B4-BE49-F238E27FC236}">
                <a16:creationId xmlns:a16="http://schemas.microsoft.com/office/drawing/2014/main" id="{CCC24C27-2FF8-4E53-9A73-18901050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911679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Pre-checks</a:t>
            </a:r>
          </a:p>
        </p:txBody>
      </p:sp>
      <p:sp>
        <p:nvSpPr>
          <p:cNvPr id="42" name="→">
            <a:extLst xmlns:a="http://schemas.openxmlformats.org/drawingml/2006/main">
              <a:ext uri="{FF2B5EF4-FFF2-40B4-BE49-F238E27FC236}">
                <a16:creationId xmlns:a16="http://schemas.microsoft.com/office/drawing/2014/main" id="{D92BBD69-B899-4BE2-8827-74E4AD84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829" y="2305050"/>
            <a:ext cx="133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3" name="Analysis">
            <a:extLst xmlns:a="http://schemas.openxmlformats.org/drawingml/2006/main">
              <a:ext uri="{FF2B5EF4-FFF2-40B4-BE49-F238E27FC236}">
                <a16:creationId xmlns:a16="http://schemas.microsoft.com/office/drawing/2014/main" id="{E114BF56-5040-4E92-903F-559A75E2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179" y="2305050"/>
            <a:ext cx="911679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44" name="→">
            <a:extLst xmlns:a="http://schemas.openxmlformats.org/drawingml/2006/main">
              <a:ext uri="{FF2B5EF4-FFF2-40B4-BE49-F238E27FC236}">
                <a16:creationId xmlns:a16="http://schemas.microsoft.com/office/drawing/2014/main" id="{FF5BA230-DCE8-4C16-A50F-22B7077B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857" y="2305050"/>
            <a:ext cx="133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5" name="Approve gaps">
            <a:extLst xmlns:a="http://schemas.openxmlformats.org/drawingml/2006/main">
              <a:ext uri="{FF2B5EF4-FFF2-40B4-BE49-F238E27FC236}">
                <a16:creationId xmlns:a16="http://schemas.microsoft.com/office/drawing/2014/main" id="{FFD37DDD-B841-4808-872F-6AD2D456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207" y="2305050"/>
            <a:ext cx="911679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Approve gaps</a:t>
            </a:r>
          </a:p>
        </p:txBody>
      </p:sp>
      <p:sp>
        <p:nvSpPr>
          <p:cNvPr id="46" name="→">
            <a:extLst xmlns:a="http://schemas.openxmlformats.org/drawingml/2006/main">
              <a:ext uri="{FF2B5EF4-FFF2-40B4-BE49-F238E27FC236}">
                <a16:creationId xmlns:a16="http://schemas.microsoft.com/office/drawing/2014/main" id="{601A7163-20DC-48E5-A399-096FBA2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0886" y="2305050"/>
            <a:ext cx="133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7" name="Agents">
            <a:extLst xmlns:a="http://schemas.openxmlformats.org/drawingml/2006/main">
              <a:ext uri="{FF2B5EF4-FFF2-40B4-BE49-F238E27FC236}">
                <a16:creationId xmlns:a16="http://schemas.microsoft.com/office/drawing/2014/main" id="{FB3223A9-F9FC-46A1-9344-C91AB479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236" y="2305050"/>
            <a:ext cx="911679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Agents</a:t>
            </a:r>
          </a:p>
        </p:txBody>
      </p:sp>
      <p:sp>
        <p:nvSpPr>
          <p:cNvPr id="48" name="→">
            <a:extLst xmlns:a="http://schemas.openxmlformats.org/drawingml/2006/main">
              <a:ext uri="{FF2B5EF4-FFF2-40B4-BE49-F238E27FC236}">
                <a16:creationId xmlns:a16="http://schemas.microsoft.com/office/drawing/2014/main" id="{779F0D3C-AFBC-4080-9728-D539C238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914" y="2305050"/>
            <a:ext cx="133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9" name="Pull request">
            <a:extLst xmlns:a="http://schemas.openxmlformats.org/drawingml/2006/main">
              <a:ext uri="{FF2B5EF4-FFF2-40B4-BE49-F238E27FC236}">
                <a16:creationId xmlns:a16="http://schemas.microsoft.com/office/drawing/2014/main" id="{E6E1F18E-A236-4AA7-B198-B9157899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264" y="2305050"/>
            <a:ext cx="911679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Pull request</a:t>
            </a:r>
          </a:p>
        </p:txBody>
      </p:sp>
      <p:sp>
        <p:nvSpPr>
          <p:cNvPr id="50" name="→">
            <a:extLst xmlns:a="http://schemas.openxmlformats.org/drawingml/2006/main">
              <a:ext uri="{FF2B5EF4-FFF2-40B4-BE49-F238E27FC236}">
                <a16:creationId xmlns:a16="http://schemas.microsoft.com/office/drawing/2014/main" id="{FED9678F-6B70-4906-9D99-C4573152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943" y="2305050"/>
            <a:ext cx="133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1" name="Tests">
            <a:extLst xmlns:a="http://schemas.openxmlformats.org/drawingml/2006/main">
              <a:ext uri="{FF2B5EF4-FFF2-40B4-BE49-F238E27FC236}">
                <a16:creationId xmlns:a16="http://schemas.microsoft.com/office/drawing/2014/main" id="{90108060-65B3-49DB-94F4-DD4A939A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293" y="2305050"/>
            <a:ext cx="911679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52" name="→">
            <a:extLst xmlns:a="http://schemas.openxmlformats.org/drawingml/2006/main">
              <a:ext uri="{FF2B5EF4-FFF2-40B4-BE49-F238E27FC236}">
                <a16:creationId xmlns:a16="http://schemas.microsoft.com/office/drawing/2014/main" id="{75C246D5-BDE0-4197-B8B7-2FE28426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5971" y="2305050"/>
            <a:ext cx="133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3" name="Re-sync">
            <a:extLst xmlns:a="http://schemas.openxmlformats.org/drawingml/2006/main">
              <a:ext uri="{FF2B5EF4-FFF2-40B4-BE49-F238E27FC236}">
                <a16:creationId xmlns:a16="http://schemas.microsoft.com/office/drawing/2014/main" id="{11E80B53-4266-476D-9934-38A7AA91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321" y="2305050"/>
            <a:ext cx="911679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Re-sync</a:t>
            </a:r>
          </a:p>
        </p:txBody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cb115e72d4125"/>
          <a:stretch xmlns:a="http://schemas.openxmlformats.org/drawingml/2006/main"/>
        </p:blipFill>
        <p:spPr>
          <a:xfrm xmlns:a="http://schemas.openxmlformats.org/drawingml/2006/main">
            <a:off x="6877050" y="212407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55" name="SERVICEOPS">
            <a:extLst xmlns:a="http://schemas.openxmlformats.org/drawingml/2006/main">
              <a:ext uri="{FF2B5EF4-FFF2-40B4-BE49-F238E27FC236}">
                <a16:creationId xmlns:a16="http://schemas.microsoft.com/office/drawing/2014/main" id="{DE9777D1-9298-4963-BCBC-80CC2700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SERVICEOPS</a:t>
            </a:r>
          </a:p>
        </p:txBody>
      </p:sp>
      <p:sp>
        <p:nvSpPr>
          <p:cNvPr id="56" name="USES">
            <a:extLst xmlns:a="http://schemas.openxmlformats.org/drawingml/2006/main">
              <a:ext uri="{FF2B5EF4-FFF2-40B4-BE49-F238E27FC236}">
                <a16:creationId xmlns:a16="http://schemas.microsoft.com/office/drawing/2014/main" id="{21940A2F-AFC7-4BFF-BEBA-8444DF8F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432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57" name="Knowledge&#10;app graph">
            <a:extLst xmlns:a="http://schemas.openxmlformats.org/drawingml/2006/main">
              <a:ext uri="{FF2B5EF4-FFF2-40B4-BE49-F238E27FC236}">
                <a16:creationId xmlns:a16="http://schemas.microsoft.com/office/drawing/2014/main" id="{0A9AF302-6BD8-45E8-9185-9A73457C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9146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Knowledge</a:t>
            </a:r>
          </a:p>
          <a:p xmlns:a="http://schemas.openxmlformats.org/drawingml/2006/main">
            <a:pPr algn="l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app graph</a:t>
            </a:r>
          </a:p>
        </p:txBody>
      </p:sp>
      <p:sp>
        <p:nvSpPr>
          <p:cNvPr id="58" name="History&#10;past incidents">
            <a:extLst xmlns:a="http://schemas.openxmlformats.org/drawingml/2006/main">
              <a:ext uri="{FF2B5EF4-FFF2-40B4-BE49-F238E27FC236}">
                <a16:creationId xmlns:a16="http://schemas.microsoft.com/office/drawing/2014/main" id="{4A9BBB46-0FFD-4E34-9A30-6715CBF1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14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History</a:t>
            </a:r>
          </a:p>
          <a:p xmlns:a="http://schemas.openxmlformats.org/drawingml/2006/main">
            <a:pPr algn="l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past incidents</a:t>
            </a:r>
          </a:p>
        </p:txBody>
      </p:sp>
      <p:sp>
        <p:nvSpPr>
          <p:cNvPr id="59" name="Changes&#10;same CI">
            <a:extLst xmlns:a="http://schemas.openxmlformats.org/drawingml/2006/main">
              <a:ext uri="{FF2B5EF4-FFF2-40B4-BE49-F238E27FC236}">
                <a16:creationId xmlns:a16="http://schemas.microsoft.com/office/drawing/2014/main" id="{FAA0571B-226D-4933-8B13-BEEFAF9D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1465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Changes</a:t>
            </a:r>
          </a:p>
          <a:p xmlns:a="http://schemas.openxmlformats.org/drawingml/2006/main">
            <a:pPr algn="l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same CI</a:t>
            </a:r>
          </a:p>
        </p:txBody>
      </p:sp>
      <p:sp>
        <p:nvSpPr>
          <p:cNvPr id="60" name="Incident&#10;new ticket">
            <a:extLst xmlns:a="http://schemas.openxmlformats.org/drawingml/2006/main">
              <a:ext uri="{FF2B5EF4-FFF2-40B4-BE49-F238E27FC236}">
                <a16:creationId xmlns:a16="http://schemas.microsoft.com/office/drawing/2014/main" id="{48F1257D-9AF1-4776-BC2A-A1F28515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14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Incident</a:t>
            </a:r>
          </a:p>
          <a:p xmlns:a="http://schemas.openxmlformats.org/drawingml/2006/main">
            <a:pPr algn="l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new ticket</a:t>
            </a:r>
          </a:p>
        </p:txBody>
      </p:sp>
      <p:sp>
        <p:nvSpPr>
          <p:cNvPr id="61" name="RUNS">
            <a:extLst xmlns:a="http://schemas.openxmlformats.org/drawingml/2006/main">
              <a:ext uri="{FF2B5EF4-FFF2-40B4-BE49-F238E27FC236}">
                <a16:creationId xmlns:a16="http://schemas.microsoft.com/office/drawing/2014/main" id="{E238F9A5-05F2-4B6B-BD61-6D15EEEE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480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62" name="Evidence">
            <a:extLst xmlns:a="http://schemas.openxmlformats.org/drawingml/2006/main">
              <a:ext uri="{FF2B5EF4-FFF2-40B4-BE49-F238E27FC236}">
                <a16:creationId xmlns:a16="http://schemas.microsoft.com/office/drawing/2014/main" id="{47A6400F-B4CA-4B80-88B5-48696416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19475"/>
            <a:ext cx="132969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3" name="→">
            <a:extLst xmlns:a="http://schemas.openxmlformats.org/drawingml/2006/main">
              <a:ext uri="{FF2B5EF4-FFF2-40B4-BE49-F238E27FC236}">
                <a16:creationId xmlns:a16="http://schemas.microsoft.com/office/drawing/2014/main" id="{6DDF8807-7AB5-474D-A211-1C506ACB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3419475"/>
            <a:ext cx="133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4" name="Redact">
            <a:extLst xmlns:a="http://schemas.openxmlformats.org/drawingml/2006/main">
              <a:ext uri="{FF2B5EF4-FFF2-40B4-BE49-F238E27FC236}">
                <a16:creationId xmlns:a16="http://schemas.microsoft.com/office/drawing/2014/main" id="{E463AF61-13E0-43A4-84A2-3669844E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3419475"/>
            <a:ext cx="132969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Redact</a:t>
            </a:r>
          </a:p>
        </p:txBody>
      </p:sp>
      <p:sp>
        <p:nvSpPr>
          <p:cNvPr id="65" name="→">
            <a:extLst xmlns:a="http://schemas.openxmlformats.org/drawingml/2006/main">
              <a:ext uri="{FF2B5EF4-FFF2-40B4-BE49-F238E27FC236}">
                <a16:creationId xmlns:a16="http://schemas.microsoft.com/office/drawing/2014/main" id="{5D0B3A26-071B-482F-A43F-09D9B72E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3419475"/>
            <a:ext cx="133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6" name="Hypotheses">
            <a:extLst xmlns:a="http://schemas.openxmlformats.org/drawingml/2006/main">
              <a:ext uri="{FF2B5EF4-FFF2-40B4-BE49-F238E27FC236}">
                <a16:creationId xmlns:a16="http://schemas.microsoft.com/office/drawing/2014/main" id="{F811D11E-38C3-400A-A0AF-840B128B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3419475"/>
            <a:ext cx="132969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67" name="→">
            <a:extLst xmlns:a="http://schemas.openxmlformats.org/drawingml/2006/main">
              <a:ext uri="{FF2B5EF4-FFF2-40B4-BE49-F238E27FC236}">
                <a16:creationId xmlns:a16="http://schemas.microsoft.com/office/drawing/2014/main" id="{C2808AE9-107F-4E24-A7F7-2DA446F1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3419475"/>
            <a:ext cx="133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8" name="Verify &amp; score">
            <a:extLst xmlns:a="http://schemas.openxmlformats.org/drawingml/2006/main">
              <a:ext uri="{FF2B5EF4-FFF2-40B4-BE49-F238E27FC236}">
                <a16:creationId xmlns:a16="http://schemas.microsoft.com/office/drawing/2014/main" id="{9FB7DF5E-C91A-4497-A8E5-CB2BE9A4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8270" y="3419475"/>
            <a:ext cx="132969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Verify &amp; score</a:t>
            </a:r>
          </a:p>
        </p:txBody>
      </p:sp>
      <p:sp>
        <p:nvSpPr>
          <p:cNvPr id="69" name="→">
            <a:extLst xmlns:a="http://schemas.openxmlformats.org/drawingml/2006/main">
              <a:ext uri="{FF2B5EF4-FFF2-40B4-BE49-F238E27FC236}">
                <a16:creationId xmlns:a16="http://schemas.microsoft.com/office/drawing/2014/main" id="{115B01A1-E8A0-42BC-8B95-B381F4F3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960" y="3419475"/>
            <a:ext cx="133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0" name="Responder decides">
            <a:extLst xmlns:a="http://schemas.openxmlformats.org/drawingml/2006/main">
              <a:ext uri="{FF2B5EF4-FFF2-40B4-BE49-F238E27FC236}">
                <a16:creationId xmlns:a16="http://schemas.microsoft.com/office/drawing/2014/main" id="{FD785AAA-E6AB-4553-8215-85D49E48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310" y="3419475"/>
            <a:ext cx="132969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Responder decides</a:t>
            </a:r>
          </a:p>
        </p:txBody>
      </p:sp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d65b88cad4543"/>
          <a:stretch xmlns:a="http://schemas.openxmlformats.org/drawingml/2006/main"/>
        </p:blipFill>
        <p:spPr>
          <a:xfrm xmlns:a="http://schemas.openxmlformats.org/drawingml/2006/main">
            <a:off x="11306175" y="320992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72" name="results update the knowledge">
            <a:extLst xmlns:a="http://schemas.openxmlformats.org/drawingml/2006/main">
              <a:ext uri="{FF2B5EF4-FFF2-40B4-BE49-F238E27FC236}">
                <a16:creationId xmlns:a16="http://schemas.microsoft.com/office/drawing/2014/main" id="{854539F4-277B-4B15-A2F4-4F8CBD90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52850"/>
            <a:ext cx="7181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087F83"/>
                </a:solidFill>
                <a:latin typeface="Arial"/>
                <a:ea typeface="Arial"/>
                <a:cs typeface="Arial"/>
              </a:rPr>
              <a:t>results update the knowledge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7007975-17E8-4B55-807D-CBD6D1B1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718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F83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FFE2B79-62A8-4FE4-958E-7F2D859E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71825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F83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8B41F0B-6E90-4051-85AA-099244DE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38575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F83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333085E-CD0D-47AB-A3E8-13E9632F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2457450"/>
            <a:ext cx="0" cy="1381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F83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D1AF27B-2B87-4661-9A31-1AEA5938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457450"/>
            <a:ext cx="85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F83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CC1B3E2-29BE-4392-B376-C637DD6F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571875"/>
            <a:ext cx="85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F83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F44D1AF-4AA9-4024-981D-3337AE7E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838575"/>
            <a:ext cx="85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7F83"/>
            </a:solidFill>
          </a:ln>
        </p:spPr>
      </p:sp>
      <p:sp>
        <p:nvSpPr>
          <p:cNvPr id="80" name="←">
            <a:extLst xmlns:a="http://schemas.openxmlformats.org/drawingml/2006/main">
              <a:ext uri="{FF2B5EF4-FFF2-40B4-BE49-F238E27FC236}">
                <a16:creationId xmlns:a16="http://schemas.microsoft.com/office/drawing/2014/main" id="{55CF9811-88CE-4C00-8048-2D62B84E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765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87F83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81" name="FORMATS">
            <a:extLst xmlns:a="http://schemas.openxmlformats.org/drawingml/2006/main">
              <a:ext uri="{FF2B5EF4-FFF2-40B4-BE49-F238E27FC236}">
                <a16:creationId xmlns:a16="http://schemas.microsoft.com/office/drawing/2014/main" id="{045F1804-BB9E-45E9-93C4-8B1726FA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19475"/>
            <a:ext cx="819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FORMATS</a:t>
            </a:r>
          </a:p>
        </p:txBody>
      </p:sp>
      <p:sp>
        <p:nvSpPr>
          <p:cNvPr id="82" name="PDF · Word · Excel · PowerPoint · Outlook ·&#10;HTML ·">
            <a:extLst xmlns:a="http://schemas.openxmlformats.org/drawingml/2006/main">
              <a:ext uri="{FF2B5EF4-FFF2-40B4-BE49-F238E27FC236}">
                <a16:creationId xmlns:a16="http://schemas.microsoft.com/office/drawing/2014/main" id="{ADA62D47-1EB2-4BEC-A55E-3085EB52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0"/>
            <a:ext cx="37814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PDF · Word · Excel · PowerPoint · Outlook ·</a:t>
            </a:r>
          </a:p>
          <a:p xmlns:a="http://schemas.openxmlformats.org/drawingml/2006/main">
            <a:pPr algn="l">
              <a:defRPr sz="825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HTML · CSV · JSON · XML · Text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77DE10F-B53E-4342-BFAF-4BE47865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481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a912e1a4c49a0"/>
          <a:stretch xmlns:a="http://schemas.openxmlformats.org/drawingml/2006/main"/>
        </p:blipFill>
        <p:spPr>
          <a:xfrm xmlns:a="http://schemas.openxmlformats.org/drawingml/2006/main">
            <a:off x="381000" y="41338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85" name="Access">
            <a:extLst xmlns:a="http://schemas.openxmlformats.org/drawingml/2006/main">
              <a:ext uri="{FF2B5EF4-FFF2-40B4-BE49-F238E27FC236}">
                <a16:creationId xmlns:a16="http://schemas.microsoft.com/office/drawing/2014/main" id="{545C6BA3-3EEC-4C40-A420-21CA6354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05275"/>
            <a:ext cx="54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86" name="Chat · REST API · MCP">
            <a:extLst xmlns:a="http://schemas.openxmlformats.org/drawingml/2006/main">
              <a:ext uri="{FF2B5EF4-FFF2-40B4-BE49-F238E27FC236}">
                <a16:creationId xmlns:a16="http://schemas.microsoft.com/office/drawing/2014/main" id="{AAFB425D-3460-47C1-AE38-F1A8CD92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05275"/>
            <a:ext cx="1752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Chat · REST API · MCP</a:t>
            </a:r>
          </a:p>
        </p:txBody>
      </p:sp>
      <p:sp>
        <p:nvSpPr>
          <p:cNvPr id="87" name="for people and any AI tool">
            <a:extLst xmlns:a="http://schemas.openxmlformats.org/drawingml/2006/main">
              <a:ext uri="{FF2B5EF4-FFF2-40B4-BE49-F238E27FC236}">
                <a16:creationId xmlns:a16="http://schemas.microsoft.com/office/drawing/2014/main" id="{2007B1EC-1C38-433E-A085-B274CFD7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05275"/>
            <a:ext cx="2514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for people and any AI tool</a:t>
            </a:r>
          </a:p>
        </p:txBody>
      </p:sp>
      <p:sp>
        <p:nvSpPr>
          <p:cNvPr id="88" name="OpenAI or Claude">
            <a:extLst xmlns:a="http://schemas.openxmlformats.org/drawingml/2006/main">
              <a:ext uri="{FF2B5EF4-FFF2-40B4-BE49-F238E27FC236}">
                <a16:creationId xmlns:a16="http://schemas.microsoft.com/office/drawing/2014/main" id="{7BA55E60-FCC0-4106-B77B-B97310F4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05275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OpenAI or Claude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24473F5-38F5-4BB0-88AC-D4C35010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81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90" name="KEY FEATURES">
            <a:extLst xmlns:a="http://schemas.openxmlformats.org/drawingml/2006/main">
              <a:ext uri="{FF2B5EF4-FFF2-40B4-BE49-F238E27FC236}">
                <a16:creationId xmlns:a16="http://schemas.microsoft.com/office/drawing/2014/main" id="{0E5121EA-4759-4015-B035-C5E0C98C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053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KEY FEATURES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208B516-ED73-4BFE-84C8-A4A261F5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81550"/>
            <a:ext cx="5219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Organizations:  </a:t>
            </a:r>
            <a:r>
              <a:t>portfolio → product → application, access per app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514A0B0-24D4-4DEF-A363-48B2DED7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91100"/>
            <a:ext cx="5219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Graph management:  </a:t>
            </a:r>
            <a:r>
              <a:t>source → graph → quality check → publish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D431DEB-A346-4708-85FB-4DBF853E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00650"/>
            <a:ext cx="5219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Code Factory:  </a:t>
            </a:r>
            <a:r>
              <a:t>ticket → plan → approval → draft PR → Re-sync Knowledge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E3BE242-3150-4CAB-8F14-F6BBE0E6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10200"/>
            <a:ext cx="5219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ServiceOps:  </a:t>
            </a:r>
            <a:r>
              <a:t>incidents open with past fixes and recent changes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EDCFF88-C6F5-419A-AF2D-3674ED1D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19750"/>
            <a:ext cx="5219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Guided onboarding:  </a:t>
            </a:r>
            <a:r>
              <a:t>Onboarding checklist per application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DE3A6A9-DB4B-444A-929E-316FCFED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29300"/>
            <a:ext cx="5219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Usage tracking:  </a:t>
            </a:r>
            <a:r>
              <a:t>AI cost per call, per application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7E9C0A6-DDB8-4C07-9E0E-8023367E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5219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Connectors:  </a:t>
            </a:r>
            <a:r>
              <a:t>Jira, ServiceNow and GitHub synced on a schedule</a:t>
            </a:r>
          </a:p>
        </p:txBody>
      </p:sp>
      <p:sp>
        <p:nvSpPr>
          <p:cNvPr id="98" name="KEY DIFFERENTIATORS">
            <a:extLst xmlns:a="http://schemas.openxmlformats.org/drawingml/2006/main">
              <a:ext uri="{FF2B5EF4-FFF2-40B4-BE49-F238E27FC236}">
                <a16:creationId xmlns:a16="http://schemas.microsoft.com/office/drawing/2014/main" id="{FB0A1992-FFF0-4B01-B0F0-E4D6661F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05325"/>
            <a:ext cx="585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KEY DIFFERENTIATORS</a:t>
            </a:r>
          </a:p>
        </p:txBody>
      </p:sp>
      <p:sp>
        <p:nvSpPr>
          <p:cNvPr id="99" name="Answers that prove themselves">
            <a:extLst xmlns:a="http://schemas.openxmlformats.org/drawingml/2006/main">
              <a:ext uri="{FF2B5EF4-FFF2-40B4-BE49-F238E27FC236}">
                <a16:creationId xmlns:a16="http://schemas.microsoft.com/office/drawing/2014/main" id="{BE6333FB-0BCE-4B0B-A467-1A6A8F09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81550"/>
            <a:ext cx="2790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Answers that prove themselves</a:t>
            </a:r>
          </a:p>
        </p:txBody>
      </p:sp>
      <p:sp>
        <p:nvSpPr>
          <p:cNvPr id="100" name="Every answer is traceable to a verified source.">
            <a:extLst xmlns:a="http://schemas.openxmlformats.org/drawingml/2006/main">
              <a:ext uri="{FF2B5EF4-FFF2-40B4-BE49-F238E27FC236}">
                <a16:creationId xmlns:a16="http://schemas.microsoft.com/office/drawing/2014/main" id="{817C61F1-92E4-4148-A557-AE642D8B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72050"/>
            <a:ext cx="2790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answer is traceable to a verified source.</a:t>
            </a:r>
          </a:p>
        </p:txBody>
      </p:sp>
      <p:sp>
        <p:nvSpPr>
          <p:cNvPr id="101" name="One brain for build and run">
            <a:extLst xmlns:a="http://schemas.openxmlformats.org/drawingml/2006/main">
              <a:ext uri="{FF2B5EF4-FFF2-40B4-BE49-F238E27FC236}">
                <a16:creationId xmlns:a16="http://schemas.microsoft.com/office/drawing/2014/main" id="{0C42C9F7-4622-4EF7-90D1-94ED159F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67325"/>
            <a:ext cx="2790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One brain for build and run</a:t>
            </a:r>
          </a:p>
        </p:txBody>
      </p:sp>
      <p:sp>
        <p:nvSpPr>
          <p:cNvPr id="102" name="Every resolved incident strengthens the next respo">
            <a:extLst xmlns:a="http://schemas.openxmlformats.org/drawingml/2006/main">
              <a:ext uri="{FF2B5EF4-FFF2-40B4-BE49-F238E27FC236}">
                <a16:creationId xmlns:a16="http://schemas.microsoft.com/office/drawing/2014/main" id="{9F8DEAE0-7887-4EC8-86AB-321895CA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57825"/>
            <a:ext cx="2790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resolved incident strengthens the next response.</a:t>
            </a:r>
          </a:p>
        </p:txBody>
      </p:sp>
      <p:sp>
        <p:nvSpPr>
          <p:cNvPr id="103" name="Knowledge released like software">
            <a:extLst xmlns:a="http://schemas.openxmlformats.org/drawingml/2006/main">
              <a:ext uri="{FF2B5EF4-FFF2-40B4-BE49-F238E27FC236}">
                <a16:creationId xmlns:a16="http://schemas.microsoft.com/office/drawing/2014/main" id="{D4A28ADD-5740-4DC7-8E74-B0302A8F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753100"/>
            <a:ext cx="2790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Knowledge released like software</a:t>
            </a:r>
          </a:p>
        </p:txBody>
      </p:sp>
      <p:sp>
        <p:nvSpPr>
          <p:cNvPr id="104" name="All knowledge is reviewed and approved before use.">
            <a:extLst xmlns:a="http://schemas.openxmlformats.org/drawingml/2006/main">
              <a:ext uri="{FF2B5EF4-FFF2-40B4-BE49-F238E27FC236}">
                <a16:creationId xmlns:a16="http://schemas.microsoft.com/office/drawing/2014/main" id="{D79E57CF-0A83-4CA5-927C-2B7184FF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43600"/>
            <a:ext cx="2790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All knowledge is reviewed and approved before use.</a:t>
            </a:r>
          </a:p>
        </p:txBody>
      </p:sp>
      <p:sp>
        <p:nvSpPr>
          <p:cNvPr id="105" name="Always up to date">
            <a:extLst xmlns:a="http://schemas.openxmlformats.org/drawingml/2006/main">
              <a:ext uri="{FF2B5EF4-FFF2-40B4-BE49-F238E27FC236}">
                <a16:creationId xmlns:a16="http://schemas.microsoft.com/office/drawing/2014/main" id="{497ED88B-76DB-4EC2-98E4-20A70902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781550"/>
            <a:ext cx="2790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Always up to date</a:t>
            </a:r>
          </a:p>
        </p:txBody>
      </p:sp>
      <p:sp>
        <p:nvSpPr>
          <p:cNvPr id="106" name="Sources and knowledge refresh after major changes,">
            <a:extLst xmlns:a="http://schemas.openxmlformats.org/drawingml/2006/main">
              <a:ext uri="{FF2B5EF4-FFF2-40B4-BE49-F238E27FC236}">
                <a16:creationId xmlns:a16="http://schemas.microsoft.com/office/drawing/2014/main" id="{58026725-CFCD-451E-991A-753F630A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72050"/>
            <a:ext cx="2790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Sources and knowledge refresh after major changes, like a bug fix.</a:t>
            </a:r>
          </a:p>
        </p:txBody>
      </p:sp>
      <p:sp>
        <p:nvSpPr>
          <p:cNvPr id="107" name="Requirements and code in one graph">
            <a:extLst xmlns:a="http://schemas.openxmlformats.org/drawingml/2006/main">
              <a:ext uri="{FF2B5EF4-FFF2-40B4-BE49-F238E27FC236}">
                <a16:creationId xmlns:a16="http://schemas.microsoft.com/office/drawing/2014/main" id="{A0B74605-6B2A-4CA9-ACE8-D49D29CF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267325"/>
            <a:ext cx="2790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Requirements and code in one graph</a:t>
            </a:r>
          </a:p>
        </p:txBody>
      </p:sp>
      <p:sp>
        <p:nvSpPr>
          <p:cNvPr id="108" name="Every change is linked to its requirement and code">
            <a:extLst xmlns:a="http://schemas.openxmlformats.org/drawingml/2006/main">
              <a:ext uri="{FF2B5EF4-FFF2-40B4-BE49-F238E27FC236}">
                <a16:creationId xmlns:a16="http://schemas.microsoft.com/office/drawing/2014/main" id="{C9D60AD4-AA4F-4440-B2B0-0DECF418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457825"/>
            <a:ext cx="2790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change is linked to its requirement and code.</a:t>
            </a:r>
          </a:p>
        </p:txBody>
      </p:sp>
      <p:sp>
        <p:nvSpPr>
          <p:cNvPr id="109" name="Bring your own model">
            <a:extLst xmlns:a="http://schemas.openxmlformats.org/drawingml/2006/main">
              <a:ext uri="{FF2B5EF4-FFF2-40B4-BE49-F238E27FC236}">
                <a16:creationId xmlns:a16="http://schemas.microsoft.com/office/drawing/2014/main" id="{7D6E4E82-EEA5-4503-9C71-A307FA36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753100"/>
            <a:ext cx="2790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Bring your own model</a:t>
            </a:r>
          </a:p>
        </p:txBody>
      </p:sp>
      <p:sp>
        <p:nvSpPr>
          <p:cNvPr id="110" name="Trusted knowledge is accessible from any AI tool.">
            <a:extLst xmlns:a="http://schemas.openxmlformats.org/drawingml/2006/main">
              <a:ext uri="{FF2B5EF4-FFF2-40B4-BE49-F238E27FC236}">
                <a16:creationId xmlns:a16="http://schemas.microsoft.com/office/drawing/2014/main" id="{6D6A0A14-409D-43B8-95BC-D37901AB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943600"/>
            <a:ext cx="2790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Trusted knowledge is accessible from any AI tool.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DE294A1-6DDB-4959-B6C4-2396C8C9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627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12" name="TECH STACK">
            <a:extLst xmlns:a="http://schemas.openxmlformats.org/drawingml/2006/main">
              <a:ext uri="{FF2B5EF4-FFF2-40B4-BE49-F238E27FC236}">
                <a16:creationId xmlns:a16="http://schemas.microsoft.com/office/drawing/2014/main" id="{2E89DF5F-4C4E-4544-BE8E-6036A0A8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96050"/>
            <a:ext cx="1000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TECH STACK</a:t>
            </a:r>
          </a:p>
        </p:txBody>
      </p:sp>
      <p:sp>
        <p:nvSpPr>
          <p:cNvPr id="113" name="CORE">
            <a:extLst xmlns:a="http://schemas.openxmlformats.org/drawingml/2006/main">
              <a:ext uri="{FF2B5EF4-FFF2-40B4-BE49-F238E27FC236}">
                <a16:creationId xmlns:a16="http://schemas.microsoft.com/office/drawing/2014/main" id="{43D15AB4-0907-4DAD-8097-CA03736A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9605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114" name="Python · Django · PostgreSQL">
            <a:extLst xmlns:a="http://schemas.openxmlformats.org/drawingml/2006/main">
              <a:ext uri="{FF2B5EF4-FFF2-40B4-BE49-F238E27FC236}">
                <a16:creationId xmlns:a16="http://schemas.microsoft.com/office/drawing/2014/main" id="{7E0B4E6E-E154-4B4A-8FA6-2E17F7B0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477000"/>
            <a:ext cx="2124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Python · Django · PostgreSQL</a:t>
            </a:r>
          </a:p>
        </p:txBody>
      </p:sp>
      <p:sp>
        <p:nvSpPr>
          <p:cNvPr id="115" name="AI &amp; GRAPH">
            <a:extLst xmlns:a="http://schemas.openxmlformats.org/drawingml/2006/main">
              <a:ext uri="{FF2B5EF4-FFF2-40B4-BE49-F238E27FC236}">
                <a16:creationId xmlns:a16="http://schemas.microsoft.com/office/drawing/2014/main" id="{0AC07889-F678-46D2-8278-370943A3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49605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AI &amp; GRAPH</a:t>
            </a:r>
          </a:p>
        </p:txBody>
      </p:sp>
      <p:sp>
        <p:nvSpPr>
          <p:cNvPr id="116" name="OpenAI Agents SDK · Claude Agent SDK · Graphify">
            <a:extLst xmlns:a="http://schemas.openxmlformats.org/drawingml/2006/main">
              <a:ext uri="{FF2B5EF4-FFF2-40B4-BE49-F238E27FC236}">
                <a16:creationId xmlns:a16="http://schemas.microsoft.com/office/drawing/2014/main" id="{4C9B8861-43C0-4453-B667-27957FC2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477000"/>
            <a:ext cx="3724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OpenAI Agents SDK · Claude Agent SDK · Graphify</a:t>
            </a:r>
          </a:p>
        </p:txBody>
      </p:sp>
      <p:sp>
        <p:nvSpPr>
          <p:cNvPr id="117" name="SUPPORTING">
            <a:extLst xmlns:a="http://schemas.openxmlformats.org/drawingml/2006/main">
              <a:ext uri="{FF2B5EF4-FFF2-40B4-BE49-F238E27FC236}">
                <a16:creationId xmlns:a16="http://schemas.microsoft.com/office/drawing/2014/main" id="{7C2BE51C-5920-46AB-B067-D8013D79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496050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SUPPORTING</a:t>
            </a:r>
          </a:p>
        </p:txBody>
      </p:sp>
      <p:sp>
        <p:nvSpPr>
          <p:cNvPr id="118" name="MarkItDown · MCP · Docker">
            <a:extLst xmlns:a="http://schemas.openxmlformats.org/drawingml/2006/main">
              <a:ext uri="{FF2B5EF4-FFF2-40B4-BE49-F238E27FC236}">
                <a16:creationId xmlns:a16="http://schemas.microsoft.com/office/drawing/2014/main" id="{864C6775-205A-4638-B9FF-9F8AD34B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4770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MarkItDown · MCP · Docker</a:t>
            </a:r>
          </a:p>
        </p:txBody>
      </p:sp>
    </p:spTree>
    <p:extLst>
      <p:ext uri="{BB962C8B-B14F-4D97-AF65-F5344CB8AC3E}">
        <p14:creationId xmlns:p14="http://schemas.microsoft.com/office/powerpoint/2010/main" val="6932516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2026-09-25T16:16:00.4980000Z</dcterms:created>
  <dcterms:modified xsi:type="dcterms:W3CDTF">2026-09-25T16:16:00.4990000Z</dcterms:modified>
</coreProperties>
</file>