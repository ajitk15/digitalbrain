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6dbd292d84dc1" /><Relationship Type="http://schemas.openxmlformats.org/officeDocument/2006/relationships/extended-properties" Target="/docProps/app.xml" Id="Rc3cb8439b228449e" /><Relationship Type="http://schemas.openxmlformats.org/officeDocument/2006/relationships/officeDocument" Target="/ppt/presentation.xml" Id="R6b5168486cc0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f0096672f4119"/>
  </p:sldMasterIdLst>
  <p:notesMasterIdLst>
    <p:notesMasterId xmlns:r="http://schemas.openxmlformats.org/officeDocument/2006/relationships" r:id="R51114e3b654446b5"/>
  </p:notesMasterIdLst>
  <p:sldIdLst>
    <p:sldId xmlns:r="http://schemas.openxmlformats.org/officeDocument/2006/relationships" id="256" r:id="Ra375d0a8baac41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d8a7c8d2de482e" /><Relationship Type="http://schemas.openxmlformats.org/officeDocument/2006/relationships/slideMaster" Target="/ppt/slideMasters/slideMaster1.xml" Id="R4adf0096672f4119" /><Relationship Type="http://schemas.openxmlformats.org/officeDocument/2006/relationships/notesMaster" Target="/ppt/notesMasters/notesMaster1.xml" Id="R51114e3b654446b5" /><Relationship Type="http://schemas.openxmlformats.org/officeDocument/2006/relationships/presProps" Target="/ppt/presProps.xml" Id="R581f40fbd0ea49e8" /><Relationship Type="http://schemas.openxmlformats.org/officeDocument/2006/relationships/tableStyles" Target="/ppt/tableStyles.xml" Id="R130578683fd34d9c" /><Relationship Type="http://schemas.openxmlformats.org/officeDocument/2006/relationships/slide" Target="/ppt/slides/slide1.xml" Id="Ra375d0a8baac41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3ace18487249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c605e89ab64af5" /><Relationship Type="http://schemas.openxmlformats.org/officeDocument/2006/relationships/notesMaster" Target="/ppt/notesMasters/notesMaster1.xml" Id="R043a9351bb18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Graph-based retrieval: https://www.microsoft.com/en-us/research/project/graphrag/</a:t>
            </a:r>
          </a:p>
          <a:p xmlns:a="http://schemas.openxmlformats.org/drawingml/2006/main">
            <a:r>
              <a:t>Token use and latency improvements depend on the implementation and workload; no measured savings are claimed. Cost reference: https://techcommunity.microsoft.com/blog/azure-ai-foundry-blog/graphrag-costs-explained-what-you-need-to-know/4207978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35e80369241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aa6368ad345e4" /><Relationship Type="http://schemas.openxmlformats.org/officeDocument/2006/relationships/slideLayout" Target="/ppt/slideLayouts/slideLayout1.xml" Id="R232642c05e0941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2642c05e0941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1ebc8f43344d8" /><Relationship Type="http://schemas.openxmlformats.org/officeDocument/2006/relationships/image" Target="/ppt/media/image.png" Id="Rc524a7ef0dfd4e08" /><Relationship Type="http://schemas.openxmlformats.org/officeDocument/2006/relationships/image" Target="/ppt/media/image2.png" Id="Rdf95e37fb12343b4" /><Relationship Type="http://schemas.openxmlformats.org/officeDocument/2006/relationships/image" Target="/ppt/media/image3.png" Id="R271e78845bce49ea" /><Relationship Type="http://schemas.openxmlformats.org/officeDocument/2006/relationships/image" Target="/ppt/media/image4.png" Id="R3938faed53594257" /><Relationship Type="http://schemas.openxmlformats.org/officeDocument/2006/relationships/image" Target="/ppt/media/image5.png" Id="R079cdeec89c4442f" /><Relationship Type="http://schemas.openxmlformats.org/officeDocument/2006/relationships/image" Target="/ppt/media/image6.png" Id="R1544bf1a191945bc" /><Relationship Type="http://schemas.openxmlformats.org/officeDocument/2006/relationships/image" Target="/ppt/media/image7.png" Id="Re1147d862fe84d79" /><Relationship Type="http://schemas.openxmlformats.org/officeDocument/2006/relationships/image" Target="/ppt/media/image8.png" Id="R7e739e035b3e4173" /><Relationship Type="http://schemas.openxmlformats.org/officeDocument/2006/relationships/image" Target="/ppt/media/image9.png" Id="R1792151775a14eac" /><Relationship Type="http://schemas.openxmlformats.org/officeDocument/2006/relationships/notesSlide" Target="/ppt/notesSlides/notesSlide1.xml" Id="R443dc62da336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9" name="Digital Brain">
            <a:extLst xmlns:a="http://schemas.openxmlformats.org/drawingml/2006/main">
              <a:ext uri="{FF2B5EF4-FFF2-40B4-BE49-F238E27FC236}">
                <a16:creationId xmlns:a16="http://schemas.microsoft.com/office/drawing/2014/main" id="{7EFC1E73-2097-4FF1-8C83-0E02A063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781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Digital Brain</a:t>
            </a:r>
          </a:p>
        </p:txBody>
      </p:sp>
      <p:sp>
        <p:nvSpPr>
          <p:cNvPr id="2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102942FB-E243-4570-B643-76282B9F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8382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3" name="Connect">
            <a:extLst xmlns:a="http://schemas.openxmlformats.org/drawingml/2006/main">
              <a:ext uri="{FF2B5EF4-FFF2-40B4-BE49-F238E27FC236}">
                <a16:creationId xmlns:a16="http://schemas.microsoft.com/office/drawing/2014/main" id="{5772191C-4E2A-4763-A8D7-C3CB6C3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62075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4" name="pluggable&#10;connectors">
            <a:extLst xmlns:a="http://schemas.openxmlformats.org/drawingml/2006/main">
              <a:ext uri="{FF2B5EF4-FFF2-40B4-BE49-F238E27FC236}">
                <a16:creationId xmlns:a16="http://schemas.microsoft.com/office/drawing/2014/main" id="{A949D4BA-C0F5-4D99-9BB9-D54653C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6192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pluggable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connectors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9CB54-C833-4299-9387-CE17C105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4a7ef0dfd4e08"/>
          <a:stretch xmlns:a="http://schemas.openxmlformats.org/drawingml/2006/main"/>
        </p:blipFill>
        <p:spPr>
          <a:xfrm xmlns:a="http://schemas.openxmlformats.org/drawingml/2006/main">
            <a:off x="18478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7" name="Upload &amp; links">
            <a:extLst xmlns:a="http://schemas.openxmlformats.org/drawingml/2006/main">
              <a:ext uri="{FF2B5EF4-FFF2-40B4-BE49-F238E27FC236}">
                <a16:creationId xmlns:a16="http://schemas.microsoft.com/office/drawing/2014/main" id="{CB83287B-87E2-4318-8664-BC1CA66D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Upload &amp; links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8AE76-D92D-4D14-9D68-48E184B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FA9FF6-ECF2-4186-916F-7637D0A91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95e37fb12343b4"/>
          <a:stretch xmlns:a="http://schemas.openxmlformats.org/drawingml/2006/main"/>
        </p:blipFill>
        <p:spPr>
          <a:xfrm xmlns:a="http://schemas.openxmlformats.org/drawingml/2006/main">
            <a:off x="29527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1" name="SharePoint&#10;OneDrive">
            <a:extLst xmlns:a="http://schemas.openxmlformats.org/drawingml/2006/main">
              <a:ext uri="{FF2B5EF4-FFF2-40B4-BE49-F238E27FC236}">
                <a16:creationId xmlns:a16="http://schemas.microsoft.com/office/drawing/2014/main" id="{71A0AAE8-3378-420E-B357-78C55D29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SharePoint</a:t>
            </a:r>
          </a:p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OneDrive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940B61-E54D-4E94-8C58-3F9E8A5B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22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7C03B-0CE0-4EAF-B995-B0F50211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e78845bce49ea"/>
          <a:stretch xmlns:a="http://schemas.openxmlformats.org/drawingml/2006/main"/>
        </p:blipFill>
        <p:spPr>
          <a:xfrm xmlns:a="http://schemas.openxmlformats.org/drawingml/2006/main">
            <a:off x="40576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5" name="GitHub">
            <a:extLst xmlns:a="http://schemas.openxmlformats.org/drawingml/2006/main">
              <a:ext uri="{FF2B5EF4-FFF2-40B4-BE49-F238E27FC236}">
                <a16:creationId xmlns:a16="http://schemas.microsoft.com/office/drawing/2014/main" id="{65C06302-8468-466A-B2D9-E0226206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GitHub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56B088-0755-4B7F-A188-311D9704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34B52-7B23-40EB-8DC4-F74F4C9C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38faed53594257"/>
          <a:stretch xmlns:a="http://schemas.openxmlformats.org/drawingml/2006/main"/>
        </p:blipFill>
        <p:spPr>
          <a:xfrm xmlns:a="http://schemas.openxmlformats.org/drawingml/2006/main">
            <a:off x="51625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19" name="Jira">
            <a:extLst xmlns:a="http://schemas.openxmlformats.org/drawingml/2006/main">
              <a:ext uri="{FF2B5EF4-FFF2-40B4-BE49-F238E27FC236}">
                <a16:creationId xmlns:a16="http://schemas.microsoft.com/office/drawing/2014/main" id="{4F5B7D41-2AB1-4B30-8219-7BDEDE57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Jira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21DB8B-51B3-4D5F-9FB5-65C63164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20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FDAD20-7A94-4DD7-9CA9-C669C52A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cdeec89c4442f"/>
          <a:stretch xmlns:a="http://schemas.openxmlformats.org/drawingml/2006/main"/>
        </p:blipFill>
        <p:spPr>
          <a:xfrm xmlns:a="http://schemas.openxmlformats.org/drawingml/2006/main">
            <a:off x="62674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3" name="ServiceNow">
            <a:extLst xmlns:a="http://schemas.openxmlformats.org/drawingml/2006/main">
              <a:ext uri="{FF2B5EF4-FFF2-40B4-BE49-F238E27FC236}">
                <a16:creationId xmlns:a16="http://schemas.microsoft.com/office/drawing/2014/main" id="{CA9AD9F8-7C68-41A8-B86C-351931C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ServiceNow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A9568-3AE9-4BE1-8825-9FFADD9B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69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C6C03C-1BE0-444D-8E6C-3F5C6E0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133475"/>
            <a:ext cx="1000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FE5"/>
            </a:solidFill>
          </a:ln>
        </p:spPr>
      </p:sp>
      <p:pic>
        <p:nvPicPr>
          <p:cNvPr id="2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44bf1a191945bc"/>
          <a:stretch xmlns:a="http://schemas.openxmlformats.org/drawingml/2006/main"/>
        </p:blipFill>
        <p:spPr>
          <a:xfrm xmlns:a="http://schemas.openxmlformats.org/drawingml/2006/main">
            <a:off x="7372350" y="1209675"/>
            <a:ext cx="219075" cy="219075"/>
          </a:xfrm>
          <a:prstGeom xmlns:a="http://schemas.openxmlformats.org/drawingml/2006/main" prst="rect">
            <a:avLst/>
          </a:prstGeom>
        </p:spPr>
      </p:pic>
      <p:sp>
        <p:nvSpPr>
          <p:cNvPr id="27" name="Add more">
            <a:extLst xmlns:a="http://schemas.openxmlformats.org/drawingml/2006/main">
              <a:ext uri="{FF2B5EF4-FFF2-40B4-BE49-F238E27FC236}">
                <a16:creationId xmlns:a16="http://schemas.microsoft.com/office/drawing/2014/main" id="{B851A6D8-B840-4F2D-B872-12A8AE8B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466850"/>
            <a:ext cx="923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23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23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Add more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8325D-3832-4DBD-9ADF-67C78AD72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1888" y="1819275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7A0730-4546-4B5F-8C8E-4F94D08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1952625"/>
            <a:ext cx="552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30" name="Ingest">
            <a:extLst xmlns:a="http://schemas.openxmlformats.org/drawingml/2006/main">
              <a:ext uri="{FF2B5EF4-FFF2-40B4-BE49-F238E27FC236}">
                <a16:creationId xmlns:a16="http://schemas.microsoft.com/office/drawing/2014/main" id="{D08CEC70-4816-48DA-9069-72F13467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209800"/>
            <a:ext cx="1009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Ingest</a:t>
            </a:r>
          </a:p>
        </p:txBody>
      </p:sp>
      <p:sp>
        <p:nvSpPr>
          <p:cNvPr id="31" name="safe &amp;&#10;traceable">
            <a:extLst xmlns:a="http://schemas.openxmlformats.org/drawingml/2006/main">
              <a:ext uri="{FF2B5EF4-FFF2-40B4-BE49-F238E27FC236}">
                <a16:creationId xmlns:a16="http://schemas.microsoft.com/office/drawing/2014/main" id="{95153CE6-9494-4D9B-BEE4-22FB8B82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76500"/>
            <a:ext cx="102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safe &amp;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traceable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121677-C443-467D-AA2F-3C36B8CA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3" name="Secure upload">
            <a:extLst xmlns:a="http://schemas.openxmlformats.org/drawingml/2006/main">
              <a:ext uri="{FF2B5EF4-FFF2-40B4-BE49-F238E27FC236}">
                <a16:creationId xmlns:a16="http://schemas.microsoft.com/office/drawing/2014/main" id="{910DD8A9-553C-4F01-93F3-C78804DC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Secure upload</a:t>
            </a:r>
          </a:p>
        </p:txBody>
      </p:sp>
      <p:sp>
        <p:nvSpPr>
          <p:cNvPr id="34" name="held privately">
            <a:extLst xmlns:a="http://schemas.openxmlformats.org/drawingml/2006/main">
              <a:ext uri="{FF2B5EF4-FFF2-40B4-BE49-F238E27FC236}">
                <a16:creationId xmlns:a16="http://schemas.microsoft.com/office/drawing/2014/main" id="{13BB382D-F9BB-412F-B2F3-98B7106A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held privately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36BA88-EF23-47C2-B9C4-8F7524CC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6" name="Security scan">
            <a:extLst xmlns:a="http://schemas.openxmlformats.org/drawingml/2006/main">
              <a:ext uri="{FF2B5EF4-FFF2-40B4-BE49-F238E27FC236}">
                <a16:creationId xmlns:a16="http://schemas.microsoft.com/office/drawing/2014/main" id="{4E472624-2D9A-499E-B8B3-964C93E8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Security scan</a:t>
            </a:r>
          </a:p>
        </p:txBody>
      </p:sp>
      <p:sp>
        <p:nvSpPr>
          <p:cNvPr id="37" name="unsafe files blocked">
            <a:extLst xmlns:a="http://schemas.openxmlformats.org/drawingml/2006/main">
              <a:ext uri="{FF2B5EF4-FFF2-40B4-BE49-F238E27FC236}">
                <a16:creationId xmlns:a16="http://schemas.microsoft.com/office/drawing/2014/main" id="{B662A88C-96F7-4A71-A2CE-8B9F75CD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unsafe files blocked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EB7C77-6842-419E-8543-01D29C4F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6"/>
          </a:solidFill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39" name="To Markdown">
            <a:extLst xmlns:a="http://schemas.openxmlformats.org/drawingml/2006/main">
              <a:ext uri="{FF2B5EF4-FFF2-40B4-BE49-F238E27FC236}">
                <a16:creationId xmlns:a16="http://schemas.microsoft.com/office/drawing/2014/main" id="{B82E64F2-F0CA-4A18-944D-DE5A91CC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To Markdown</a:t>
            </a:r>
          </a:p>
        </p:txBody>
      </p:sp>
      <p:sp>
        <p:nvSpPr>
          <p:cNvPr id="40" name="converted offline">
            <a:extLst xmlns:a="http://schemas.openxmlformats.org/drawingml/2006/main">
              <a:ext uri="{FF2B5EF4-FFF2-40B4-BE49-F238E27FC236}">
                <a16:creationId xmlns:a16="http://schemas.microsoft.com/office/drawing/2014/main" id="{31913C89-0F72-4837-83E9-6C98C1A0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converted offline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EF667-3EF8-432C-8FAF-23F216CB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71700"/>
            <a:ext cx="15240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42" name="Knowledge">
            <a:extLst xmlns:a="http://schemas.openxmlformats.org/drawingml/2006/main">
              <a:ext uri="{FF2B5EF4-FFF2-40B4-BE49-F238E27FC236}">
                <a16:creationId xmlns:a16="http://schemas.microsoft.com/office/drawing/2014/main" id="{0D2BDE01-7AF0-4AE7-A9B2-F7E7343D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228850"/>
            <a:ext cx="1428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43" name="version controlled">
            <a:extLst xmlns:a="http://schemas.openxmlformats.org/drawingml/2006/main">
              <a:ext uri="{FF2B5EF4-FFF2-40B4-BE49-F238E27FC236}">
                <a16:creationId xmlns:a16="http://schemas.microsoft.com/office/drawing/2014/main" id="{E4813796-79C8-4131-AA3C-DAB900F2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4765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8E7E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E7ED"/>
                </a:solidFill>
                <a:latin typeface="Arial"/>
                <a:ea typeface="Arial"/>
                <a:cs typeface="Arial"/>
              </a:rPr>
              <a:t>version controlled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40DD25-D5BB-48F5-8600-B33443771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8849" y="1952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33" name=""/>
          <p:cNvCxnSpPr>
            <a:stCxn xmlns:a="http://schemas.openxmlformats.org/drawingml/2006/main" id="4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219325" y="1953102"/>
            <a:ext cx="1" cy="21859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4" name=""/>
          <p:cNvCxnSpPr>
            <a:stCxn xmlns:a="http://schemas.openxmlformats.org/drawingml/2006/main" id="32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298132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5" name=""/>
          <p:cNvCxnSpPr>
            <a:stCxn xmlns:a="http://schemas.openxmlformats.org/drawingml/2006/main" id="35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4686300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236" name=""/>
          <p:cNvCxnSpPr>
            <a:stCxn xmlns:a="http://schemas.openxmlformats.org/drawingml/2006/main" id="38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91275" y="2443163"/>
            <a:ext cx="1809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49" name="FORMATS">
            <a:extLst xmlns:a="http://schemas.openxmlformats.org/drawingml/2006/main">
              <a:ext uri="{FF2B5EF4-FFF2-40B4-BE49-F238E27FC236}">
                <a16:creationId xmlns:a16="http://schemas.microsoft.com/office/drawing/2014/main" id="{2DFFBCFA-B938-443D-A273-44C35DD7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781300"/>
            <a:ext cx="7143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50" name="PDF · Word · Excel · PowerPoint · Outlook · HTML ·">
            <a:extLst xmlns:a="http://schemas.openxmlformats.org/drawingml/2006/main">
              <a:ext uri="{FF2B5EF4-FFF2-40B4-BE49-F238E27FC236}">
                <a16:creationId xmlns:a16="http://schemas.microsoft.com/office/drawing/2014/main" id="{C0C899FB-93F3-4942-9C02-99C0036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781300"/>
            <a:ext cx="59436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PDF · Word · Excel · PowerPoint · Outlook · HTML · CSV · JSON · XML · Text</a:t>
            </a:r>
          </a:p>
        </p:txBody>
      </p:sp>
      <p:sp>
        <p:nvSpPr>
          <p:cNvPr id="51" name="Know &amp;&#10;Act">
            <a:extLst xmlns:a="http://schemas.openxmlformats.org/drawingml/2006/main">
              <a:ext uri="{FF2B5EF4-FFF2-40B4-BE49-F238E27FC236}">
                <a16:creationId xmlns:a16="http://schemas.microsoft.com/office/drawing/2014/main" id="{FAF67845-F83C-4BEF-8F6E-76C14F1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048125"/>
            <a:ext cx="10191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 &amp;</a:t>
            </a:r>
          </a:p>
          <a:p xmlns:a="http://schemas.openxmlformats.org/drawingml/2006/main">
            <a:pPr algn="l">
              <a:defRPr sz="13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52" name="sealed per&#10;application">
            <a:extLst xmlns:a="http://schemas.openxmlformats.org/drawingml/2006/main">
              <a:ext uri="{FF2B5EF4-FFF2-40B4-BE49-F238E27FC236}">
                <a16:creationId xmlns:a16="http://schemas.microsoft.com/office/drawing/2014/main" id="{B9AEBFC9-04D5-4C6F-B32B-BBAFEDD9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562475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sealed per</a:t>
            </a:r>
          </a:p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application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BA9452-7414-48BF-A464-EC7CCE8E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146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C040979-4C82-4B76-9981-317AE6DCA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600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46FC47-11C4-4B51-A9FF-1EA6B103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09900"/>
            <a:ext cx="0" cy="2119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F7F569-F1CE-4713-A2C4-EF3F0690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9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95338F-C9E2-4C9B-9E3B-F2FF31A4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09562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solidFill>
              <a:srgbClr val="132D46"/>
            </a:solidFill>
          </a:ln>
        </p:spPr>
      </p:sp>
      <p:sp>
        <p:nvSpPr>
          <p:cNvPr id="58" name="CODE FACTORY">
            <a:extLst xmlns:a="http://schemas.openxmlformats.org/drawingml/2006/main">
              <a:ext uri="{FF2B5EF4-FFF2-40B4-BE49-F238E27FC236}">
                <a16:creationId xmlns:a16="http://schemas.microsoft.com/office/drawing/2014/main" id="{4F3864A4-C2A4-42FA-AB7B-05E586FE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1467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FACTORY</a:t>
            </a:r>
          </a:p>
        </p:txBody>
      </p:sp>
      <p:sp>
        <p:nvSpPr>
          <p:cNvPr id="59" name="USES">
            <a:extLst xmlns:a="http://schemas.openxmlformats.org/drawingml/2006/main">
              <a:ext uri="{FF2B5EF4-FFF2-40B4-BE49-F238E27FC236}">
                <a16:creationId xmlns:a16="http://schemas.microsoft.com/office/drawing/2014/main" id="{1D0BBFC7-6913-4C77-AEBF-FAF89442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45757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8C5F25B-82CA-44E3-94E3-7FC88073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1" name="Project docs">
            <a:extLst xmlns:a="http://schemas.openxmlformats.org/drawingml/2006/main">
              <a:ext uri="{FF2B5EF4-FFF2-40B4-BE49-F238E27FC236}">
                <a16:creationId xmlns:a16="http://schemas.microsoft.com/office/drawing/2014/main" id="{A7D56235-ECA6-4FDF-9C06-22ED11B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Project docs</a:t>
            </a:r>
          </a:p>
        </p:txBody>
      </p:sp>
      <p:sp>
        <p:nvSpPr>
          <p:cNvPr id="62" name="knowledge graph">
            <a:extLst xmlns:a="http://schemas.openxmlformats.org/drawingml/2006/main">
              <a:ext uri="{FF2B5EF4-FFF2-40B4-BE49-F238E27FC236}">
                <a16:creationId xmlns:a16="http://schemas.microsoft.com/office/drawing/2014/main" id="{F7438406-62FA-4993-BB1D-A75F25D3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knowledge graph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35DF87-5C70-4B7B-92EB-DE5C8139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825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4" name="Code">
            <a:extLst xmlns:a="http://schemas.openxmlformats.org/drawingml/2006/main">
              <a:ext uri="{FF2B5EF4-FFF2-40B4-BE49-F238E27FC236}">
                <a16:creationId xmlns:a16="http://schemas.microsoft.com/office/drawing/2014/main" id="{B4EE58F6-B690-4BC7-98CD-33E114FB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Code</a:t>
            </a:r>
          </a:p>
        </p:txBody>
      </p:sp>
      <p:sp>
        <p:nvSpPr>
          <p:cNvPr id="65" name="code graph">
            <a:extLst xmlns:a="http://schemas.openxmlformats.org/drawingml/2006/main">
              <a:ext uri="{FF2B5EF4-FFF2-40B4-BE49-F238E27FC236}">
                <a16:creationId xmlns:a16="http://schemas.microsoft.com/office/drawing/2014/main" id="{DB3AED3C-FFF6-4521-B3A0-21483D53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450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code graph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44E1750-576B-4613-9C1B-1CCA9E35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2350" y="3457575"/>
            <a:ext cx="19081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2"/>
          </a:solidFill>
          <a:ln xmlns:a="http://schemas.openxmlformats.org/drawingml/2006/main" w="9525">
            <a:solidFill>
              <a:srgbClr val="A5B9CC"/>
            </a:solidFill>
          </a:ln>
        </p:spPr>
      </p:sp>
      <p:sp>
        <p:nvSpPr>
          <p:cNvPr id="67" name="Bug">
            <a:extLst xmlns:a="http://schemas.openxmlformats.org/drawingml/2006/main">
              <a:ext uri="{FF2B5EF4-FFF2-40B4-BE49-F238E27FC236}">
                <a16:creationId xmlns:a16="http://schemas.microsoft.com/office/drawing/2014/main" id="{E93F4018-5E7C-468B-A47F-33BD97E3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476625"/>
            <a:ext cx="18129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Bug</a:t>
            </a:r>
          </a:p>
        </p:txBody>
      </p:sp>
      <p:sp>
        <p:nvSpPr>
          <p:cNvPr id="68" name="from ticket">
            <a:extLst xmlns:a="http://schemas.openxmlformats.org/drawingml/2006/main">
              <a:ext uri="{FF2B5EF4-FFF2-40B4-BE49-F238E27FC236}">
                <a16:creationId xmlns:a16="http://schemas.microsoft.com/office/drawing/2014/main" id="{559A1EFF-F38F-4DF5-B1DE-CEFE9A1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975" y="3676650"/>
            <a:ext cx="1812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from ticket</a:t>
            </a:r>
          </a:p>
        </p:txBody>
      </p:sp>
      <p:sp>
        <p:nvSpPr>
          <p:cNvPr id="69" name="RUNS">
            <a:extLst xmlns:a="http://schemas.openxmlformats.org/drawingml/2006/main">
              <a:ext uri="{FF2B5EF4-FFF2-40B4-BE49-F238E27FC236}">
                <a16:creationId xmlns:a16="http://schemas.microsoft.com/office/drawing/2014/main" id="{6EBEC2B7-9AE7-4D8A-B94E-ACF5E004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15290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C14F48-5CB4-4BE7-AC37-4B91EFCA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1" name="Pre-checks">
            <a:extLst xmlns:a="http://schemas.openxmlformats.org/drawingml/2006/main">
              <a:ext uri="{FF2B5EF4-FFF2-40B4-BE49-F238E27FC236}">
                <a16:creationId xmlns:a16="http://schemas.microsoft.com/office/drawing/2014/main" id="{675D1C3E-FCBF-4C7E-8404-D816419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Pre-checks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D63B2E7-3C8E-4CFB-AA26-6FF99140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9682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3" name="Analysis">
            <a:extLst xmlns:a="http://schemas.openxmlformats.org/drawingml/2006/main">
              <a:ext uri="{FF2B5EF4-FFF2-40B4-BE49-F238E27FC236}">
                <a16:creationId xmlns:a16="http://schemas.microsoft.com/office/drawing/2014/main" id="{B72DC3F0-CC26-49C3-BBDD-B614A30C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732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Analysis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A7367DB-94C8-44F1-8FE5-B6E9AF50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64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5" name="Approve gaps">
            <a:extLst xmlns:a="http://schemas.openxmlformats.org/drawingml/2006/main">
              <a:ext uri="{FF2B5EF4-FFF2-40B4-BE49-F238E27FC236}">
                <a16:creationId xmlns:a16="http://schemas.microsoft.com/office/drawing/2014/main" id="{216C0A51-EB3A-4296-A9F9-DD5F6DCD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114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 gaps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911BE76-0A5D-485B-8997-64FDF01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0446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7" name="Agents">
            <a:extLst xmlns:a="http://schemas.openxmlformats.org/drawingml/2006/main">
              <a:ext uri="{FF2B5EF4-FFF2-40B4-BE49-F238E27FC236}">
                <a16:creationId xmlns:a16="http://schemas.microsoft.com/office/drawing/2014/main" id="{D6BFED9A-2BAE-4726-8275-2E991663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96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B82E28-1666-48A4-BBA3-51F276D5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829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79" name="Pull request">
            <a:extLst xmlns:a="http://schemas.openxmlformats.org/drawingml/2006/main">
              <a:ext uri="{FF2B5EF4-FFF2-40B4-BE49-F238E27FC236}">
                <a16:creationId xmlns:a16="http://schemas.microsoft.com/office/drawing/2014/main" id="{206D9433-CAE3-4674-A1A1-F06ED3B5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879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5830FC3-2694-433D-85DC-CB904828B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211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1" name="Tests">
            <a:extLst xmlns:a="http://schemas.openxmlformats.org/drawingml/2006/main">
              <a:ext uri="{FF2B5EF4-FFF2-40B4-BE49-F238E27FC236}">
                <a16:creationId xmlns:a16="http://schemas.microsoft.com/office/drawing/2014/main" id="{DDB7AE5E-803F-48BF-B4B8-9752889B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0261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5BDBE20-9F12-487D-9A86-11978A74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1593" y="4086225"/>
            <a:ext cx="7089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D46"/>
          </a:solidFill>
          <a:ln xmlns:a="http://schemas.openxmlformats.org/drawingml/2006/main" w="9525">
            <a:noFill/>
          </a:ln>
        </p:spPr>
      </p:sp>
      <p:sp>
        <p:nvSpPr>
          <p:cNvPr id="83" name="Re-sync">
            <a:extLst xmlns:a="http://schemas.openxmlformats.org/drawingml/2006/main">
              <a:ext uri="{FF2B5EF4-FFF2-40B4-BE49-F238E27FC236}">
                <a16:creationId xmlns:a16="http://schemas.microsoft.com/office/drawing/2014/main" id="{19DB774A-1053-4F96-98C7-45DC7D95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643" y="4095750"/>
            <a:ext cx="67083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Re-sync</a:t>
            </a:r>
          </a:p>
        </p:txBody>
      </p:sp>
      <p:cxnSp>
        <p:nvCxnSpPr>
          <p:cNvPr id="272" name=""/>
          <p:cNvCxnSpPr>
            <a:stCxn xmlns:a="http://schemas.openxmlformats.org/drawingml/2006/main" id="70" idx="3"/>
            <a:endCxn xmlns:a="http://schemas.openxmlformats.org/drawingml/2006/main" id="72" idx="1"/>
          </p:cNvCxnSpPr>
          <p:nvPr/>
        </p:nvCxnSpPr>
        <p:spPr>
          <a:xfrm xmlns:a="http://schemas.openxmlformats.org/drawingml/2006/main">
            <a:off x="2728232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3" name=""/>
          <p:cNvCxnSpPr>
            <a:stCxn xmlns:a="http://schemas.openxmlformats.org/drawingml/2006/main" id="72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608614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4" name=""/>
          <p:cNvCxnSpPr>
            <a:stCxn xmlns:a="http://schemas.openxmlformats.org/drawingml/2006/main" id="74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4488996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5" name=""/>
          <p:cNvCxnSpPr>
            <a:stCxn xmlns:a="http://schemas.openxmlformats.org/drawingml/2006/main" id="76" idx="3"/>
            <a:endCxn xmlns:a="http://schemas.openxmlformats.org/drawingml/2006/main" id="78" idx="1"/>
          </p:cNvCxnSpPr>
          <p:nvPr/>
        </p:nvCxnSpPr>
        <p:spPr>
          <a:xfrm xmlns:a="http://schemas.openxmlformats.org/drawingml/2006/main">
            <a:off x="5369378" y="4238625"/>
            <a:ext cx="1714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6" name=""/>
          <p:cNvCxnSpPr>
            <a:stCxn xmlns:a="http://schemas.openxmlformats.org/drawingml/2006/main" id="78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6249761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cxnSp>
        <p:nvCxnSpPr>
          <p:cNvPr id="277" name=""/>
          <p:cNvCxnSpPr>
            <a:stCxn xmlns:a="http://schemas.openxmlformats.org/drawingml/2006/main" id="80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7130143" y="42386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9CF0C3F-DF4D-45CA-B53B-206DCD41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38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43C8FF-5C7C-4E9D-B01A-236A69F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4913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42F059A-97B1-4102-B356-20BF113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6438" y="386715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87CAD0-BB72-4270-B91A-462CF8A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766" y="3962400"/>
            <a:ext cx="46826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D4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D1CC07BF-783A-459A-B34C-9A914863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290" y="396192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3" name=""/>
          <p:cNvCxnSpPr>
            <a:stCxn xmlns:a="http://schemas.openxmlformats.org/drawingml/2006/main" id="94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 flipH="1">
            <a:off x="2373766" y="3962877"/>
            <a:ext cx="1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2D46"/>
            </a:solidFill>
            <a:tailEnd type="triangle" w="sm" len="sm"/>
          </a:ln>
        </p:spPr>
      </p:cxn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EE4E067-DF6F-42B8-BE02-EAB1AA41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36618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285" name=""/>
          <p:cNvCxnSpPr>
            <a:stCxn xmlns:a="http://schemas.openxmlformats.org/drawingml/2006/main" id="96" idx="3"/>
            <a:endCxn xmlns:a="http://schemas.openxmlformats.org/drawingml/2006/main" id="60" idx="1"/>
          </p:cNvCxnSpPr>
          <p:nvPr/>
        </p:nvCxnSpPr>
        <p:spPr>
          <a:xfrm xmlns:a="http://schemas.openxmlformats.org/drawingml/2006/main">
            <a:off x="1333977" y="366236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290BC70-837C-4FA9-8C73-758FF5A9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4325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10723B-588B-4CBB-AC78-9D9700C4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9F7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DD42F21-2B00-4C52-AE65-7067D2A2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62475"/>
            <a:ext cx="66484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solidFill>
              <a:srgbClr val="087F83"/>
            </a:solidFill>
          </a:ln>
        </p:spPr>
      </p:sp>
      <p:sp>
        <p:nvSpPr>
          <p:cNvPr id="101" name="SERVICEOPS">
            <a:extLst xmlns:a="http://schemas.openxmlformats.org/drawingml/2006/main">
              <a:ext uri="{FF2B5EF4-FFF2-40B4-BE49-F238E27FC236}">
                <a16:creationId xmlns:a16="http://schemas.microsoft.com/office/drawing/2014/main" id="{CC0A6CE3-75D9-43A0-85FD-52FCCCA4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81525"/>
            <a:ext cx="566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SERVICEOPS</a:t>
            </a:r>
          </a:p>
        </p:txBody>
      </p:sp>
      <p:sp>
        <p:nvSpPr>
          <p:cNvPr id="102" name="USES">
            <a:extLst xmlns:a="http://schemas.openxmlformats.org/drawingml/2006/main">
              <a:ext uri="{FF2B5EF4-FFF2-40B4-BE49-F238E27FC236}">
                <a16:creationId xmlns:a16="http://schemas.microsoft.com/office/drawing/2014/main" id="{1E3B20CB-4045-4DFE-B5E7-C42241F9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24425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USES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2C432D6-B613-4D0A-9413-2619D6E42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4" name="Knowledge">
            <a:extLst xmlns:a="http://schemas.openxmlformats.org/drawingml/2006/main">
              <a:ext uri="{FF2B5EF4-FFF2-40B4-BE49-F238E27FC236}">
                <a16:creationId xmlns:a16="http://schemas.microsoft.com/office/drawing/2014/main" id="{21ED3849-4F6E-4EEC-9CD4-DCF01CCB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Knowledge</a:t>
            </a:r>
          </a:p>
        </p:txBody>
      </p:sp>
      <p:sp>
        <p:nvSpPr>
          <p:cNvPr id="105" name="app graph">
            <a:extLst xmlns:a="http://schemas.openxmlformats.org/drawingml/2006/main">
              <a:ext uri="{FF2B5EF4-FFF2-40B4-BE49-F238E27FC236}">
                <a16:creationId xmlns:a16="http://schemas.microsoft.com/office/drawing/2014/main" id="{60987727-35E6-4FBD-980A-4A2EFE48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app graph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215C075-6678-4182-9C93-39A90D8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444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07" name="History">
            <a:extLst xmlns:a="http://schemas.openxmlformats.org/drawingml/2006/main">
              <a:ext uri="{FF2B5EF4-FFF2-40B4-BE49-F238E27FC236}">
                <a16:creationId xmlns:a16="http://schemas.microsoft.com/office/drawing/2014/main" id="{E6B2CE35-C14F-46D7-BBAA-237A6C2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History</a:t>
            </a:r>
          </a:p>
        </p:txBody>
      </p:sp>
      <p:sp>
        <p:nvSpPr>
          <p:cNvPr id="108" name="past incidents">
            <a:extLst xmlns:a="http://schemas.openxmlformats.org/drawingml/2006/main">
              <a:ext uri="{FF2B5EF4-FFF2-40B4-BE49-F238E27FC236}">
                <a16:creationId xmlns:a16="http://schemas.microsoft.com/office/drawing/2014/main" id="{BCF9CC56-F404-4694-B769-6BDBB9F1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8069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past incidents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AE6863D-7021-494D-B20A-B179145F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588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0" name="Changes">
            <a:extLst xmlns:a="http://schemas.openxmlformats.org/drawingml/2006/main">
              <a:ext uri="{FF2B5EF4-FFF2-40B4-BE49-F238E27FC236}">
                <a16:creationId xmlns:a16="http://schemas.microsoft.com/office/drawing/2014/main" id="{0A0268B6-3BDC-4548-B2A1-05B0DC04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Changes</a:t>
            </a:r>
          </a:p>
        </p:txBody>
      </p:sp>
      <p:sp>
        <p:nvSpPr>
          <p:cNvPr id="111" name="same CI">
            <a:extLst xmlns:a="http://schemas.openxmlformats.org/drawingml/2006/main">
              <a:ext uri="{FF2B5EF4-FFF2-40B4-BE49-F238E27FC236}">
                <a16:creationId xmlns:a16="http://schemas.microsoft.com/office/drawing/2014/main" id="{D202DD5A-2A02-451E-814F-0648854E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213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same CI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001EE8D-7577-4556-AE39-306BA074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31" y="4924425"/>
            <a:ext cx="1397794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0ED"/>
          </a:solidFill>
          <a:ln xmlns:a="http://schemas.openxmlformats.org/drawingml/2006/main" w="9525">
            <a:solidFill>
              <a:srgbClr val="90BDB6"/>
            </a:solidFill>
          </a:ln>
        </p:spPr>
      </p:sp>
      <p:sp>
        <p:nvSpPr>
          <p:cNvPr id="113" name="Incident">
            <a:extLst xmlns:a="http://schemas.openxmlformats.org/drawingml/2006/main">
              <a:ext uri="{FF2B5EF4-FFF2-40B4-BE49-F238E27FC236}">
                <a16:creationId xmlns:a16="http://schemas.microsoft.com/office/drawing/2014/main" id="{B5B3DA9C-471C-4990-A7A5-E26DA874F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4943475"/>
            <a:ext cx="1302544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Incident</a:t>
            </a:r>
          </a:p>
        </p:txBody>
      </p:sp>
      <p:sp>
        <p:nvSpPr>
          <p:cNvPr id="114" name="new ticket">
            <a:extLst xmlns:a="http://schemas.openxmlformats.org/drawingml/2006/main">
              <a:ext uri="{FF2B5EF4-FFF2-40B4-BE49-F238E27FC236}">
                <a16:creationId xmlns:a16="http://schemas.microsoft.com/office/drawing/2014/main" id="{94FA9B66-E06C-4EC6-9FE8-624A5BD2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356" y="5143500"/>
            <a:ext cx="1302544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83D50"/>
                </a:solidFill>
                <a:latin typeface="Arial"/>
                <a:ea typeface="Arial"/>
                <a:cs typeface="Arial"/>
              </a:rPr>
              <a:t>new ticket</a:t>
            </a:r>
          </a:p>
        </p:txBody>
      </p:sp>
      <p:sp>
        <p:nvSpPr>
          <p:cNvPr id="115" name="RUNS">
            <a:extLst xmlns:a="http://schemas.openxmlformats.org/drawingml/2006/main">
              <a:ext uri="{FF2B5EF4-FFF2-40B4-BE49-F238E27FC236}">
                <a16:creationId xmlns:a16="http://schemas.microsoft.com/office/drawing/2014/main" id="{C9BA1376-36D3-4AB8-AF08-2AA29269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619750"/>
            <a:ext cx="4476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RUNS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5432A73-DCC2-44E6-B02F-975EAE0C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7" name="Evidence">
            <a:extLst xmlns:a="http://schemas.openxmlformats.org/drawingml/2006/main">
              <a:ext uri="{FF2B5EF4-FFF2-40B4-BE49-F238E27FC236}">
                <a16:creationId xmlns:a16="http://schemas.microsoft.com/office/drawing/2014/main" id="{2190900D-7C30-4BF3-9B3F-D4AD9A58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9B3D5C9-C111-4344-98B5-E090AFDE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83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19" name="Redact">
            <a:extLst xmlns:a="http://schemas.openxmlformats.org/drawingml/2006/main">
              <a:ext uri="{FF2B5EF4-FFF2-40B4-BE49-F238E27FC236}">
                <a16:creationId xmlns:a16="http://schemas.microsoft.com/office/drawing/2014/main" id="{BA72680F-9951-4A50-BD8F-0852D8713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88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Redact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1BDBD13-E51F-49AF-863C-4D70AEEC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37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1" name="Hypotheses">
            <a:extLst xmlns:a="http://schemas.openxmlformats.org/drawingml/2006/main">
              <a:ext uri="{FF2B5EF4-FFF2-40B4-BE49-F238E27FC236}">
                <a16:creationId xmlns:a16="http://schemas.microsoft.com/office/drawing/2014/main" id="{241F185F-8540-4EEE-9EC2-293F94DA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342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Hypotheses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BFB5C22-2FD0-4240-BC43-5DE3863A6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6905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3" name="Verify &amp; score">
            <a:extLst xmlns:a="http://schemas.openxmlformats.org/drawingml/2006/main">
              <a:ext uri="{FF2B5EF4-FFF2-40B4-BE49-F238E27FC236}">
                <a16:creationId xmlns:a16="http://schemas.microsoft.com/office/drawing/2014/main" id="{A40A4ACB-FABD-401C-9042-5C933483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5955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Verify &amp; score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54CDD8D-0DD6-458B-B9EF-5C500BEFF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5553075"/>
            <a:ext cx="106108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3"/>
          </a:solidFill>
          <a:ln xmlns:a="http://schemas.openxmlformats.org/drawingml/2006/main" w="9525">
            <a:noFill/>
          </a:ln>
        </p:spPr>
      </p:sp>
      <p:sp>
        <p:nvSpPr>
          <p:cNvPr id="125" name="Responder decides">
            <a:extLst xmlns:a="http://schemas.openxmlformats.org/drawingml/2006/main">
              <a:ext uri="{FF2B5EF4-FFF2-40B4-BE49-F238E27FC236}">
                <a16:creationId xmlns:a16="http://schemas.microsoft.com/office/drawing/2014/main" id="{DDCEF0AB-D28F-4493-A738-969D47BC3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8490" y="5562600"/>
            <a:ext cx="102298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Responder decides</a:t>
            </a:r>
          </a:p>
        </p:txBody>
      </p:sp>
      <p:cxnSp>
        <p:nvCxnSpPr>
          <p:cNvPr id="314" name=""/>
          <p:cNvCxnSpPr>
            <a:stCxn xmlns:a="http://schemas.openxmlformats.org/drawingml/2006/main" id="116" idx="3"/>
            <a:endCxn xmlns:a="http://schemas.openxmlformats.org/drawingml/2006/main" id="118" idx="1"/>
          </p:cNvCxnSpPr>
          <p:nvPr/>
        </p:nvCxnSpPr>
        <p:spPr>
          <a:xfrm xmlns:a="http://schemas.openxmlformats.org/drawingml/2006/main">
            <a:off x="308038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5" name=""/>
          <p:cNvCxnSpPr>
            <a:stCxn xmlns:a="http://schemas.openxmlformats.org/drawingml/2006/main" id="118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431292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6" name=""/>
          <p:cNvCxnSpPr>
            <a:stCxn xmlns:a="http://schemas.openxmlformats.org/drawingml/2006/main" id="120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5545455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cxnSp>
        <p:nvCxnSpPr>
          <p:cNvPr id="317" name=""/>
          <p:cNvCxnSpPr>
            <a:stCxn xmlns:a="http://schemas.openxmlformats.org/drawingml/2006/main" id="122" idx="3"/>
            <a:endCxn xmlns:a="http://schemas.openxmlformats.org/drawingml/2006/main" id="124" idx="1"/>
          </p:cNvCxnSpPr>
          <p:nvPr/>
        </p:nvCxnSpPr>
        <p:spPr>
          <a:xfrm xmlns:a="http://schemas.openxmlformats.org/drawingml/2006/main">
            <a:off x="6777990" y="570547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E33F939-41C9-45AD-ACF9-FBF51937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197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06A9F45-CDA8-45B3-8C95-E9BDC09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341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9872A11-82D6-49BF-A35B-D5056B87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484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544A19A1-6F96-4568-BEF5-C82FD37D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1628" y="53340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A58E643-A2E8-4C85-9242-591BC955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843" y="5429250"/>
            <a:ext cx="47617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87F83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AB4CE4D7-CFB9-4E56-8477-09683A5A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9366" y="5428774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4" name=""/>
          <p:cNvCxnSpPr>
            <a:stCxn xmlns:a="http://schemas.openxmlformats.org/drawingml/2006/main" id="13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>
            <a:off x="2549843" y="5429727"/>
            <a:ext cx="0" cy="12334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E5F90806-2563-4F34-87B0-F9113F92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024" y="512873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6" name=""/>
          <p:cNvCxnSpPr>
            <a:stCxn xmlns:a="http://schemas.openxmlformats.org/drawingml/2006/main" id="137" idx="3"/>
            <a:endCxn xmlns:a="http://schemas.openxmlformats.org/drawingml/2006/main" id="103" idx="1"/>
          </p:cNvCxnSpPr>
          <p:nvPr/>
        </p:nvCxnSpPr>
        <p:spPr>
          <a:xfrm xmlns:a="http://schemas.openxmlformats.org/drawingml/2006/main" flipV="1">
            <a:off x="1333977" y="5129213"/>
            <a:ext cx="685323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3"/>
            </a:solidFill>
            <a:tailEnd type="triangle" w="sm" len="sm"/>
          </a:ln>
        </p:spPr>
      </p:cxn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261A8F8E-AE39-4407-BAB7-B250E090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10100"/>
            <a:ext cx="2095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A89A869-5C5F-4F3D-9FAA-68A0A4D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423814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29" name=""/>
          <p:cNvCxnSpPr>
            <a:stCxn xmlns:a="http://schemas.openxmlformats.org/drawingml/2006/main" id="82" idx="3"/>
            <a:endCxn xmlns:a="http://schemas.openxmlformats.org/drawingml/2006/main" id="140" idx="1"/>
          </p:cNvCxnSpPr>
          <p:nvPr/>
        </p:nvCxnSpPr>
        <p:spPr>
          <a:xfrm xmlns:a="http://schemas.openxmlformats.org/drawingml/2006/main">
            <a:off x="8010525" y="4238625"/>
            <a:ext cx="323374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8467DDC-CC8C-490F-A737-55E199E0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5704999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31" name=""/>
          <p:cNvCxnSpPr>
            <a:stCxn xmlns:a="http://schemas.openxmlformats.org/drawingml/2006/main" id="124" idx="3"/>
            <a:endCxn xmlns:a="http://schemas.openxmlformats.org/drawingml/2006/main" id="142" idx="1"/>
          </p:cNvCxnSpPr>
          <p:nvPr/>
        </p:nvCxnSpPr>
        <p:spPr>
          <a:xfrm xmlns:a="http://schemas.openxmlformats.org/drawingml/2006/main">
            <a:off x="8010525" y="5705475"/>
            <a:ext cx="323374" cy="1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none" w="sm" len="sm"/>
          </a:ln>
        </p:spPr>
      </p:cxn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0B8AF3C-7B28-4942-BD15-4BC8803BE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43163"/>
            <a:ext cx="0" cy="326231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66A22"/>
            </a:solidFill>
            <a:prstDash val="dash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A5B777D-C359-4186-8578-1631F09E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899" y="2442686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</p:sp>
      <p:cxnSp>
        <p:nvCxnSpPr>
          <p:cNvPr id="334" name=""/>
          <p:cNvCxnSpPr>
            <a:stCxn xmlns:a="http://schemas.openxmlformats.org/drawingml/2006/main" id="145" idx="1"/>
            <a:endCxn xmlns:a="http://schemas.openxmlformats.org/drawingml/2006/main" id="41" idx="3"/>
          </p:cNvCxnSpPr>
          <p:nvPr/>
        </p:nvCxnSpPr>
        <p:spPr>
          <a:xfrm xmlns:a="http://schemas.openxmlformats.org/drawingml/2006/main" flipH="1">
            <a:off x="8096250" y="2443163"/>
            <a:ext cx="2376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66A22"/>
            </a:solidFill>
            <a:tailEnd type="triangle" w="sm" len="sm"/>
          </a:ln>
        </p:spPr>
      </p:cxnSp>
      <p:sp>
        <p:nvSpPr>
          <p:cNvPr id="147" name="results update the knowledge">
            <a:extLst xmlns:a="http://schemas.openxmlformats.org/drawingml/2006/main">
              <a:ext uri="{FF2B5EF4-FFF2-40B4-BE49-F238E27FC236}">
                <a16:creationId xmlns:a16="http://schemas.microsoft.com/office/drawing/2014/main" id="{9125DA72-F46E-4897-A337-A424D6E3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5924550"/>
            <a:ext cx="2609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A66A22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A66A22"/>
                </a:solidFill>
                <a:latin typeface="Arial"/>
                <a:ea typeface="Arial"/>
                <a:cs typeface="Arial"/>
              </a:rPr>
              <a:t>results update the knowledge</a:t>
            </a:r>
          </a:p>
        </p:txBody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147d862fe84d79"/>
          <a:stretch xmlns:a="http://schemas.openxmlformats.org/drawingml/2006/main"/>
        </p:blipFill>
        <p:spPr>
          <a:xfrm xmlns:a="http://schemas.openxmlformats.org/drawingml/2006/main">
            <a:off x="7858125" y="317182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739e035b3e4173"/>
          <a:stretch xmlns:a="http://schemas.openxmlformats.org/drawingml/2006/main"/>
        </p:blipFill>
        <p:spPr>
          <a:xfrm xmlns:a="http://schemas.openxmlformats.org/drawingml/2006/main">
            <a:off x="7858125" y="4638675"/>
            <a:ext cx="152400" cy="152400"/>
          </a:xfrm>
          <a:prstGeom xmlns:a="http://schemas.openxmlformats.org/drawingml/2006/main" prst="rect">
            <a:avLst/>
          </a:prstGeom>
        </p:spPr>
      </p:pic>
      <p:pic>
        <p:nvPicPr>
          <p:cNvPr id="3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92151775a14eac"/>
          <a:stretch xmlns:a="http://schemas.openxmlformats.org/drawingml/2006/main"/>
        </p:blipFill>
        <p:spPr>
          <a:xfrm xmlns:a="http://schemas.openxmlformats.org/drawingml/2006/main">
            <a:off x="1476375" y="612457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51" name="Access">
            <a:extLst xmlns:a="http://schemas.openxmlformats.org/drawingml/2006/main">
              <a:ext uri="{FF2B5EF4-FFF2-40B4-BE49-F238E27FC236}">
                <a16:creationId xmlns:a16="http://schemas.microsoft.com/office/drawing/2014/main" id="{666789D2-991E-4445-A588-5F2FF525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6086475"/>
            <a:ext cx="5429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Access</a:t>
            </a:r>
          </a:p>
        </p:txBody>
      </p:sp>
      <p:sp>
        <p:nvSpPr>
          <p:cNvPr id="152" name="Chat · REST API · MCP">
            <a:extLst xmlns:a="http://schemas.openxmlformats.org/drawingml/2006/main">
              <a:ext uri="{FF2B5EF4-FFF2-40B4-BE49-F238E27FC236}">
                <a16:creationId xmlns:a16="http://schemas.microsoft.com/office/drawing/2014/main" id="{147377F3-D519-4506-88A0-ED2D2476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086475"/>
            <a:ext cx="1857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Chat · REST API · MCP</a:t>
            </a:r>
          </a:p>
        </p:txBody>
      </p:sp>
      <p:sp>
        <p:nvSpPr>
          <p:cNvPr id="153" name="for people and any AI tool">
            <a:extLst xmlns:a="http://schemas.openxmlformats.org/drawingml/2006/main">
              <a:ext uri="{FF2B5EF4-FFF2-40B4-BE49-F238E27FC236}">
                <a16:creationId xmlns:a16="http://schemas.microsoft.com/office/drawing/2014/main" id="{8D69DD3A-A11D-4F37-9E85-FAE628F9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086475"/>
            <a:ext cx="2286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for people and any AI tool</a:t>
            </a:r>
          </a:p>
        </p:txBody>
      </p:sp>
      <p:sp>
        <p:nvSpPr>
          <p:cNvPr id="154" name="OpenAI or Claude">
            <a:extLst xmlns:a="http://schemas.openxmlformats.org/drawingml/2006/main">
              <a:ext uri="{FF2B5EF4-FFF2-40B4-BE49-F238E27FC236}">
                <a16:creationId xmlns:a16="http://schemas.microsoft.com/office/drawing/2014/main" id="{3BB65ACB-2100-4CF9-B307-6162C7D60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086475"/>
            <a:ext cx="10572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OpenAI or Claude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963ECC0-C32F-4D1D-A489-09874900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07695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692F466F-CD96-4FC7-8607-553F659F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6324600"/>
            <a:ext cx="664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57" name="KEY FEATURES">
            <a:extLst xmlns:a="http://schemas.openxmlformats.org/drawingml/2006/main">
              <a:ext uri="{FF2B5EF4-FFF2-40B4-BE49-F238E27FC236}">
                <a16:creationId xmlns:a16="http://schemas.microsoft.com/office/drawing/2014/main" id="{264977EA-6C63-4F18-9C12-212C0028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382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B0A5DC6-5CFB-48E9-8A47-CF2E7AC3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1715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Organizations:  </a:t>
            </a:r>
            <a:r>
              <a:t>portfolio → product → application, access per app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8C3B65CB-9B13-4FE6-ABFA-03D79898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573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Graph management:  </a:t>
            </a:r>
            <a:r>
              <a:t>source → graph → quality check → publish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8680B44F-04C2-4D86-AFE9-F38BA455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430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Code Factory:  </a:t>
            </a:r>
            <a:r>
              <a:t>ticket → plan → approval → draft PR → Re-sync Knowledge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5AC5FE7-952E-4D8E-989F-342C81AB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288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ServiceOps:  </a:t>
            </a:r>
            <a:r>
              <a:t>incidents open with past fixes and recent changes</a:t>
            </a:r>
          </a:p>
        </p:txBody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64E73C7C-2F44-4F8D-A115-D8C8F643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145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Guided onboarding:  </a:t>
            </a:r>
            <a:r>
              <a:t>Onboarding checklist per application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9A6BD8F7-9A11-40BC-A245-60CD928E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0032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Usage tracking:  </a:t>
            </a:r>
            <a:r>
              <a:t>AI cost per call, per application</a:t>
            </a:r>
          </a:p>
        </p:txBody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4704DF62-EA04-42DA-A0F1-FCA791D1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860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283D50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132D46"/>
                </a:solidFill>
              </a:rPr>
              <a:t>Connectors:  </a:t>
            </a:r>
            <a:r>
              <a:t>Jira, ServiceNow and GitHub synced on a schedule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A965BBA9-374E-4734-BB0B-BD5EB66B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38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66" name="KEY DIFFERENTIATORS">
            <a:extLst xmlns:a="http://schemas.openxmlformats.org/drawingml/2006/main">
              <a:ext uri="{FF2B5EF4-FFF2-40B4-BE49-F238E27FC236}">
                <a16:creationId xmlns:a16="http://schemas.microsoft.com/office/drawing/2014/main" id="{84EE70F1-82F3-40AF-A387-3CBF3313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0517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KEY DIFFERENTIATORS</a:t>
            </a:r>
          </a:p>
        </p:txBody>
      </p:sp>
      <p:sp>
        <p:nvSpPr>
          <p:cNvPr id="167" name="Answers that prove themselves">
            <a:extLst xmlns:a="http://schemas.openxmlformats.org/drawingml/2006/main">
              <a:ext uri="{FF2B5EF4-FFF2-40B4-BE49-F238E27FC236}">
                <a16:creationId xmlns:a16="http://schemas.microsoft.com/office/drawing/2014/main" id="{2081AA50-EEC8-4C4B-98ED-93B0C8B1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Answers that prove themselves</a:t>
            </a:r>
          </a:p>
        </p:txBody>
      </p:sp>
      <p:sp>
        <p:nvSpPr>
          <p:cNvPr id="168" name="Every answer is traceable to a verified source.">
            <a:extLst xmlns:a="http://schemas.openxmlformats.org/drawingml/2006/main">
              <a:ext uri="{FF2B5EF4-FFF2-40B4-BE49-F238E27FC236}">
                <a16:creationId xmlns:a16="http://schemas.microsoft.com/office/drawing/2014/main" id="{18F0D48C-20B2-4CC1-8090-A234ED5C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242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answer is traceable to a verified source.</a:t>
            </a:r>
          </a:p>
        </p:txBody>
      </p:sp>
      <p:sp>
        <p:nvSpPr>
          <p:cNvPr id="169" name="One brain for build and run">
            <a:extLst xmlns:a="http://schemas.openxmlformats.org/drawingml/2006/main">
              <a:ext uri="{FF2B5EF4-FFF2-40B4-BE49-F238E27FC236}">
                <a16:creationId xmlns:a16="http://schemas.microsoft.com/office/drawing/2014/main" id="{4DD7A184-80BE-461B-9498-8A0B17A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766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One brain for build and run</a:t>
            </a:r>
          </a:p>
        </p:txBody>
      </p:sp>
      <p:sp>
        <p:nvSpPr>
          <p:cNvPr id="170" name="Every resolved incident strengthens the next respo">
            <a:extLst xmlns:a="http://schemas.openxmlformats.org/drawingml/2006/main">
              <a:ext uri="{FF2B5EF4-FFF2-40B4-BE49-F238E27FC236}">
                <a16:creationId xmlns:a16="http://schemas.microsoft.com/office/drawing/2014/main" id="{BDA3903F-968E-48E8-B4A5-E37CC261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481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resolved incident strengthens the next response.</a:t>
            </a:r>
          </a:p>
        </p:txBody>
      </p:sp>
      <p:sp>
        <p:nvSpPr>
          <p:cNvPr id="171" name="Knowledge released like software">
            <a:extLst xmlns:a="http://schemas.openxmlformats.org/drawingml/2006/main">
              <a:ext uri="{FF2B5EF4-FFF2-40B4-BE49-F238E27FC236}">
                <a16:creationId xmlns:a16="http://schemas.microsoft.com/office/drawing/2014/main" id="{56D186B0-967D-49D0-B71F-BD66A4BA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00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Knowledge released like software</a:t>
            </a:r>
          </a:p>
        </p:txBody>
      </p:sp>
      <p:sp>
        <p:nvSpPr>
          <p:cNvPr id="172" name="All knowledge is reviewed and approved before use.">
            <a:extLst xmlns:a="http://schemas.openxmlformats.org/drawingml/2006/main">
              <a:ext uri="{FF2B5EF4-FFF2-40B4-BE49-F238E27FC236}">
                <a16:creationId xmlns:a16="http://schemas.microsoft.com/office/drawing/2014/main" id="{1A629DDE-8A19-458D-B864-C5921560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719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All knowledge is reviewed and approved before use.</a:t>
            </a:r>
          </a:p>
        </p:txBody>
      </p:sp>
      <p:sp>
        <p:nvSpPr>
          <p:cNvPr id="173" name="Always up to date">
            <a:extLst xmlns:a="http://schemas.openxmlformats.org/drawingml/2006/main">
              <a:ext uri="{FF2B5EF4-FFF2-40B4-BE49-F238E27FC236}">
                <a16:creationId xmlns:a16="http://schemas.microsoft.com/office/drawing/2014/main" id="{333E45D8-6D8F-4167-9720-936BFD9E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243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Always up to date</a:t>
            </a:r>
          </a:p>
        </p:txBody>
      </p:sp>
      <p:sp>
        <p:nvSpPr>
          <p:cNvPr id="174" name="Sources and knowledge refresh after major changes,">
            <a:extLst xmlns:a="http://schemas.openxmlformats.org/drawingml/2006/main">
              <a:ext uri="{FF2B5EF4-FFF2-40B4-BE49-F238E27FC236}">
                <a16:creationId xmlns:a16="http://schemas.microsoft.com/office/drawing/2014/main" id="{EF6A8253-0443-4049-8CBE-F15808A4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6958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Sources and knowledge refresh after major changes, like a bug fix.</a:t>
            </a:r>
          </a:p>
        </p:txBody>
      </p:sp>
      <p:sp>
        <p:nvSpPr>
          <p:cNvPr id="175" name="Requirements and code in one graph">
            <a:extLst xmlns:a="http://schemas.openxmlformats.org/drawingml/2006/main">
              <a:ext uri="{FF2B5EF4-FFF2-40B4-BE49-F238E27FC236}">
                <a16:creationId xmlns:a16="http://schemas.microsoft.com/office/drawing/2014/main" id="{62A9EF86-1467-425F-9276-F190F0C3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9625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Requirements and code in one graph</a:t>
            </a:r>
          </a:p>
        </p:txBody>
      </p:sp>
      <p:sp>
        <p:nvSpPr>
          <p:cNvPr id="176" name="Every change is linked to its requirement and code">
            <a:extLst xmlns:a="http://schemas.openxmlformats.org/drawingml/2006/main">
              <a:ext uri="{FF2B5EF4-FFF2-40B4-BE49-F238E27FC236}">
                <a16:creationId xmlns:a16="http://schemas.microsoft.com/office/drawing/2014/main" id="{A8D6E3F2-ED28-4C46-9C06-6178DE51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13397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Every change is linked to its requirement and code.</a:t>
            </a:r>
          </a:p>
        </p:txBody>
      </p:sp>
      <p:sp>
        <p:nvSpPr>
          <p:cNvPr id="177" name="Bring your own model">
            <a:extLst xmlns:a="http://schemas.openxmlformats.org/drawingml/2006/main">
              <a:ext uri="{FF2B5EF4-FFF2-40B4-BE49-F238E27FC236}">
                <a16:creationId xmlns:a16="http://schemas.microsoft.com/office/drawing/2014/main" id="{D8F8A9BE-AD2E-423F-90FF-BCA9FCA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8637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Bring your own model</a:t>
            </a:r>
          </a:p>
        </p:txBody>
      </p:sp>
      <p:sp>
        <p:nvSpPr>
          <p:cNvPr id="178" name="Trusted knowledge is accessible from any AI tool.">
            <a:extLst xmlns:a="http://schemas.openxmlformats.org/drawingml/2006/main">
              <a:ext uri="{FF2B5EF4-FFF2-40B4-BE49-F238E27FC236}">
                <a16:creationId xmlns:a16="http://schemas.microsoft.com/office/drawing/2014/main" id="{A9A25217-0601-43A6-A602-344E67C8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4578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Trusted knowledge is accessible from any AI tool.</a:t>
            </a:r>
          </a:p>
        </p:txBody>
      </p:sp>
      <p:sp>
        <p:nvSpPr>
          <p:cNvPr id="179" name="Graph-based efficiency">
            <a:extLst xmlns:a="http://schemas.openxmlformats.org/drawingml/2006/main">
              <a:ext uri="{FF2B5EF4-FFF2-40B4-BE49-F238E27FC236}">
                <a16:creationId xmlns:a16="http://schemas.microsoft.com/office/drawing/2014/main" id="{9BAB7780-52AE-4AF0-84F0-7B86645B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610225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915" b="1">
                <a:solidFill>
                  <a:srgbClr val="132D46"/>
                </a:solidFill>
                <a:latin typeface="Arial"/>
                <a:ea typeface="Arial"/>
                <a:cs typeface="Arial"/>
              </a:rPr>
              <a:t>Graph-based efficiency</a:t>
            </a:r>
          </a:p>
        </p:txBody>
      </p:sp>
      <p:sp>
        <p:nvSpPr>
          <p:cNvPr id="180" name="Graph-based RAG reuses connected knowledge for mor">
            <a:extLst xmlns:a="http://schemas.openxmlformats.org/drawingml/2006/main">
              <a:ext uri="{FF2B5EF4-FFF2-40B4-BE49-F238E27FC236}">
                <a16:creationId xmlns:a16="http://schemas.microsoft.com/office/drawing/2014/main" id="{E4894B36-06A9-436A-875C-D1CC50A3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8007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840" b="0">
                <a:solidFill>
                  <a:srgbClr val="607180"/>
                </a:solidFill>
                <a:latin typeface="Arial"/>
                <a:ea typeface="Arial"/>
                <a:cs typeface="Arial"/>
              </a:rPr>
              <a:t>Graph-based RAG reuses connected knowledge for more efficient retrieval and better-supported answers, with potential reductions in token use and response time.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A4B320E-6C41-4758-A7D3-41E37A86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372225"/>
            <a:ext cx="11506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2DFE5"/>
            </a:solidFill>
          </a:ln>
        </p:spPr>
      </p:sp>
      <p:sp>
        <p:nvSpPr>
          <p:cNvPr id="182" name="TECH STACK">
            <a:extLst xmlns:a="http://schemas.openxmlformats.org/drawingml/2006/main">
              <a:ext uri="{FF2B5EF4-FFF2-40B4-BE49-F238E27FC236}">
                <a16:creationId xmlns:a16="http://schemas.microsoft.com/office/drawing/2014/main" id="{5F565ABA-C3C0-4C28-9565-CFDCFC4D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496050"/>
            <a:ext cx="10001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TECH STACK</a:t>
            </a:r>
          </a:p>
        </p:txBody>
      </p:sp>
      <p:sp>
        <p:nvSpPr>
          <p:cNvPr id="183" name="CORE">
            <a:extLst xmlns:a="http://schemas.openxmlformats.org/drawingml/2006/main">
              <a:ext uri="{FF2B5EF4-FFF2-40B4-BE49-F238E27FC236}">
                <a16:creationId xmlns:a16="http://schemas.microsoft.com/office/drawing/2014/main" id="{BF7ADC66-685E-462B-AF0C-B90258EA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4000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184" name="Python · Django · PostgreSQL">
            <a:extLst xmlns:a="http://schemas.openxmlformats.org/drawingml/2006/main">
              <a:ext uri="{FF2B5EF4-FFF2-40B4-BE49-F238E27FC236}">
                <a16:creationId xmlns:a16="http://schemas.microsoft.com/office/drawing/2014/main" id="{19DA1C19-EEB6-49B7-B4DE-F7CBA8D5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477000"/>
            <a:ext cx="21240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Python · Django · PostgreSQL</a:t>
            </a:r>
          </a:p>
        </p:txBody>
      </p:sp>
      <p:sp>
        <p:nvSpPr>
          <p:cNvPr id="185" name="AI &amp; GRAPH">
            <a:extLst xmlns:a="http://schemas.openxmlformats.org/drawingml/2006/main">
              <a:ext uri="{FF2B5EF4-FFF2-40B4-BE49-F238E27FC236}">
                <a16:creationId xmlns:a16="http://schemas.microsoft.com/office/drawing/2014/main" id="{D6B14FC3-8ED5-4FCA-86D8-5D896836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496050"/>
            <a:ext cx="704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AI &amp; GRAPH</a:t>
            </a:r>
          </a:p>
        </p:txBody>
      </p:sp>
      <p:sp>
        <p:nvSpPr>
          <p:cNvPr id="186" name="OpenAI Agents SDK · Claude Agent SDK · Graphify">
            <a:extLst xmlns:a="http://schemas.openxmlformats.org/drawingml/2006/main">
              <a:ext uri="{FF2B5EF4-FFF2-40B4-BE49-F238E27FC236}">
                <a16:creationId xmlns:a16="http://schemas.microsoft.com/office/drawing/2014/main" id="{7FDC3606-14A4-4AC9-BE76-9D5B62A2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477000"/>
            <a:ext cx="3724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OpenAI Agents SDK · Claude Agent SDK · Graphify</a:t>
            </a:r>
          </a:p>
        </p:txBody>
      </p:sp>
      <p:sp>
        <p:nvSpPr>
          <p:cNvPr id="187" name="SUPPORTING">
            <a:extLst xmlns:a="http://schemas.openxmlformats.org/drawingml/2006/main">
              <a:ext uri="{FF2B5EF4-FFF2-40B4-BE49-F238E27FC236}">
                <a16:creationId xmlns:a16="http://schemas.microsoft.com/office/drawing/2014/main" id="{37199B67-41B1-4622-8934-A0FC3969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496050"/>
            <a:ext cx="762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8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607180"/>
                </a:solidFill>
                <a:latin typeface="Arial"/>
                <a:ea typeface="Arial"/>
                <a:cs typeface="Arial"/>
              </a:rPr>
              <a:t>SUPPORTING</a:t>
            </a:r>
          </a:p>
        </p:txBody>
      </p:sp>
      <p:sp>
        <p:nvSpPr>
          <p:cNvPr id="188" name="MarkItDown · MCP · Docker">
            <a:extLst xmlns:a="http://schemas.openxmlformats.org/drawingml/2006/main">
              <a:ext uri="{FF2B5EF4-FFF2-40B4-BE49-F238E27FC236}">
                <a16:creationId xmlns:a16="http://schemas.microsoft.com/office/drawing/2014/main" id="{ACBE8F2C-B9B7-4D16-AD39-EC5C63051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647700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32D46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132D46"/>
                </a:solidFill>
                <a:latin typeface="Arial"/>
                <a:ea typeface="Arial"/>
                <a:cs typeface="Arial"/>
              </a:rPr>
              <a:t>MarkItDown · MCP · Docker</a:t>
            </a:r>
          </a:p>
        </p:txBody>
      </p:sp>
    </p:spTree>
    <p:extLst>
      <p:ext uri="{BB962C8B-B14F-4D97-AF65-F5344CB8AC3E}">
        <p14:creationId xmlns:p14="http://schemas.microsoft.com/office/powerpoint/2010/main" val="666774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2026-09-25T16:48:50.1600000Z</dcterms:created>
  <dcterms:modified xsi:type="dcterms:W3CDTF">2026-09-25T16:48:50.1600000Z</dcterms:modified>
</coreProperties>
</file>