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remediation date is the pressure in the room. Everyone knows it and nobody says it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green rows and one red one. The five are quantitative and the red one is not, which is roughly how it was read.</a:t>
            </a:r>
          </a:p>
          <a:p>
            <a:r>
              <a:t>Full table has 6 rows; 6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findings, presented on one slide, discussed as one item. T-03 is the only one that defeats a business requirement rather than a non-functional one. Nothing on this slide says so.</a:t>
            </a:r>
          </a:p>
          <a:p>
            <a:r>
              <a:t>Full table has 3 rows; 3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rationale for three findings. It addresses exposure - who can reach the service - and not blast radius, which is what one authorised user can do once they are inside. T-01 became INC-2026-0814 ten weeks later for exactly that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minute records no discussion of T-03 specifically. This slide is the whole governance failure, in four bullets, approved by people doing their jobs properly with the information in front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4E79"/>
                </a:solidFill>
              </a:rPr>
              <a:t>CarePath 1.0.0 — release readiness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B6470"/>
                </a:solidFill>
              </a:rPr>
              <a:t>Clinical Systems Board · 2026-06-02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A227"/>
                </a:solidFill>
              </a:rPr>
              <a:t>Demonstration artifact — synthetic content only, not a clinical record.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•  Decide whether CarePath 1.0.0 releases to the pilot on 4 June</a:t>
            </a:r>
          </a:p>
          <a:p>
            <a:pPr>
              <a:spcAft>
                <a:spcPts val="1000"/>
              </a:spcAft>
            </a:pPr>
            <a:r>
              <a:rPr sz="1600"/>
              <a:t>•  Pilot scope: 400 patients, two clinics, behind an IP allow-list</a:t>
            </a:r>
          </a:p>
          <a:p>
            <a:pPr>
              <a:spcAft>
                <a:spcPts val="1000"/>
              </a:spcAft>
            </a:pPr>
            <a:r>
              <a:rPr sz="1600"/>
              <a:t>•  Audit remediation commitment (C-04) falls due 30 June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Quality gates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Tests passing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111 / 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Line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Lint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FRs with a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12 /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12 /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Sev 1-2 defects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High-severity findings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FAIL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Open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Severity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T-01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Patient search accepts an unbounded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High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Patient name written to the application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High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T-03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Export does not consult consent before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•  Release to pilot with waiver W-01 covering all three findings</a:t>
            </a:r>
          </a:p>
          <a:p>
            <a:pPr>
              <a:spcAft>
                <a:spcPts val="1000"/>
              </a:spcAft>
            </a:pPr>
            <a:r>
              <a:rPr sz="1600"/>
              <a:t>•  Exposure is bounded: 400 patients, two clinics, IP allow-list</a:t>
            </a:r>
          </a:p>
          <a:p>
            <a:pPr>
              <a:spcAft>
                <a:spcPts val="1000"/>
              </a:spcAft>
            </a:pPr>
            <a:r>
              <a:rPr sz="1600"/>
              <a:t>•  All three scheduled for 1.0.1</a:t>
            </a:r>
          </a:p>
          <a:p>
            <a:pPr>
              <a:spcAft>
                <a:spcPts val="1000"/>
              </a:spcAft>
            </a:pPr>
            <a:r>
              <a:rPr sz="1600"/>
              <a:t>•  Waiver expires at general availability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/>
              <a:t>•  Approved: release to pilot on 2026-06-04 under waiver W-01</a:t>
            </a:r>
          </a:p>
          <a:p>
            <a:pPr>
              <a:spcAft>
                <a:spcPts val="1000"/>
              </a:spcAft>
            </a:pPr>
            <a:r>
              <a:rPr sz="1600"/>
              <a:t>•  Proposed: Delivery Manager · Seconded: Clinical Director</a:t>
            </a:r>
          </a:p>
          <a:p>
            <a:pPr>
              <a:spcAft>
                <a:spcPts val="1000"/>
              </a:spcAft>
            </a:pPr>
            <a:r>
              <a:rPr sz="1600"/>
              <a:t>•  No objections recorded</a:t>
            </a:r>
          </a:p>
          <a:p>
            <a:pPr>
              <a:spcAft>
                <a:spcPts val="1000"/>
              </a:spcAft>
            </a:pPr>
            <a:r>
              <a:rPr sz="1600"/>
              <a:t>•  Actions: none raised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