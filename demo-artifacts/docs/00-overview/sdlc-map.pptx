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table has 26 rows; 10 shown.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Identifiers are the thread through the whole set. A requirement is named where it is stated, where it is designed, where it is implemented, and where it is tested.</a:t>
            </a:r>
          </a:p>
          <a:p/>
          <a:p>
            <a:r>
              <a:t>Following one identifier across the set is the quickest way to read it. BR-05 is a good one: stated in the business requirements, designed as an append-only consent table, implemented in services/consent.py, fully tested there, claimed as control C-09 in the HIPAA matrix — and never consulted by the export path, which is how it became T-03, then W-01, then R-01.</a:t>
            </a:r>
          </a:p>
          <a:p>
            <a:r>
              <a:t>Full table has 10 rows; 10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Release 1.0.0 shipped on 2026-06-04 with three high-severity findings open under a single bundled waiver. One of them caused INC-2026-0814 six weeks later. Two are still open, and one of those two — the consent check — is a control the governance documentation claims and the software does not contain.</a:t>
            </a:r>
          </a:p>
          <a:p/>
          <a:p>
            <a:r>
              <a:t>That is not a failure of any individual document. Each phase produced what it was supposed to produce, and the gap was written down every time. It was carried forward because nobody read the four documents together at the moment the decision was made.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spAutoFit/>
          </a:bodyPr>
          <a:lstStyle/>
          <a:p>
            <a:r>
              <a:rPr sz="4000" b="1">
                <a:solidFill>
                  <a:srgbClr val="1F4E79"/>
                </a:solidFill>
              </a:rPr>
              <a:t>The lifecycle, and what exists at each phase</a:t>
            </a:r>
          </a:p>
        </p:txBody>
      </p:sp>
      <p:sp>
        <p:nvSpPr>
          <p:cNvPr id="3" name="TextBox 2"/>
          <p:cNvSpPr txBox="1"/>
          <p:nvPr/>
        </p:nvSpPr>
        <p:spPr>
          <a:xfrm>
            <a:off x="822960" y="3566160"/>
            <a:ext cx="10515600" cy="914400"/>
          </a:xfrm>
          <a:prstGeom prst="rect">
            <a:avLst/>
          </a:prstGeom>
          <a:noFill/>
        </p:spPr>
        <p:txBody>
          <a:bodyPr wrap="square">
            <a:spAutoFit/>
          </a:bodyPr>
          <a:lstStyle/>
          <a:p>
            <a:r>
              <a:rPr sz="1800">
                <a:solidFill>
                  <a:srgbClr val="5B6470"/>
                </a:solidFill>
              </a:rPr>
              <a:t>Delivery Manager</a:t>
            </a:r>
          </a:p>
        </p:txBody>
      </p:sp>
      <p:sp>
        <p:nvSpPr>
          <p:cNvPr id="4" name="TextBox 3"/>
          <p:cNvSpPr txBox="1"/>
          <p:nvPr/>
        </p:nvSpPr>
        <p:spPr>
          <a:xfrm>
            <a:off x="822960" y="5852160"/>
            <a:ext cx="10515600" cy="548640"/>
          </a:xfrm>
          <a:prstGeom prst="rect">
            <a:avLst/>
          </a:prstGeom>
          <a:noFill/>
        </p:spPr>
        <p:txBody>
          <a:bodyPr wrap="square">
            <a:spAutoFit/>
          </a:bodyPr>
          <a:lstStyle/>
          <a:p>
            <a:r>
              <a:rPr sz="1100">
                <a:solidFill>
                  <a:srgbClr val="C9A227"/>
                </a:solidFill>
              </a:rPr>
              <a:t>Demonstration artifact — synthetic content only, not a clinical record.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789920" cy="822960"/>
          </a:xfrm>
          <a:prstGeom prst="rect">
            <a:avLst/>
          </a:prstGeom>
          <a:noFill/>
        </p:spPr>
        <p:txBody>
          <a:bodyPr wrap="none">
            <a:spAutoFit/>
          </a:bodyPr>
          <a:lstStyle/>
          <a:p>
            <a:r>
              <a:rPr sz="2600" b="1">
                <a:solidFill>
                  <a:srgbClr val="1F4E79"/>
                </a:solidFill>
              </a:rPr>
              <a:t>Phases</a:t>
            </a:r>
          </a:p>
        </p:txBody>
      </p:sp>
      <p:graphicFrame>
        <p:nvGraphicFramePr>
          <p:cNvPr id="3" name="Table 2"/>
          <p:cNvGraphicFramePr>
            <a:graphicFrameLocks noGrp="1"/>
          </p:cNvGraphicFramePr>
          <p:nvPr/>
        </p:nvGraphicFramePr>
        <p:xfrm>
          <a:off x="685800" y="1371600"/>
          <a:ext cx="10789920" cy="2926080"/>
        </p:xfrm>
        <a:graphic>
          <a:graphicData uri="http://schemas.openxmlformats.org/drawingml/2006/table">
            <a:tbl>
              <a:tblPr firstRow="1" bandRow="1">
                <a:tableStyleId>{5C22544A-7EE6-4342-B048-85BDC9FD1C3A}</a:tableStyleId>
              </a:tblPr>
              <a:tblGrid>
                <a:gridCol w="2157984"/>
                <a:gridCol w="2157984"/>
                <a:gridCol w="2157984"/>
                <a:gridCol w="2157984"/>
                <a:gridCol w="2157984"/>
              </a:tblGrid>
              <a:tr h="365760">
                <a:tc>
                  <a:txBody>
                    <a:bodyPr/>
                    <a:lstStyle/>
                    <a:p>
                      <a:r>
                        <a:rPr sz="1100" b="1"/>
                        <a:t>#</a:t>
                      </a:r>
                    </a:p>
                  </a:txBody>
                  <a:tcPr/>
                </a:tc>
                <a:tc>
                  <a:txBody>
                    <a:bodyPr/>
                    <a:lstStyle/>
                    <a:p>
                      <a:r>
                        <a:rPr sz="1100" b="1"/>
                        <a:t>Phase</a:t>
                      </a:r>
                    </a:p>
                  </a:txBody>
                  <a:tcPr/>
                </a:tc>
                <a:tc>
                  <a:txBody>
                    <a:bodyPr/>
                    <a:lstStyle/>
                    <a:p>
                      <a:r>
                        <a:rPr sz="1100" b="1"/>
                        <a:t>Produced</a:t>
                      </a:r>
                    </a:p>
                  </a:txBody>
                  <a:tcPr/>
                </a:tc>
                <a:tc>
                  <a:txBody>
                    <a:bodyPr/>
                    <a:lstStyle/>
                    <a:p>
                      <a:r>
                        <a:rPr sz="1100" b="1"/>
                        <a:t>Owner</a:t>
                      </a:r>
                    </a:p>
                  </a:txBody>
                  <a:tcPr/>
                </a:tc>
                <a:tc>
                  <a:txBody>
                    <a:bodyPr/>
                    <a:lstStyle/>
                    <a:p>
                      <a:r>
                        <a:rPr sz="1100" b="1"/>
                        <a:t>Gate out</a:t>
                      </a:r>
                    </a:p>
                  </a:txBody>
                  <a:tcPr/>
                </a:tc>
              </a:tr>
              <a:tr h="365760">
                <a:tc>
                  <a:txBody>
                    <a:bodyPr/>
                    <a:lstStyle/>
                    <a:p>
                      <a:r>
                        <a:rPr sz="1100" b="0"/>
                        <a:t>1</a:t>
                      </a:r>
                    </a:p>
                  </a:txBody>
                  <a:tcPr/>
                </a:tc>
                <a:tc>
                  <a:txBody>
                    <a:bodyPr/>
                    <a:lstStyle/>
                    <a:p>
                      <a:r>
                        <a:rPr sz="1100" b="0"/>
                        <a:t>Requirements</a:t>
                      </a:r>
                    </a:p>
                  </a:txBody>
                  <a:tcPr/>
                </a:tc>
                <a:tc>
                  <a:txBody>
                    <a:bodyPr/>
                    <a:lstStyle/>
                    <a:p>
                      <a:r>
                        <a:rPr sz="1100" b="0"/>
                        <a:t>Business requirements, user stories, non-functional requirements, regulatory requirements</a:t>
                      </a:r>
                    </a:p>
                  </a:txBody>
                  <a:tcPr/>
                </a:tc>
                <a:tc>
                  <a:txBody>
                    <a:bodyPr/>
                    <a:lstStyle/>
                    <a:p>
                      <a:r>
                        <a:rPr sz="1100" b="0"/>
                        <a:t>Product Owner, Information Governance</a:t>
                      </a:r>
                    </a:p>
                  </a:txBody>
                  <a:tcPr/>
                </a:tc>
                <a:tc>
                  <a:txBody>
                    <a:bodyPr/>
                    <a:lstStyle/>
                    <a:p>
                      <a:r>
                        <a:rPr sz="1100" b="0"/>
                        <a:t>Clinical Systems Board approval</a:t>
                      </a:r>
                    </a:p>
                  </a:txBody>
                  <a:tcPr/>
                </a:tc>
              </a:tr>
              <a:tr h="365760">
                <a:tc>
                  <a:txBody>
                    <a:bodyPr/>
                    <a:lstStyle/>
                    <a:p>
                      <a:r>
                        <a:rPr sz="1100" b="0"/>
                        <a:t>2</a:t>
                      </a:r>
                    </a:p>
                  </a:txBody>
                  <a:tcPr/>
                </a:tc>
                <a:tc>
                  <a:txBody>
                    <a:bodyPr/>
                    <a:lstStyle/>
                    <a:p>
                      <a:r>
                        <a:rPr sz="1100" b="0"/>
                        <a:t>Design</a:t>
                      </a:r>
                    </a:p>
                  </a:txBody>
                  <a:tcPr/>
                </a:tc>
                <a:tc>
                  <a:txBody>
                    <a:bodyPr/>
                    <a:lstStyle/>
                    <a:p>
                      <a:r>
                        <a:rPr sz="1100" b="0"/>
                        <a:t>Architecture, data model, security design, four ADRs</a:t>
                      </a:r>
                    </a:p>
                  </a:txBody>
                  <a:tcPr/>
                </a:tc>
                <a:tc>
                  <a:txBody>
                    <a:bodyPr/>
                    <a:lstStyle/>
                    <a:p>
                      <a:r>
                        <a:rPr sz="1100" b="0"/>
                        <a:t>Principal Engineer, Security Architect</a:t>
                      </a:r>
                    </a:p>
                  </a:txBody>
                  <a:tcPr/>
                </a:tc>
                <a:tc>
                  <a:txBody>
                    <a:bodyPr/>
                    <a:lstStyle/>
                    <a:p>
                      <a:r>
                        <a:rPr sz="1100" b="0"/>
                        <a:t>Architecture Review Board</a:t>
                      </a:r>
                    </a:p>
                  </a:txBody>
                  <a:tcPr/>
                </a:tc>
              </a:tr>
              <a:tr h="365760">
                <a:tc>
                  <a:txBody>
                    <a:bodyPr/>
                    <a:lstStyle/>
                    <a:p>
                      <a:r>
                        <a:rPr sz="1100" b="0"/>
                        <a:t>3</a:t>
                      </a:r>
                    </a:p>
                  </a:txBody>
                  <a:tcPr/>
                </a:tc>
                <a:tc>
                  <a:txBody>
                    <a:bodyPr/>
                    <a:lstStyle/>
                    <a:p>
                      <a:r>
                        <a:rPr sz="1100" b="0"/>
                        <a:t>Build</a:t>
                      </a:r>
                    </a:p>
                  </a:txBody>
                  <a:tcPr/>
                </a:tc>
                <a:tc>
                  <a:txBody>
                    <a:bodyPr/>
                    <a:lstStyle/>
                    <a:p>
                      <a:r>
                        <a:rPr sz="1100" b="0"/>
                        <a:t>Source, coding standards, API specification</a:t>
                      </a:r>
                    </a:p>
                  </a:txBody>
                  <a:tcPr/>
                </a:tc>
                <a:tc>
                  <a:txBody>
                    <a:bodyPr/>
                    <a:lstStyle/>
                    <a:p>
                      <a:r>
                        <a:rPr sz="1100" b="0"/>
                        <a:t>Engineering</a:t>
                      </a:r>
                    </a:p>
                  </a:txBody>
                  <a:tcPr/>
                </a:tc>
                <a:tc>
                  <a:txBody>
                    <a:bodyPr/>
                    <a:lstStyle/>
                    <a:p>
                      <a:r>
                        <a:rPr sz="1100" b="0"/>
                        <a:t>Peer review, lint, tests</a:t>
                      </a:r>
                    </a:p>
                  </a:txBody>
                  <a:tcPr/>
                </a:tc>
              </a:tr>
              <a:tr h="365760">
                <a:tc>
                  <a:txBody>
                    <a:bodyPr/>
                    <a:lstStyle/>
                    <a:p>
                      <a:r>
                        <a:rPr sz="1100" b="0"/>
                        <a:t>4</a:t>
                      </a:r>
                    </a:p>
                  </a:txBody>
                  <a:tcPr/>
                </a:tc>
                <a:tc>
                  <a:txBody>
                    <a:bodyPr/>
                    <a:lstStyle/>
                    <a:p>
                      <a:r>
                        <a:rPr sz="1100" b="0"/>
                        <a:t>Test</a:t>
                      </a:r>
                    </a:p>
                  </a:txBody>
                  <a:tcPr/>
                </a:tc>
                <a:tc>
                  <a:txBody>
                    <a:bodyPr/>
                    <a:lstStyle/>
                    <a:p>
                      <a:r>
                        <a:rPr sz="1100" b="0"/>
                        <a:t>Test strategy, test plan, traceability matrix</a:t>
                      </a:r>
                    </a:p>
                  </a:txBody>
                  <a:tcPr/>
                </a:tc>
                <a:tc>
                  <a:txBody>
                    <a:bodyPr/>
                    <a:lstStyle/>
                    <a:p>
                      <a:r>
                        <a:rPr sz="1100" b="0"/>
                        <a:t>QA Lead</a:t>
                      </a:r>
                    </a:p>
                  </a:txBody>
                  <a:tcPr/>
                </a:tc>
                <a:tc>
                  <a:txBody>
                    <a:bodyPr/>
                    <a:lstStyle/>
                    <a:p>
                      <a:r>
                        <a:rPr sz="1100" b="0"/>
                        <a:t>Exit criteria, or a written waiver</a:t>
                      </a:r>
                    </a:p>
                  </a:txBody>
                  <a:tcPr/>
                </a:tc>
              </a:tr>
              <a:tr h="365760">
                <a:tc>
                  <a:txBody>
                    <a:bodyPr/>
                    <a:lstStyle/>
                    <a:p>
                      <a:r>
                        <a:rPr sz="1100" b="0"/>
                        <a:t>5</a:t>
                      </a:r>
                    </a:p>
                  </a:txBody>
                  <a:tcPr/>
                </a:tc>
                <a:tc>
                  <a:txBody>
                    <a:bodyPr/>
                    <a:lstStyle/>
                    <a:p>
                      <a:r>
                        <a:rPr sz="1100" b="0"/>
                        <a:t>Release</a:t>
                      </a:r>
                    </a:p>
                  </a:txBody>
                  <a:tcPr/>
                </a:tc>
                <a:tc>
                  <a:txBody>
                    <a:bodyPr/>
                    <a:lstStyle/>
                    <a:p>
                      <a:r>
                        <a:rPr sz="1100" b="0"/>
                        <a:t>Release plan, deployment runbook, release notes</a:t>
                      </a:r>
                    </a:p>
                  </a:txBody>
                  <a:tcPr/>
                </a:tc>
                <a:tc>
                  <a:txBody>
                    <a:bodyPr/>
                    <a:lstStyle/>
                    <a:p>
                      <a:r>
                        <a:rPr sz="1100" b="0"/>
                        <a:t>Delivery Manager, Platform</a:t>
                      </a:r>
                    </a:p>
                  </a:txBody>
                  <a:tcPr/>
                </a:tc>
                <a:tc>
                  <a:txBody>
                    <a:bodyPr/>
                    <a:lstStyle/>
                    <a:p>
                      <a:r>
                        <a:rPr sz="1100" b="0"/>
                        <a:t>Release review</a:t>
                      </a:r>
                    </a:p>
                  </a:txBody>
                  <a:tcPr/>
                </a:tc>
              </a:tr>
              <a:tr h="365760">
                <a:tc>
                  <a:txBody>
                    <a:bodyPr/>
                    <a:lstStyle/>
                    <a:p>
                      <a:r>
                        <a:rPr sz="1100" b="0"/>
                        <a:t>6</a:t>
                      </a:r>
                    </a:p>
                  </a:txBody>
                  <a:tcPr/>
                </a:tc>
                <a:tc>
                  <a:txBody>
                    <a:bodyPr/>
                    <a:lstStyle/>
                    <a:p>
                      <a:r>
                        <a:rPr sz="1100" b="0"/>
                        <a:t>Operate</a:t>
                      </a:r>
                    </a:p>
                  </a:txBody>
                  <a:tcPr/>
                </a:tc>
                <a:tc>
                  <a:txBody>
                    <a:bodyPr/>
                    <a:lstStyle/>
                    <a:p>
                      <a:r>
                        <a:rPr sz="1100" b="0"/>
                        <a:t>SLOs, operations runbook, incident postmortems</a:t>
                      </a:r>
                    </a:p>
                  </a:txBody>
                  <a:tcPr/>
                </a:tc>
                <a:tc>
                  <a:txBody>
                    <a:bodyPr/>
                    <a:lstStyle/>
                    <a:p>
                      <a:r>
                        <a:rPr sz="1100" b="0"/>
                        <a:t>Platform</a:t>
                      </a:r>
                    </a:p>
                  </a:txBody>
                  <a:tcPr/>
                </a:tc>
                <a:tc>
                  <a:txBody>
                    <a:bodyPr/>
                    <a:lstStyle/>
                    <a:p>
                      <a:r>
                        <a:rPr sz="1100" b="0"/>
                        <a:t>Monthly SLO review</a:t>
                      </a:r>
                    </a:p>
                  </a:txBody>
                  <a:tcPr/>
                </a:tc>
              </a:tr>
              <a:tr h="365760">
                <a:tc>
                  <a:txBody>
                    <a:bodyPr/>
                    <a:lstStyle/>
                    <a:p>
                      <a:r>
                        <a:rPr sz="1100" b="0"/>
                        <a:t>7</a:t>
                      </a:r>
                    </a:p>
                  </a:txBody>
                  <a:tcPr/>
                </a:tc>
                <a:tc>
                  <a:txBody>
                    <a:bodyPr/>
                    <a:lstStyle/>
                    <a:p>
                      <a:r>
                        <a:rPr sz="1100" b="0"/>
                        <a:t>Govern</a:t>
                      </a:r>
                    </a:p>
                  </a:txBody>
                  <a:tcPr/>
                </a:tc>
                <a:tc>
                  <a:txBody>
                    <a:bodyPr/>
                    <a:lstStyle/>
                    <a:p>
                      <a:r>
                        <a:rPr sz="1100" b="0"/>
                        <a:t>HIPAA control matrix, risk register, change management</a:t>
                      </a:r>
                    </a:p>
                  </a:txBody>
                  <a:tcPr/>
                </a:tc>
                <a:tc>
                  <a:txBody>
                    <a:bodyPr/>
                    <a:lstStyle/>
                    <a:p>
                      <a:r>
                        <a:rPr sz="1100" b="0"/>
                        <a:t>Information Governance</a:t>
                      </a:r>
                    </a:p>
                  </a:txBody>
                  <a:tcPr/>
                </a:tc>
                <a:tc>
                  <a:txBody>
                    <a:bodyPr/>
                    <a:lstStyle/>
                    <a:p>
                      <a:r>
                        <a:rPr sz="1100" b="0"/>
                        <a:t>Half-yearly assessment</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789920" cy="822960"/>
          </a:xfrm>
          <a:prstGeom prst="rect">
            <a:avLst/>
          </a:prstGeom>
          <a:noFill/>
        </p:spPr>
        <p:txBody>
          <a:bodyPr wrap="none">
            <a:spAutoFit/>
          </a:bodyPr>
          <a:lstStyle/>
          <a:p>
            <a:r>
              <a:rPr sz="2600" b="1">
                <a:solidFill>
                  <a:srgbClr val="1F4E79"/>
                </a:solidFill>
              </a:rPr>
              <a:t>Artifact index</a:t>
            </a:r>
          </a:p>
        </p:txBody>
      </p:sp>
      <p:graphicFrame>
        <p:nvGraphicFramePr>
          <p:cNvPr id="3" name="Table 2"/>
          <p:cNvGraphicFramePr>
            <a:graphicFrameLocks noGrp="1"/>
          </p:cNvGraphicFramePr>
          <p:nvPr/>
        </p:nvGraphicFramePr>
        <p:xfrm>
          <a:off x="685800" y="1371600"/>
          <a:ext cx="10789920" cy="4023360"/>
        </p:xfrm>
        <a:graphic>
          <a:graphicData uri="http://schemas.openxmlformats.org/drawingml/2006/table">
            <a:tbl>
              <a:tblPr firstRow="1" bandRow="1">
                <a:tableStyleId>{5C22544A-7EE6-4342-B048-85BDC9FD1C3A}</a:tableStyleId>
              </a:tblPr>
              <a:tblGrid>
                <a:gridCol w="3596640"/>
                <a:gridCol w="3596640"/>
                <a:gridCol w="3596640"/>
              </a:tblGrid>
              <a:tr h="365760">
                <a:tc>
                  <a:txBody>
                    <a:bodyPr/>
                    <a:lstStyle/>
                    <a:p>
                      <a:r>
                        <a:rPr sz="1100" b="1"/>
                        <a:t>Phase</a:t>
                      </a:r>
                    </a:p>
                  </a:txBody>
                  <a:tcPr/>
                </a:tc>
                <a:tc>
                  <a:txBody>
                    <a:bodyPr/>
                    <a:lstStyle/>
                    <a:p>
                      <a:r>
                        <a:rPr sz="1100" b="1"/>
                        <a:t>Document</a:t>
                      </a:r>
                    </a:p>
                  </a:txBody>
                  <a:tcPr/>
                </a:tc>
                <a:tc>
                  <a:txBody>
                    <a:bodyPr/>
                    <a:lstStyle/>
                    <a:p>
                      <a:r>
                        <a:rPr sz="1100" b="1"/>
                        <a:t>Path</a:t>
                      </a:r>
                    </a:p>
                  </a:txBody>
                  <a:tcPr/>
                </a:tc>
              </a:tr>
              <a:tr h="365760">
                <a:tc>
                  <a:txBody>
                    <a:bodyPr/>
                    <a:lstStyle/>
                    <a:p>
                      <a:r>
                        <a:rPr sz="1100" b="0"/>
                        <a:t>1</a:t>
                      </a:r>
                    </a:p>
                  </a:txBody>
                  <a:tcPr/>
                </a:tc>
                <a:tc>
                  <a:txBody>
                    <a:bodyPr/>
                    <a:lstStyle/>
                    <a:p>
                      <a:r>
                        <a:rPr sz="1100" b="0"/>
                        <a:t>Business requirements</a:t>
                      </a:r>
                    </a:p>
                  </a:txBody>
                  <a:tcPr/>
                </a:tc>
                <a:tc>
                  <a:txBody>
                    <a:bodyPr/>
                    <a:lstStyle/>
                    <a:p>
                      <a:r>
                        <a:rPr sz="1100" b="0"/>
                        <a:t>01-requirements/business-requirements.docx</a:t>
                      </a:r>
                    </a:p>
                  </a:txBody>
                  <a:tcPr/>
                </a:tc>
              </a:tr>
              <a:tr h="365760">
                <a:tc>
                  <a:txBody>
                    <a:bodyPr/>
                    <a:lstStyle/>
                    <a:p>
                      <a:r>
                        <a:rPr sz="1100" b="0"/>
                        <a:t>1</a:t>
                      </a:r>
                    </a:p>
                  </a:txBody>
                  <a:tcPr/>
                </a:tc>
                <a:tc>
                  <a:txBody>
                    <a:bodyPr/>
                    <a:lstStyle/>
                    <a:p>
                      <a:r>
                        <a:rPr sz="1100" b="0"/>
                        <a:t>User stories</a:t>
                      </a:r>
                    </a:p>
                  </a:txBody>
                  <a:tcPr/>
                </a:tc>
                <a:tc>
                  <a:txBody>
                    <a:bodyPr/>
                    <a:lstStyle/>
                    <a:p>
                      <a:r>
                        <a:rPr sz="1100" b="0"/>
                        <a:t>01-requirements/user-stories.docx</a:t>
                      </a:r>
                    </a:p>
                  </a:txBody>
                  <a:tcPr/>
                </a:tc>
              </a:tr>
              <a:tr h="365760">
                <a:tc>
                  <a:txBody>
                    <a:bodyPr/>
                    <a:lstStyle/>
                    <a:p>
                      <a:r>
                        <a:rPr sz="1100" b="0"/>
                        <a:t>1</a:t>
                      </a:r>
                    </a:p>
                  </a:txBody>
                  <a:tcPr/>
                </a:tc>
                <a:tc>
                  <a:txBody>
                    <a:bodyPr/>
                    <a:lstStyle/>
                    <a:p>
                      <a:r>
                        <a:rPr sz="1100" b="0"/>
                        <a:t>Non-functional requirements</a:t>
                      </a:r>
                    </a:p>
                  </a:txBody>
                  <a:tcPr/>
                </a:tc>
                <a:tc>
                  <a:txBody>
                    <a:bodyPr/>
                    <a:lstStyle/>
                    <a:p>
                      <a:r>
                        <a:rPr sz="1100" b="0"/>
                        <a:t>01-requirements/non-functional-requirements.xlsx</a:t>
                      </a:r>
                    </a:p>
                  </a:txBody>
                  <a:tcPr/>
                </a:tc>
              </a:tr>
              <a:tr h="365760">
                <a:tc>
                  <a:txBody>
                    <a:bodyPr/>
                    <a:lstStyle/>
                    <a:p>
                      <a:r>
                        <a:rPr sz="1100" b="0"/>
                        <a:t>1</a:t>
                      </a:r>
                    </a:p>
                  </a:txBody>
                  <a:tcPr/>
                </a:tc>
                <a:tc>
                  <a:txBody>
                    <a:bodyPr/>
                    <a:lstStyle/>
                    <a:p>
                      <a:r>
                        <a:rPr sz="1100" b="0"/>
                        <a:t>Regulatory requirements</a:t>
                      </a:r>
                    </a:p>
                  </a:txBody>
                  <a:tcPr/>
                </a:tc>
                <a:tc>
                  <a:txBody>
                    <a:bodyPr/>
                    <a:lstStyle/>
                    <a:p>
                      <a:r>
                        <a:rPr sz="1100" b="0"/>
                        <a:t>01-requirements/regulatory-requirements.pdf</a:t>
                      </a:r>
                    </a:p>
                  </a:txBody>
                  <a:tcPr/>
                </a:tc>
              </a:tr>
              <a:tr h="365760">
                <a:tc>
                  <a:txBody>
                    <a:bodyPr/>
                    <a:lstStyle/>
                    <a:p>
                      <a:r>
                        <a:rPr sz="1100" b="0"/>
                        <a:t>2</a:t>
                      </a:r>
                    </a:p>
                  </a:txBody>
                  <a:tcPr/>
                </a:tc>
                <a:tc>
                  <a:txBody>
                    <a:bodyPr/>
                    <a:lstStyle/>
                    <a:p>
                      <a:r>
                        <a:rPr sz="1100" b="0"/>
                        <a:t>Architecture</a:t>
                      </a:r>
                    </a:p>
                  </a:txBody>
                  <a:tcPr/>
                </a:tc>
                <a:tc>
                  <a:txBody>
                    <a:bodyPr/>
                    <a:lstStyle/>
                    <a:p>
                      <a:r>
                        <a:rPr sz="1100" b="0"/>
                        <a:t>02-design/architecture.html</a:t>
                      </a:r>
                    </a:p>
                  </a:txBody>
                  <a:tcPr/>
                </a:tc>
              </a:tr>
              <a:tr h="365760">
                <a:tc>
                  <a:txBody>
                    <a:bodyPr/>
                    <a:lstStyle/>
                    <a:p>
                      <a:r>
                        <a:rPr sz="1100" b="0"/>
                        <a:t>2</a:t>
                      </a:r>
                    </a:p>
                  </a:txBody>
                  <a:tcPr/>
                </a:tc>
                <a:tc>
                  <a:txBody>
                    <a:bodyPr/>
                    <a:lstStyle/>
                    <a:p>
                      <a:r>
                        <a:rPr sz="1100" b="0"/>
                        <a:t>Data model</a:t>
                      </a:r>
                    </a:p>
                  </a:txBody>
                  <a:tcPr/>
                </a:tc>
                <a:tc>
                  <a:txBody>
                    <a:bodyPr/>
                    <a:lstStyle/>
                    <a:p>
                      <a:r>
                        <a:rPr sz="1100" b="0"/>
                        <a:t>02-design/data-model.md</a:t>
                      </a:r>
                    </a:p>
                  </a:txBody>
                  <a:tcPr/>
                </a:tc>
              </a:tr>
              <a:tr h="365760">
                <a:tc>
                  <a:txBody>
                    <a:bodyPr/>
                    <a:lstStyle/>
                    <a:p>
                      <a:r>
                        <a:rPr sz="1100" b="0"/>
                        <a:t>2</a:t>
                      </a:r>
                    </a:p>
                  </a:txBody>
                  <a:tcPr/>
                </a:tc>
                <a:tc>
                  <a:txBody>
                    <a:bodyPr/>
                    <a:lstStyle/>
                    <a:p>
                      <a:r>
                        <a:rPr sz="1100" b="0"/>
                        <a:t>Security design</a:t>
                      </a:r>
                    </a:p>
                  </a:txBody>
                  <a:tcPr/>
                </a:tc>
                <a:tc>
                  <a:txBody>
                    <a:bodyPr/>
                    <a:lstStyle/>
                    <a:p>
                      <a:r>
                        <a:rPr sz="1100" b="0"/>
                        <a:t>02-design/security-design.docx</a:t>
                      </a:r>
                    </a:p>
                  </a:txBody>
                  <a:tcPr/>
                </a:tc>
              </a:tr>
              <a:tr h="365760">
                <a:tc>
                  <a:txBody>
                    <a:bodyPr/>
                    <a:lstStyle/>
                    <a:p>
                      <a:r>
                        <a:rPr sz="1100" b="0"/>
                        <a:t>2</a:t>
                      </a:r>
                    </a:p>
                  </a:txBody>
                  <a:tcPr/>
                </a:tc>
                <a:tc>
                  <a:txBody>
                    <a:bodyPr/>
                    <a:lstStyle/>
                    <a:p>
                      <a:r>
                        <a:rPr sz="1100" b="0"/>
                        <a:t>ADR-0001 SQLite for release one</a:t>
                      </a:r>
                    </a:p>
                  </a:txBody>
                  <a:tcPr/>
                </a:tc>
                <a:tc>
                  <a:txBody>
                    <a:bodyPr/>
                    <a:lstStyle/>
                    <a:p>
                      <a:r>
                        <a:rPr sz="1100" b="0"/>
                        <a:t>02-design/adr/0001-sqlite-for-release-one.md</a:t>
                      </a:r>
                    </a:p>
                  </a:txBody>
                  <a:tcPr/>
                </a:tc>
              </a:tr>
              <a:tr h="365760">
                <a:tc>
                  <a:txBody>
                    <a:bodyPr/>
                    <a:lstStyle/>
                    <a:p>
                      <a:r>
                        <a:rPr sz="1100" b="0"/>
                        <a:t>2</a:t>
                      </a:r>
                    </a:p>
                  </a:txBody>
                  <a:tcPr/>
                </a:tc>
                <a:tc>
                  <a:txBody>
                    <a:bodyPr/>
                    <a:lstStyle/>
                    <a:p>
                      <a:r>
                        <a:rPr sz="1100" b="0"/>
                        <a:t>ADR-0002 Static token directory</a:t>
                      </a:r>
                    </a:p>
                  </a:txBody>
                  <a:tcPr/>
                </a:tc>
                <a:tc>
                  <a:txBody>
                    <a:bodyPr/>
                    <a:lstStyle/>
                    <a:p>
                      <a:r>
                        <a:rPr sz="1100" b="0"/>
                        <a:t>02-design/adr/0002-static-token-directory.md</a:t>
                      </a:r>
                    </a:p>
                  </a:txBody>
                  <a:tcPr/>
                </a:tc>
              </a:tr>
              <a:tr h="365760">
                <a:tc>
                  <a:txBody>
                    <a:bodyPr/>
                    <a:lstStyle/>
                    <a:p>
                      <a:r>
                        <a:rPr sz="1100" b="0"/>
                        <a:t>2</a:t>
                      </a:r>
                    </a:p>
                  </a:txBody>
                  <a:tcPr/>
                </a:tc>
                <a:tc>
                  <a:txBody>
                    <a:bodyPr/>
                    <a:lstStyle/>
                    <a:p>
                      <a:r>
                        <a:rPr sz="1100" b="0"/>
                        <a:t>ADR-0003 Transparent in-process scoring</a:t>
                      </a:r>
                    </a:p>
                  </a:txBody>
                  <a:tcPr/>
                </a:tc>
                <a:tc>
                  <a:txBody>
                    <a:bodyPr/>
                    <a:lstStyle/>
                    <a:p>
                      <a:r>
                        <a:rPr sz="1100" b="0"/>
                        <a:t>02-design/adr/0003-transparent-in-process-scoring.md</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789920" cy="822960"/>
          </a:xfrm>
          <a:prstGeom prst="rect">
            <a:avLst/>
          </a:prstGeom>
          <a:noFill/>
        </p:spPr>
        <p:txBody>
          <a:bodyPr wrap="none">
            <a:spAutoFit/>
          </a:bodyPr>
          <a:lstStyle/>
          <a:p>
            <a:r>
              <a:rPr sz="2600" b="1">
                <a:solidFill>
                  <a:srgbClr val="1F4E79"/>
                </a:solidFill>
              </a:rPr>
              <a:t>Identifier scheme</a:t>
            </a:r>
          </a:p>
        </p:txBody>
      </p:sp>
      <p:graphicFrame>
        <p:nvGraphicFramePr>
          <p:cNvPr id="3" name="Table 2"/>
          <p:cNvGraphicFramePr>
            <a:graphicFrameLocks noGrp="1"/>
          </p:cNvGraphicFramePr>
          <p:nvPr/>
        </p:nvGraphicFramePr>
        <p:xfrm>
          <a:off x="685800" y="1371600"/>
          <a:ext cx="10789920" cy="4023360"/>
        </p:xfrm>
        <a:graphic>
          <a:graphicData uri="http://schemas.openxmlformats.org/drawingml/2006/table">
            <a:tbl>
              <a:tblPr firstRow="1" bandRow="1">
                <a:tableStyleId>{5C22544A-7EE6-4342-B048-85BDC9FD1C3A}</a:tableStyleId>
              </a:tblPr>
              <a:tblGrid>
                <a:gridCol w="3596640"/>
                <a:gridCol w="3596640"/>
                <a:gridCol w="3596640"/>
              </a:tblGrid>
              <a:tr h="365760">
                <a:tc>
                  <a:txBody>
                    <a:bodyPr/>
                    <a:lstStyle/>
                    <a:p>
                      <a:r>
                        <a:rPr sz="1100" b="1"/>
                        <a:t>Prefix</a:t>
                      </a:r>
                    </a:p>
                  </a:txBody>
                  <a:tcPr/>
                </a:tc>
                <a:tc>
                  <a:txBody>
                    <a:bodyPr/>
                    <a:lstStyle/>
                    <a:p>
                      <a:r>
                        <a:rPr sz="1100" b="1"/>
                        <a:t>Meaning</a:t>
                      </a:r>
                    </a:p>
                  </a:txBody>
                  <a:tcPr/>
                </a:tc>
                <a:tc>
                  <a:txBody>
                    <a:bodyPr/>
                    <a:lstStyle/>
                    <a:p>
                      <a:r>
                        <a:rPr sz="1100" b="1"/>
                        <a:t>Stated in</a:t>
                      </a:r>
                    </a:p>
                  </a:txBody>
                  <a:tcPr/>
                </a:tc>
              </a:tr>
              <a:tr h="365760">
                <a:tc>
                  <a:txBody>
                    <a:bodyPr/>
                    <a:lstStyle/>
                    <a:p>
                      <a:r>
                        <a:rPr sz="1100" b="0"/>
                        <a:t>BR-nn</a:t>
                      </a:r>
                    </a:p>
                  </a:txBody>
                  <a:tcPr/>
                </a:tc>
                <a:tc>
                  <a:txBody>
                    <a:bodyPr/>
                    <a:lstStyle/>
                    <a:p>
                      <a:r>
                        <a:rPr sz="1100" b="0"/>
                        <a:t>Business requirement</a:t>
                      </a:r>
                    </a:p>
                  </a:txBody>
                  <a:tcPr/>
                </a:tc>
                <a:tc>
                  <a:txBody>
                    <a:bodyPr/>
                    <a:lstStyle/>
                    <a:p>
                      <a:r>
                        <a:rPr sz="1100" b="0"/>
                        <a:t>Business requirements</a:t>
                      </a:r>
                    </a:p>
                  </a:txBody>
                  <a:tcPr/>
                </a:tc>
              </a:tr>
              <a:tr h="365760">
                <a:tc>
                  <a:txBody>
                    <a:bodyPr/>
                    <a:lstStyle/>
                    <a:p>
                      <a:r>
                        <a:rPr sz="1100" b="0"/>
                        <a:t>FR-nn</a:t>
                      </a:r>
                    </a:p>
                  </a:txBody>
                  <a:tcPr/>
                </a:tc>
                <a:tc>
                  <a:txBody>
                    <a:bodyPr/>
                    <a:lstStyle/>
                    <a:p>
                      <a:r>
                        <a:rPr sz="1100" b="0"/>
                        <a:t>Functional requirement</a:t>
                      </a:r>
                    </a:p>
                  </a:txBody>
                  <a:tcPr/>
                </a:tc>
                <a:tc>
                  <a:txBody>
                    <a:bodyPr/>
                    <a:lstStyle/>
                    <a:p>
                      <a:r>
                        <a:rPr sz="1100" b="0"/>
                        <a:t>User stories</a:t>
                      </a:r>
                    </a:p>
                  </a:txBody>
                  <a:tcPr/>
                </a:tc>
              </a:tr>
              <a:tr h="365760">
                <a:tc>
                  <a:txBody>
                    <a:bodyPr/>
                    <a:lstStyle/>
                    <a:p>
                      <a:r>
                        <a:rPr sz="1100" b="0"/>
                        <a:t>NFR-nn</a:t>
                      </a:r>
                    </a:p>
                  </a:txBody>
                  <a:tcPr/>
                </a:tc>
                <a:tc>
                  <a:txBody>
                    <a:bodyPr/>
                    <a:lstStyle/>
                    <a:p>
                      <a:r>
                        <a:rPr sz="1100" b="0"/>
                        <a:t>Non-functional requirement</a:t>
                      </a:r>
                    </a:p>
                  </a:txBody>
                  <a:tcPr/>
                </a:tc>
                <a:tc>
                  <a:txBody>
                    <a:bodyPr/>
                    <a:lstStyle/>
                    <a:p>
                      <a:r>
                        <a:rPr sz="1100" b="0"/>
                        <a:t>Non-functional requirements</a:t>
                      </a:r>
                    </a:p>
                  </a:txBody>
                  <a:tcPr/>
                </a:tc>
              </a:tr>
              <a:tr h="365760">
                <a:tc>
                  <a:txBody>
                    <a:bodyPr/>
                    <a:lstStyle/>
                    <a:p>
                      <a:r>
                        <a:rPr sz="1100" b="0"/>
                        <a:t>REG-nn</a:t>
                      </a:r>
                    </a:p>
                  </a:txBody>
                  <a:tcPr/>
                </a:tc>
                <a:tc>
                  <a:txBody>
                    <a:bodyPr/>
                    <a:lstStyle/>
                    <a:p>
                      <a:r>
                        <a:rPr sz="1100" b="0"/>
                        <a:t>Regulatory obligation</a:t>
                      </a:r>
                    </a:p>
                  </a:txBody>
                  <a:tcPr/>
                </a:tc>
                <a:tc>
                  <a:txBody>
                    <a:bodyPr/>
                    <a:lstStyle/>
                    <a:p>
                      <a:r>
                        <a:rPr sz="1100" b="0"/>
                        <a:t>Regulatory requirements</a:t>
                      </a:r>
                    </a:p>
                  </a:txBody>
                  <a:tcPr/>
                </a:tc>
              </a:tr>
              <a:tr h="365760">
                <a:tc>
                  <a:txBody>
                    <a:bodyPr/>
                    <a:lstStyle/>
                    <a:p>
                      <a:r>
                        <a:rPr sz="1100" b="0"/>
                        <a:t>C-nn</a:t>
                      </a:r>
                    </a:p>
                  </a:txBody>
                  <a:tcPr/>
                </a:tc>
                <a:tc>
                  <a:txBody>
                    <a:bodyPr/>
                    <a:lstStyle/>
                    <a:p>
                      <a:r>
                        <a:rPr sz="1100" b="0"/>
                        <a:t>Constraint (requirements) / Control (governance)</a:t>
                      </a:r>
                    </a:p>
                  </a:txBody>
                  <a:tcPr/>
                </a:tc>
                <a:tc>
                  <a:txBody>
                    <a:bodyPr/>
                    <a:lstStyle/>
                    <a:p>
                      <a:r>
                        <a:rPr sz="1100" b="0"/>
                        <a:t>Business requirements / control matrix</a:t>
                      </a:r>
                    </a:p>
                  </a:txBody>
                  <a:tcPr/>
                </a:tc>
              </a:tr>
              <a:tr h="365760">
                <a:tc>
                  <a:txBody>
                    <a:bodyPr/>
                    <a:lstStyle/>
                    <a:p>
                      <a:r>
                        <a:rPr sz="1100" b="0"/>
                        <a:t>A-nn</a:t>
                      </a:r>
                    </a:p>
                  </a:txBody>
                  <a:tcPr/>
                </a:tc>
                <a:tc>
                  <a:txBody>
                    <a:bodyPr/>
                    <a:lstStyle/>
                    <a:p>
                      <a:r>
                        <a:rPr sz="1100" b="0"/>
                        <a:t>Assumption (requirements) / Action (postmortem)</a:t>
                      </a:r>
                    </a:p>
                  </a:txBody>
                  <a:tcPr/>
                </a:tc>
                <a:tc>
                  <a:txBody>
                    <a:bodyPr/>
                    <a:lstStyle/>
                    <a:p>
                      <a:r>
                        <a:rPr sz="1100" b="0"/>
                        <a:t>Business requirements / postmortem</a:t>
                      </a:r>
                    </a:p>
                  </a:txBody>
                  <a:tcPr/>
                </a:tc>
              </a:tr>
              <a:tr h="365760">
                <a:tc>
                  <a:txBody>
                    <a:bodyPr/>
                    <a:lstStyle/>
                    <a:p>
                      <a:r>
                        <a:rPr sz="1100" b="0"/>
                        <a:t>G-nn</a:t>
                      </a:r>
                    </a:p>
                  </a:txBody>
                  <a:tcPr/>
                </a:tc>
                <a:tc>
                  <a:txBody>
                    <a:bodyPr/>
                    <a:lstStyle/>
                    <a:p>
                      <a:r>
                        <a:rPr sz="1100" b="0"/>
                        <a:t>Known regulatory gap</a:t>
                      </a:r>
                    </a:p>
                  </a:txBody>
                  <a:tcPr/>
                </a:tc>
                <a:tc>
                  <a:txBody>
                    <a:bodyPr/>
                    <a:lstStyle/>
                    <a:p>
                      <a:r>
                        <a:rPr sz="1100" b="0"/>
                        <a:t>Regulatory requirements</a:t>
                      </a:r>
                    </a:p>
                  </a:txBody>
                  <a:tcPr/>
                </a:tc>
              </a:tr>
              <a:tr h="365760">
                <a:tc>
                  <a:txBody>
                    <a:bodyPr/>
                    <a:lstStyle/>
                    <a:p>
                      <a:r>
                        <a:rPr sz="1100" b="0"/>
                        <a:t>T-nn</a:t>
                      </a:r>
                    </a:p>
                  </a:txBody>
                  <a:tcPr/>
                </a:tc>
                <a:tc>
                  <a:txBody>
                    <a:bodyPr/>
                    <a:lstStyle/>
                    <a:p>
                      <a:r>
                        <a:rPr sz="1100" b="0"/>
                        <a:t>Test finding</a:t>
                      </a:r>
                    </a:p>
                  </a:txBody>
                  <a:tcPr/>
                </a:tc>
                <a:tc>
                  <a:txBody>
                    <a:bodyPr/>
                    <a:lstStyle/>
                    <a:p>
                      <a:r>
                        <a:rPr sz="1100" b="0"/>
                        <a:t>Traceability matrix</a:t>
                      </a:r>
                    </a:p>
                  </a:txBody>
                  <a:tcPr/>
                </a:tc>
              </a:tr>
              <a:tr h="365760">
                <a:tc>
                  <a:txBody>
                    <a:bodyPr/>
                    <a:lstStyle/>
                    <a:p>
                      <a:r>
                        <a:rPr sz="1100" b="0"/>
                        <a:t>R-nn</a:t>
                      </a:r>
                    </a:p>
                  </a:txBody>
                  <a:tcPr/>
                </a:tc>
                <a:tc>
                  <a:txBody>
                    <a:bodyPr/>
                    <a:lstStyle/>
                    <a:p>
                      <a:r>
                        <a:rPr sz="1100" b="0"/>
                        <a:t>Risk</a:t>
                      </a:r>
                    </a:p>
                  </a:txBody>
                  <a:tcPr/>
                </a:tc>
                <a:tc>
                  <a:txBody>
                    <a:bodyPr/>
                    <a:lstStyle/>
                    <a:p>
                      <a:r>
                        <a:rPr sz="1100" b="0"/>
                        <a:t>Risk register</a:t>
                      </a:r>
                    </a:p>
                  </a:txBody>
                  <a:tcPr/>
                </a:tc>
              </a:tr>
              <a:tr h="365760">
                <a:tc>
                  <a:txBody>
                    <a:bodyPr/>
                    <a:lstStyle/>
                    <a:p>
                      <a:r>
                        <a:rPr sz="1100" b="0"/>
                        <a:t>W-nn</a:t>
                      </a:r>
                    </a:p>
                  </a:txBody>
                  <a:tcPr/>
                </a:tc>
                <a:tc>
                  <a:txBody>
                    <a:bodyPr/>
                    <a:lstStyle/>
                    <a:p>
                      <a:r>
                        <a:rPr sz="1100" b="0"/>
                        <a:t>Waiver</a:t>
                      </a:r>
                    </a:p>
                  </a:txBody>
                  <a:tcPr/>
                </a:tc>
                <a:tc>
                  <a:txBody>
                    <a:bodyPr/>
                    <a:lstStyle/>
                    <a:p>
                      <a:r>
                        <a:rPr sz="1100" b="0"/>
                        <a:t>Release plan</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914400"/>
          </a:xfrm>
          <a:prstGeom prst="rect">
            <a:avLst/>
          </a:prstGeom>
          <a:noFill/>
        </p:spPr>
        <p:txBody>
          <a:bodyPr wrap="square">
            <a:spAutoFit/>
          </a:bodyPr>
          <a:lstStyle/>
          <a:p>
            <a:r>
              <a:rPr sz="2800" b="1">
                <a:solidFill>
                  <a:srgbClr val="1F4E79"/>
                </a:solidFill>
              </a:rPr>
              <a:t>The state of this release, honestly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