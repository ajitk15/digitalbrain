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46" autoAdjust="0"/>
    <p:restoredTop sz="94610"/>
  </p:normalViewPr>
  <p:slideViewPr>
    <p:cSldViewPr snapToGrid="0" snapToObjects="1">
      <p:cViewPr varScale="1">
        <p:scale>
          <a:sx n="67" d="100"/>
          <a:sy n="67" d="100"/>
        </p:scale>
        <p:origin x="926"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6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Brain gives every application one place for its knowledge: documents, tickets, code and incident history. Teams can trust what it says because every answer points back to its source.
Top of the architecture: we plug into the tools teams already use. Upload files or paste links, SharePoint and OneDrive, GitHub, Jira, ServiceNow. New connectors plug in the same way.
Ingest: files are held privately and scanned first. Anything unsafe is blocked. They are then converted to Markdown with no network access, and stored as version-controlled knowledge, so we always know what changed and when. Most common formats work. Scanned image-only PDFs need OCR first.
Know and Act: each application's knowledge is sealed off from every other application's.
Code Factory takes a bug from a ticket and works from the project docs and the code graph. It runs pre-checks, then analyses the gaps. A person approves the gaps before any code is written. Agents then write the change and its tests, a draft pull request is opened, and the repository's own CI runs. Last, a person can re-sync the knowledge so it matches the code as it now is.
ServiceOps takes a new incident and pulls together past incidents, recent changes on the same component, and the application knowledge. Personal details are redacted before anything goes to the AI. It comes back with up to three hypotheses, every quote is checked, and the responder makes the call. It never changes a live system.
Outcomes from both flow back into the knowledge. People reach it through chat, and other AI tools through our API or MCP. We run on OpenAI or Claude.
Differentiators, if asked for detail:
- Graph beats traditional RAG. Knowledge generation: RAG does not really build knowledge. It cuts documents into chunks and stores an embedding for each, so every question starts again from loose text. We build the knowledge up front: documents, tickets and code become entities and the relationships between them, each relationship backed by an exact quote from its source and checked before it is kept. The graph is quality-checked, a person publishes it, and it is versioned, so it is built once and reused by every answer until the sources change. Usage: a RAG setup finds passages that read like the question. Our graph also knows how things relate, like which requirement some code implements or which change came right before an incident, so it can answer "what is connected to this" questions RAG cannot. Cost: there are no embeddings to build, store or rebuild when a document changes, and graph search and MCP call no model at all, so they are free to use. Efficiency: the graph is built once per version and reused. Each lookup returns at most eight short passages, and each quote is capped at 300 characters, so the model reads a few verified lines instead of long chunks. That means fewer tokens per answer.
- Verified answers: a citation is checked against the live source before it is shown. If the source changed, the claim is dropped.
- Shared by delivery and ops: a fix and an incident both enrich the same knowledge.
- Human-approved knowledge: a person publishes each version of the knowledge. Nothing changes what the AI says without that step.
- Kept current: after a big change like a bug fix, the re-sync step refreshes sources, the knowledge graph and the code graph. A person chooses what to refresh.
- Requirement-to-code traceability: every plan cites the rule and the code involved.
- Works with any AI tool: any AI tool can use the knowledge through the API or MCP. Those calls use no model of ours, so they cost nothing, and access follows the person who issued the token.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315200" cy="475488"/>
          </a:xfrm>
          <a:prstGeom prst="rect">
            <a:avLst/>
          </a:prstGeom>
          <a:noFill/>
          <a:ln/>
        </p:spPr>
        <p:txBody>
          <a:bodyPr wrap="square" lIns="0" tIns="0" rIns="0" bIns="0" rtlCol="0" anchor="ctr"/>
          <a:lstStyle/>
          <a:p>
            <a:pPr marL="0" indent="0">
              <a:buNone/>
            </a:pPr>
            <a:r>
              <a:rPr lang="en-US" sz="2800" b="1" dirty="0">
                <a:solidFill>
                  <a:srgbClr val="000000"/>
                </a:solidFill>
                <a:latin typeface="Arial" pitchFamily="34" charset="0"/>
                <a:ea typeface="Arial" pitchFamily="34" charset="-122"/>
                <a:cs typeface="Arial" pitchFamily="34" charset="-120"/>
              </a:rPr>
              <a:t>Digital Brain</a:t>
            </a:r>
            <a:endParaRPr lang="en-US" sz="2800" dirty="0"/>
          </a:p>
        </p:txBody>
      </p:sp>
      <p:sp>
        <p:nvSpPr>
          <p:cNvPr id="3" name="Text 1"/>
          <p:cNvSpPr txBox="1"/>
          <p:nvPr/>
        </p:nvSpPr>
        <p:spPr>
          <a:xfrm>
            <a:off x="457200" y="932688"/>
            <a:ext cx="6492240" cy="256032"/>
          </a:xfrm>
          <a:prstGeom prst="rect">
            <a:avLst/>
          </a:prstGeom>
          <a:noFill/>
          <a:ln/>
        </p:spPr>
        <p:txBody>
          <a:bodyPr wrap="square" lIns="0" tIns="0" rIns="0" bIns="0" rtlCol="0" anchor="b"/>
          <a:lstStyle/>
          <a:p>
            <a:pPr marL="0" indent="0">
              <a:buNone/>
            </a:pPr>
            <a:r>
              <a:rPr lang="en-US" sz="1300" b="1" dirty="0">
                <a:solidFill>
                  <a:srgbClr val="7500C0"/>
                </a:solidFill>
                <a:latin typeface="Arial" pitchFamily="34" charset="0"/>
                <a:ea typeface="Arial" pitchFamily="34" charset="-122"/>
                <a:cs typeface="Arial" pitchFamily="34" charset="-120"/>
              </a:rPr>
              <a:t>Architecture</a:t>
            </a:r>
            <a:endParaRPr lang="en-US" sz="1300" dirty="0"/>
          </a:p>
        </p:txBody>
      </p:sp>
      <p:sp>
        <p:nvSpPr>
          <p:cNvPr id="4" name="Text 2"/>
          <p:cNvSpPr txBox="1"/>
          <p:nvPr/>
        </p:nvSpPr>
        <p:spPr>
          <a:xfrm>
            <a:off x="457200" y="1316736"/>
            <a:ext cx="795528" cy="768096"/>
          </a:xfrm>
          <a:prstGeom prst="rect">
            <a:avLst/>
          </a:prstGeom>
          <a:noFill/>
          <a:ln/>
        </p:spPr>
        <p:txBody>
          <a:bodyPr wrap="square" lIns="0" tIns="0" rIns="0" bIns="0" rtlCol="0" anchor="ctr"/>
          <a:lstStyle/>
          <a:p>
            <a:pPr marL="0" indent="0">
              <a:buNone/>
            </a:pPr>
            <a:r>
              <a:rPr lang="en-US" sz="1200" b="1" dirty="0">
                <a:solidFill>
                  <a:srgbClr val="7500C0"/>
                </a:solidFill>
                <a:latin typeface="Arial" pitchFamily="34" charset="0"/>
                <a:ea typeface="Arial" pitchFamily="34" charset="-122"/>
                <a:cs typeface="Arial" pitchFamily="34" charset="-120"/>
              </a:rPr>
              <a:t>Connect</a:t>
            </a:r>
            <a:endParaRPr lang="en-US" sz="1200" dirty="0"/>
          </a:p>
          <a:p>
            <a:pPr marL="0" indent="0">
              <a:buNone/>
            </a:pPr>
            <a:r>
              <a:rPr lang="en-US" sz="800" dirty="0">
                <a:solidFill>
                  <a:srgbClr val="5A5A5A"/>
                </a:solidFill>
                <a:latin typeface="Arial" pitchFamily="34" charset="0"/>
                <a:ea typeface="Arial" pitchFamily="34" charset="-122"/>
                <a:cs typeface="Arial" pitchFamily="34" charset="-120"/>
              </a:rPr>
              <a:t>pluggable connectors</a:t>
            </a:r>
            <a:endParaRPr lang="en-US" sz="1200" dirty="0"/>
          </a:p>
        </p:txBody>
      </p:sp>
      <p:sp>
        <p:nvSpPr>
          <p:cNvPr id="5" name="Shape 3"/>
          <p:cNvSpPr/>
          <p:nvPr/>
        </p:nvSpPr>
        <p:spPr>
          <a:xfrm>
            <a:off x="1325880" y="1316736"/>
            <a:ext cx="883920" cy="768096"/>
          </a:xfrm>
          <a:prstGeom prst="rect">
            <a:avLst/>
          </a:prstGeom>
          <a:solidFill>
            <a:srgbClr val="FFFFFF"/>
          </a:solidFill>
          <a:ln w="12700">
            <a:solidFill>
              <a:srgbClr val="D9C2FF"/>
            </a:solidFill>
            <a:prstDash val="solid"/>
          </a:ln>
        </p:spPr>
      </p:sp>
      <p:pic>
        <p:nvPicPr>
          <p:cNvPr id="6" name="Image 0" descr="icon-files.png"/>
          <p:cNvPicPr>
            <a:picLocks noChangeAspect="1"/>
          </p:cNvPicPr>
          <p:nvPr/>
        </p:nvPicPr>
        <p:blipFill>
          <a:blip r:embed="rId3"/>
          <a:stretch>
            <a:fillRect/>
          </a:stretch>
        </p:blipFill>
        <p:spPr>
          <a:xfrm>
            <a:off x="1639824" y="1426464"/>
            <a:ext cx="256032" cy="256032"/>
          </a:xfrm>
          <a:prstGeom prst="rect">
            <a:avLst/>
          </a:prstGeom>
        </p:spPr>
      </p:pic>
      <p:sp>
        <p:nvSpPr>
          <p:cNvPr id="7" name="Text 4"/>
          <p:cNvSpPr txBox="1"/>
          <p:nvPr/>
        </p:nvSpPr>
        <p:spPr>
          <a:xfrm>
            <a:off x="1353312" y="1737360"/>
            <a:ext cx="829056" cy="292608"/>
          </a:xfrm>
          <a:prstGeom prst="rect">
            <a:avLst/>
          </a:prstGeom>
          <a:noFill/>
          <a:ln/>
        </p:spPr>
        <p:txBody>
          <a:bodyPr wrap="square" lIns="0" tIns="0" rIns="0" bIns="0" rtlCol="0" anchor="ctr"/>
          <a:lstStyle/>
          <a:p>
            <a:pPr marL="0" indent="0" algn="ctr">
              <a:buNone/>
            </a:pPr>
            <a:r>
              <a:rPr lang="en-US" sz="800" b="1" dirty="0">
                <a:solidFill>
                  <a:srgbClr val="000000"/>
                </a:solidFill>
                <a:latin typeface="Arial" pitchFamily="34" charset="0"/>
                <a:ea typeface="Arial" pitchFamily="34" charset="-122"/>
                <a:cs typeface="Arial" pitchFamily="34" charset="-120"/>
              </a:rPr>
              <a:t>Upload &amp; links</a:t>
            </a:r>
            <a:endParaRPr lang="en-US" sz="800" dirty="0"/>
          </a:p>
        </p:txBody>
      </p:sp>
      <p:sp>
        <p:nvSpPr>
          <p:cNvPr id="8" name="Shape 5"/>
          <p:cNvSpPr/>
          <p:nvPr/>
        </p:nvSpPr>
        <p:spPr>
          <a:xfrm>
            <a:off x="2273808" y="1316736"/>
            <a:ext cx="883920" cy="768096"/>
          </a:xfrm>
          <a:prstGeom prst="rect">
            <a:avLst/>
          </a:prstGeom>
          <a:solidFill>
            <a:srgbClr val="FFFFFF"/>
          </a:solidFill>
          <a:ln w="12700">
            <a:solidFill>
              <a:srgbClr val="D9C2FF"/>
            </a:solidFill>
            <a:prstDash val="solid"/>
          </a:ln>
        </p:spPr>
      </p:sp>
      <p:pic>
        <p:nvPicPr>
          <p:cNvPr id="9" name="Image 1" descr="icon-sharepoint.png"/>
          <p:cNvPicPr>
            <a:picLocks noChangeAspect="1"/>
          </p:cNvPicPr>
          <p:nvPr/>
        </p:nvPicPr>
        <p:blipFill>
          <a:blip r:embed="rId4"/>
          <a:stretch>
            <a:fillRect/>
          </a:stretch>
        </p:blipFill>
        <p:spPr>
          <a:xfrm>
            <a:off x="2587752" y="1426464"/>
            <a:ext cx="256032" cy="256032"/>
          </a:xfrm>
          <a:prstGeom prst="rect">
            <a:avLst/>
          </a:prstGeom>
        </p:spPr>
      </p:pic>
      <p:sp>
        <p:nvSpPr>
          <p:cNvPr id="10" name="Text 6"/>
          <p:cNvSpPr txBox="1"/>
          <p:nvPr/>
        </p:nvSpPr>
        <p:spPr>
          <a:xfrm>
            <a:off x="2301240" y="1737360"/>
            <a:ext cx="829056" cy="292608"/>
          </a:xfrm>
          <a:prstGeom prst="rect">
            <a:avLst/>
          </a:prstGeom>
          <a:noFill/>
          <a:ln/>
        </p:spPr>
        <p:txBody>
          <a:bodyPr wrap="square" lIns="0" tIns="0" rIns="0" bIns="0" rtlCol="0" anchor="ctr"/>
          <a:lstStyle/>
          <a:p>
            <a:pPr marL="0" indent="0" algn="ctr">
              <a:buNone/>
            </a:pPr>
            <a:r>
              <a:rPr lang="en-US" sz="800" b="1" dirty="0">
                <a:solidFill>
                  <a:srgbClr val="000000"/>
                </a:solidFill>
                <a:latin typeface="Arial" pitchFamily="34" charset="0"/>
                <a:ea typeface="Arial" pitchFamily="34" charset="-122"/>
                <a:cs typeface="Arial" pitchFamily="34" charset="-120"/>
              </a:rPr>
              <a:t>SharePoint OneDrive</a:t>
            </a:r>
            <a:endParaRPr lang="en-US" sz="800" dirty="0"/>
          </a:p>
        </p:txBody>
      </p:sp>
      <p:sp>
        <p:nvSpPr>
          <p:cNvPr id="11" name="Shape 7"/>
          <p:cNvSpPr/>
          <p:nvPr/>
        </p:nvSpPr>
        <p:spPr>
          <a:xfrm>
            <a:off x="3221736" y="1316736"/>
            <a:ext cx="883920" cy="768096"/>
          </a:xfrm>
          <a:prstGeom prst="rect">
            <a:avLst/>
          </a:prstGeom>
          <a:solidFill>
            <a:srgbClr val="FFFFFF"/>
          </a:solidFill>
          <a:ln w="12700">
            <a:solidFill>
              <a:srgbClr val="D9C2FF"/>
            </a:solidFill>
            <a:prstDash val="solid"/>
          </a:ln>
        </p:spPr>
      </p:sp>
      <p:pic>
        <p:nvPicPr>
          <p:cNvPr id="12" name="Image 2" descr="icon-github.png"/>
          <p:cNvPicPr>
            <a:picLocks noChangeAspect="1"/>
          </p:cNvPicPr>
          <p:nvPr/>
        </p:nvPicPr>
        <p:blipFill>
          <a:blip r:embed="rId5"/>
          <a:stretch>
            <a:fillRect/>
          </a:stretch>
        </p:blipFill>
        <p:spPr>
          <a:xfrm>
            <a:off x="3535680" y="1426464"/>
            <a:ext cx="256032" cy="256032"/>
          </a:xfrm>
          <a:prstGeom prst="rect">
            <a:avLst/>
          </a:prstGeom>
        </p:spPr>
      </p:pic>
      <p:sp>
        <p:nvSpPr>
          <p:cNvPr id="13" name="Text 8"/>
          <p:cNvSpPr txBox="1"/>
          <p:nvPr/>
        </p:nvSpPr>
        <p:spPr>
          <a:xfrm>
            <a:off x="3249168" y="1737360"/>
            <a:ext cx="829056" cy="292608"/>
          </a:xfrm>
          <a:prstGeom prst="rect">
            <a:avLst/>
          </a:prstGeom>
          <a:noFill/>
          <a:ln/>
        </p:spPr>
        <p:txBody>
          <a:bodyPr wrap="square" lIns="0" tIns="0" rIns="0" bIns="0" rtlCol="0" anchor="ctr"/>
          <a:lstStyle/>
          <a:p>
            <a:pPr marL="0" indent="0" algn="ctr">
              <a:buNone/>
            </a:pPr>
            <a:r>
              <a:rPr lang="en-US" sz="800" b="1" dirty="0">
                <a:solidFill>
                  <a:srgbClr val="000000"/>
                </a:solidFill>
                <a:latin typeface="Arial" pitchFamily="34" charset="0"/>
                <a:ea typeface="Arial" pitchFamily="34" charset="-122"/>
                <a:cs typeface="Arial" pitchFamily="34" charset="-120"/>
              </a:rPr>
              <a:t>GitHub</a:t>
            </a:r>
            <a:endParaRPr lang="en-US" sz="800" dirty="0"/>
          </a:p>
        </p:txBody>
      </p:sp>
      <p:sp>
        <p:nvSpPr>
          <p:cNvPr id="14" name="Shape 9"/>
          <p:cNvSpPr/>
          <p:nvPr/>
        </p:nvSpPr>
        <p:spPr>
          <a:xfrm>
            <a:off x="4169664" y="1316736"/>
            <a:ext cx="883920" cy="768096"/>
          </a:xfrm>
          <a:prstGeom prst="rect">
            <a:avLst/>
          </a:prstGeom>
          <a:solidFill>
            <a:srgbClr val="FFFFFF"/>
          </a:solidFill>
          <a:ln w="12700">
            <a:solidFill>
              <a:srgbClr val="D9C2FF"/>
            </a:solidFill>
            <a:prstDash val="solid"/>
          </a:ln>
        </p:spPr>
      </p:sp>
      <p:pic>
        <p:nvPicPr>
          <p:cNvPr id="15" name="Image 3" descr="icon-jira.png"/>
          <p:cNvPicPr>
            <a:picLocks noChangeAspect="1"/>
          </p:cNvPicPr>
          <p:nvPr/>
        </p:nvPicPr>
        <p:blipFill>
          <a:blip r:embed="rId6"/>
          <a:stretch>
            <a:fillRect/>
          </a:stretch>
        </p:blipFill>
        <p:spPr>
          <a:xfrm>
            <a:off x="4483608" y="1426464"/>
            <a:ext cx="256032" cy="256032"/>
          </a:xfrm>
          <a:prstGeom prst="rect">
            <a:avLst/>
          </a:prstGeom>
        </p:spPr>
      </p:pic>
      <p:sp>
        <p:nvSpPr>
          <p:cNvPr id="16" name="Text 10"/>
          <p:cNvSpPr txBox="1"/>
          <p:nvPr/>
        </p:nvSpPr>
        <p:spPr>
          <a:xfrm>
            <a:off x="4197096" y="1737360"/>
            <a:ext cx="829056" cy="292608"/>
          </a:xfrm>
          <a:prstGeom prst="rect">
            <a:avLst/>
          </a:prstGeom>
          <a:noFill/>
          <a:ln/>
        </p:spPr>
        <p:txBody>
          <a:bodyPr wrap="square" lIns="0" tIns="0" rIns="0" bIns="0" rtlCol="0" anchor="ctr"/>
          <a:lstStyle/>
          <a:p>
            <a:pPr marL="0" indent="0" algn="ctr">
              <a:buNone/>
            </a:pPr>
            <a:r>
              <a:rPr lang="en-US" sz="800" b="1" dirty="0">
                <a:solidFill>
                  <a:srgbClr val="000000"/>
                </a:solidFill>
                <a:latin typeface="Arial" pitchFamily="34" charset="0"/>
                <a:ea typeface="Arial" pitchFamily="34" charset="-122"/>
                <a:cs typeface="Arial" pitchFamily="34" charset="-120"/>
              </a:rPr>
              <a:t>Jira</a:t>
            </a:r>
            <a:endParaRPr lang="en-US" sz="800" dirty="0"/>
          </a:p>
        </p:txBody>
      </p:sp>
      <p:sp>
        <p:nvSpPr>
          <p:cNvPr id="17" name="Shape 11"/>
          <p:cNvSpPr/>
          <p:nvPr/>
        </p:nvSpPr>
        <p:spPr>
          <a:xfrm>
            <a:off x="5117592" y="1316736"/>
            <a:ext cx="883920" cy="768096"/>
          </a:xfrm>
          <a:prstGeom prst="rect">
            <a:avLst/>
          </a:prstGeom>
          <a:solidFill>
            <a:srgbClr val="FFFFFF"/>
          </a:solidFill>
          <a:ln w="12700">
            <a:solidFill>
              <a:srgbClr val="D9C2FF"/>
            </a:solidFill>
            <a:prstDash val="solid"/>
          </a:ln>
        </p:spPr>
      </p:sp>
      <p:pic>
        <p:nvPicPr>
          <p:cNvPr id="18" name="Image 4" descr="icon-servicenow.png"/>
          <p:cNvPicPr>
            <a:picLocks noChangeAspect="1"/>
          </p:cNvPicPr>
          <p:nvPr/>
        </p:nvPicPr>
        <p:blipFill>
          <a:blip r:embed="rId7"/>
          <a:stretch>
            <a:fillRect/>
          </a:stretch>
        </p:blipFill>
        <p:spPr>
          <a:xfrm>
            <a:off x="5431536" y="1426464"/>
            <a:ext cx="256032" cy="256032"/>
          </a:xfrm>
          <a:prstGeom prst="rect">
            <a:avLst/>
          </a:prstGeom>
        </p:spPr>
      </p:pic>
      <p:sp>
        <p:nvSpPr>
          <p:cNvPr id="19" name="Text 12"/>
          <p:cNvSpPr txBox="1"/>
          <p:nvPr/>
        </p:nvSpPr>
        <p:spPr>
          <a:xfrm>
            <a:off x="5145024" y="1737360"/>
            <a:ext cx="829056" cy="292608"/>
          </a:xfrm>
          <a:prstGeom prst="rect">
            <a:avLst/>
          </a:prstGeom>
          <a:noFill/>
          <a:ln/>
        </p:spPr>
        <p:txBody>
          <a:bodyPr wrap="square" lIns="0" tIns="0" rIns="0" bIns="0" rtlCol="0" anchor="ctr"/>
          <a:lstStyle/>
          <a:p>
            <a:pPr marL="0" indent="0" algn="ctr">
              <a:buNone/>
            </a:pPr>
            <a:r>
              <a:rPr lang="en-US" sz="800" b="1" dirty="0">
                <a:solidFill>
                  <a:srgbClr val="000000"/>
                </a:solidFill>
                <a:latin typeface="Arial" pitchFamily="34" charset="0"/>
                <a:ea typeface="Arial" pitchFamily="34" charset="-122"/>
                <a:cs typeface="Arial" pitchFamily="34" charset="-120"/>
              </a:rPr>
              <a:t>ServiceNow</a:t>
            </a:r>
            <a:endParaRPr lang="en-US" sz="800" dirty="0"/>
          </a:p>
        </p:txBody>
      </p:sp>
      <p:sp>
        <p:nvSpPr>
          <p:cNvPr id="20" name="Shape 13"/>
          <p:cNvSpPr/>
          <p:nvPr/>
        </p:nvSpPr>
        <p:spPr>
          <a:xfrm>
            <a:off x="6065520" y="1316736"/>
            <a:ext cx="883920" cy="768096"/>
          </a:xfrm>
          <a:prstGeom prst="rect">
            <a:avLst/>
          </a:prstGeom>
          <a:solidFill>
            <a:srgbClr val="FFFFFF"/>
          </a:solidFill>
          <a:ln w="12700">
            <a:solidFill>
              <a:srgbClr val="A100FF"/>
            </a:solidFill>
            <a:prstDash val="dash"/>
          </a:ln>
        </p:spPr>
      </p:sp>
      <p:pic>
        <p:nvPicPr>
          <p:cNvPr id="21" name="Image 5" descr="icon-more.png"/>
          <p:cNvPicPr>
            <a:picLocks noChangeAspect="1"/>
          </p:cNvPicPr>
          <p:nvPr/>
        </p:nvPicPr>
        <p:blipFill>
          <a:blip r:embed="rId8"/>
          <a:stretch>
            <a:fillRect/>
          </a:stretch>
        </p:blipFill>
        <p:spPr>
          <a:xfrm>
            <a:off x="6379464" y="1426464"/>
            <a:ext cx="256032" cy="256032"/>
          </a:xfrm>
          <a:prstGeom prst="rect">
            <a:avLst/>
          </a:prstGeom>
        </p:spPr>
      </p:pic>
      <p:sp>
        <p:nvSpPr>
          <p:cNvPr id="22" name="Text 14"/>
          <p:cNvSpPr txBox="1"/>
          <p:nvPr/>
        </p:nvSpPr>
        <p:spPr>
          <a:xfrm>
            <a:off x="6092952" y="1737360"/>
            <a:ext cx="829056" cy="292608"/>
          </a:xfrm>
          <a:prstGeom prst="rect">
            <a:avLst/>
          </a:prstGeom>
          <a:noFill/>
          <a:ln/>
        </p:spPr>
        <p:txBody>
          <a:bodyPr wrap="square" lIns="0" tIns="0" rIns="0" bIns="0" rtlCol="0" anchor="ctr"/>
          <a:lstStyle/>
          <a:p>
            <a:pPr marL="0" indent="0" algn="ctr">
              <a:buNone/>
            </a:pPr>
            <a:r>
              <a:rPr lang="en-US" sz="800" b="1" dirty="0">
                <a:solidFill>
                  <a:srgbClr val="7500C0"/>
                </a:solidFill>
                <a:latin typeface="Arial" pitchFamily="34" charset="0"/>
                <a:ea typeface="Arial" pitchFamily="34" charset="-122"/>
                <a:cs typeface="Arial" pitchFamily="34" charset="-120"/>
              </a:rPr>
              <a:t>Add more</a:t>
            </a:r>
            <a:endParaRPr lang="en-US" sz="800" dirty="0"/>
          </a:p>
        </p:txBody>
      </p:sp>
      <p:sp>
        <p:nvSpPr>
          <p:cNvPr id="23" name="Shape 15"/>
          <p:cNvSpPr/>
          <p:nvPr/>
        </p:nvSpPr>
        <p:spPr>
          <a:xfrm>
            <a:off x="4137660" y="2103120"/>
            <a:ext cx="0" cy="146304"/>
          </a:xfrm>
          <a:prstGeom prst="line">
            <a:avLst/>
          </a:prstGeom>
          <a:noFill/>
          <a:ln w="19050">
            <a:solidFill>
              <a:srgbClr val="BE82FF"/>
            </a:solidFill>
            <a:prstDash val="solid"/>
            <a:tailEnd type="triangle"/>
          </a:ln>
        </p:spPr>
      </p:sp>
      <p:sp>
        <p:nvSpPr>
          <p:cNvPr id="24" name="Text 16"/>
          <p:cNvSpPr txBox="1"/>
          <p:nvPr/>
        </p:nvSpPr>
        <p:spPr>
          <a:xfrm>
            <a:off x="457200" y="2267712"/>
            <a:ext cx="795528" cy="804672"/>
          </a:xfrm>
          <a:prstGeom prst="rect">
            <a:avLst/>
          </a:prstGeom>
          <a:noFill/>
          <a:ln/>
        </p:spPr>
        <p:txBody>
          <a:bodyPr wrap="square" lIns="0" tIns="0" rIns="0" bIns="0" rtlCol="0" anchor="ctr"/>
          <a:lstStyle/>
          <a:p>
            <a:pPr marL="0" indent="0">
              <a:buNone/>
            </a:pPr>
            <a:r>
              <a:rPr lang="en-US" sz="1200" b="1" dirty="0">
                <a:solidFill>
                  <a:srgbClr val="7500C0"/>
                </a:solidFill>
                <a:latin typeface="Arial" pitchFamily="34" charset="0"/>
                <a:ea typeface="Arial" pitchFamily="34" charset="-122"/>
                <a:cs typeface="Arial" pitchFamily="34" charset="-120"/>
              </a:rPr>
              <a:t>Ingest</a:t>
            </a:r>
            <a:endParaRPr lang="en-US" sz="1200" dirty="0"/>
          </a:p>
          <a:p>
            <a:pPr marL="0" indent="0">
              <a:buNone/>
            </a:pPr>
            <a:r>
              <a:rPr lang="en-US" sz="800" dirty="0">
                <a:solidFill>
                  <a:srgbClr val="5A5A5A"/>
                </a:solidFill>
                <a:latin typeface="Arial" pitchFamily="34" charset="0"/>
                <a:ea typeface="Arial" pitchFamily="34" charset="-122"/>
                <a:cs typeface="Arial" pitchFamily="34" charset="-120"/>
              </a:rPr>
              <a:t>safe &amp; traceable</a:t>
            </a:r>
            <a:endParaRPr lang="en-US" sz="1200" dirty="0"/>
          </a:p>
        </p:txBody>
      </p:sp>
      <p:sp>
        <p:nvSpPr>
          <p:cNvPr id="25" name="Shape 17"/>
          <p:cNvSpPr/>
          <p:nvPr/>
        </p:nvSpPr>
        <p:spPr>
          <a:xfrm>
            <a:off x="1325880" y="2267712"/>
            <a:ext cx="1255014" cy="603504"/>
          </a:xfrm>
          <a:prstGeom prst="rect">
            <a:avLst/>
          </a:prstGeom>
          <a:solidFill>
            <a:srgbClr val="F3EBFF"/>
          </a:solidFill>
          <a:ln w="12700">
            <a:solidFill>
              <a:srgbClr val="F3EBFF"/>
            </a:solidFill>
            <a:prstDash val="solid"/>
          </a:ln>
        </p:spPr>
      </p:sp>
      <p:sp>
        <p:nvSpPr>
          <p:cNvPr id="26" name="Text 18"/>
          <p:cNvSpPr txBox="1"/>
          <p:nvPr/>
        </p:nvSpPr>
        <p:spPr>
          <a:xfrm>
            <a:off x="1362456" y="2267712"/>
            <a:ext cx="1181862" cy="603504"/>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Secure upload</a:t>
            </a:r>
            <a:endParaRPr lang="en-US" sz="950" dirty="0"/>
          </a:p>
          <a:p>
            <a:pPr marL="0" indent="0" algn="ctr">
              <a:buNone/>
            </a:pPr>
            <a:r>
              <a:rPr lang="en-US" sz="750" dirty="0">
                <a:solidFill>
                  <a:srgbClr val="5A5A5A"/>
                </a:solidFill>
                <a:latin typeface="Arial" pitchFamily="34" charset="0"/>
                <a:ea typeface="Arial" pitchFamily="34" charset="-122"/>
                <a:cs typeface="Arial" pitchFamily="34" charset="-120"/>
              </a:rPr>
              <a:t>held privately</a:t>
            </a:r>
            <a:endParaRPr lang="en-US" sz="950" dirty="0"/>
          </a:p>
        </p:txBody>
      </p:sp>
      <p:sp>
        <p:nvSpPr>
          <p:cNvPr id="27" name="Shape 19"/>
          <p:cNvSpPr/>
          <p:nvPr/>
        </p:nvSpPr>
        <p:spPr>
          <a:xfrm>
            <a:off x="2608326" y="2569464"/>
            <a:ext cx="146304" cy="0"/>
          </a:xfrm>
          <a:prstGeom prst="line">
            <a:avLst/>
          </a:prstGeom>
          <a:noFill/>
          <a:ln w="15875">
            <a:solidFill>
              <a:srgbClr val="A100FF"/>
            </a:solidFill>
            <a:prstDash val="solid"/>
            <a:tailEnd type="triangle"/>
          </a:ln>
        </p:spPr>
      </p:sp>
      <p:sp>
        <p:nvSpPr>
          <p:cNvPr id="28" name="Shape 20"/>
          <p:cNvSpPr/>
          <p:nvPr/>
        </p:nvSpPr>
        <p:spPr>
          <a:xfrm>
            <a:off x="2782062" y="2267712"/>
            <a:ext cx="1255014" cy="603504"/>
          </a:xfrm>
          <a:prstGeom prst="rect">
            <a:avLst/>
          </a:prstGeom>
          <a:solidFill>
            <a:srgbClr val="F3EBFF"/>
          </a:solidFill>
          <a:ln w="12700">
            <a:solidFill>
              <a:srgbClr val="F3EBFF"/>
            </a:solidFill>
            <a:prstDash val="solid"/>
          </a:ln>
        </p:spPr>
      </p:sp>
      <p:sp>
        <p:nvSpPr>
          <p:cNvPr id="29" name="Text 21"/>
          <p:cNvSpPr txBox="1"/>
          <p:nvPr/>
        </p:nvSpPr>
        <p:spPr>
          <a:xfrm>
            <a:off x="2818638" y="2267712"/>
            <a:ext cx="1181862" cy="603504"/>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Security scan</a:t>
            </a:r>
            <a:endParaRPr lang="en-US" sz="950" dirty="0"/>
          </a:p>
          <a:p>
            <a:pPr marL="0" indent="0" algn="ctr">
              <a:buNone/>
            </a:pPr>
            <a:r>
              <a:rPr lang="en-US" sz="750" dirty="0">
                <a:solidFill>
                  <a:srgbClr val="5A5A5A"/>
                </a:solidFill>
                <a:latin typeface="Arial" pitchFamily="34" charset="0"/>
                <a:ea typeface="Arial" pitchFamily="34" charset="-122"/>
                <a:cs typeface="Arial" pitchFamily="34" charset="-120"/>
              </a:rPr>
              <a:t>unsafe files blocked</a:t>
            </a:r>
            <a:endParaRPr lang="en-US" sz="950" dirty="0"/>
          </a:p>
        </p:txBody>
      </p:sp>
      <p:sp>
        <p:nvSpPr>
          <p:cNvPr id="30" name="Shape 22"/>
          <p:cNvSpPr/>
          <p:nvPr/>
        </p:nvSpPr>
        <p:spPr>
          <a:xfrm>
            <a:off x="4064508" y="2569464"/>
            <a:ext cx="146304" cy="0"/>
          </a:xfrm>
          <a:prstGeom prst="line">
            <a:avLst/>
          </a:prstGeom>
          <a:noFill/>
          <a:ln w="15875">
            <a:solidFill>
              <a:srgbClr val="A100FF"/>
            </a:solidFill>
            <a:prstDash val="solid"/>
            <a:tailEnd type="triangle"/>
          </a:ln>
        </p:spPr>
      </p:sp>
      <p:sp>
        <p:nvSpPr>
          <p:cNvPr id="31" name="Shape 23"/>
          <p:cNvSpPr/>
          <p:nvPr/>
        </p:nvSpPr>
        <p:spPr>
          <a:xfrm>
            <a:off x="4238244" y="2267712"/>
            <a:ext cx="1255014" cy="603504"/>
          </a:xfrm>
          <a:prstGeom prst="rect">
            <a:avLst/>
          </a:prstGeom>
          <a:solidFill>
            <a:srgbClr val="F3EBFF"/>
          </a:solidFill>
          <a:ln w="12700">
            <a:solidFill>
              <a:srgbClr val="F3EBFF"/>
            </a:solidFill>
            <a:prstDash val="solid"/>
          </a:ln>
        </p:spPr>
      </p:sp>
      <p:sp>
        <p:nvSpPr>
          <p:cNvPr id="32" name="Text 24"/>
          <p:cNvSpPr txBox="1"/>
          <p:nvPr/>
        </p:nvSpPr>
        <p:spPr>
          <a:xfrm>
            <a:off x="4274820" y="2267712"/>
            <a:ext cx="1181862" cy="603504"/>
          </a:xfrm>
          <a:prstGeom prst="rect">
            <a:avLst/>
          </a:prstGeom>
          <a:noFill/>
          <a:ln/>
        </p:spPr>
        <p:txBody>
          <a:bodyPr wrap="square" lIns="0" tIns="0" rIns="0" bIns="0" rtlCol="0" anchor="ctr"/>
          <a:lstStyle/>
          <a:p>
            <a:pPr marL="0" indent="0" algn="ctr">
              <a:buNone/>
            </a:pPr>
            <a:r>
              <a:rPr lang="en-US" sz="950" b="1" dirty="0">
                <a:solidFill>
                  <a:srgbClr val="000000"/>
                </a:solidFill>
                <a:latin typeface="Arial" pitchFamily="34" charset="0"/>
                <a:ea typeface="Arial" pitchFamily="34" charset="-122"/>
                <a:cs typeface="Arial" pitchFamily="34" charset="-120"/>
              </a:rPr>
              <a:t>To Markdown</a:t>
            </a:r>
            <a:endParaRPr lang="en-US" sz="950" dirty="0"/>
          </a:p>
          <a:p>
            <a:pPr marL="0" indent="0" algn="ctr">
              <a:buNone/>
            </a:pPr>
            <a:r>
              <a:rPr lang="en-US" sz="750" dirty="0">
                <a:solidFill>
                  <a:srgbClr val="5A5A5A"/>
                </a:solidFill>
                <a:latin typeface="Arial" pitchFamily="34" charset="0"/>
                <a:ea typeface="Arial" pitchFamily="34" charset="-122"/>
                <a:cs typeface="Arial" pitchFamily="34" charset="-120"/>
              </a:rPr>
              <a:t>converted offline</a:t>
            </a:r>
            <a:endParaRPr lang="en-US" sz="950" dirty="0"/>
          </a:p>
        </p:txBody>
      </p:sp>
      <p:sp>
        <p:nvSpPr>
          <p:cNvPr id="33" name="Shape 25"/>
          <p:cNvSpPr/>
          <p:nvPr/>
        </p:nvSpPr>
        <p:spPr>
          <a:xfrm>
            <a:off x="5520690" y="2569464"/>
            <a:ext cx="146304" cy="0"/>
          </a:xfrm>
          <a:prstGeom prst="line">
            <a:avLst/>
          </a:prstGeom>
          <a:noFill/>
          <a:ln w="15875">
            <a:solidFill>
              <a:srgbClr val="A100FF"/>
            </a:solidFill>
            <a:prstDash val="solid"/>
            <a:tailEnd type="triangle"/>
          </a:ln>
        </p:spPr>
      </p:sp>
      <p:sp>
        <p:nvSpPr>
          <p:cNvPr id="34" name="Shape 26"/>
          <p:cNvSpPr/>
          <p:nvPr/>
        </p:nvSpPr>
        <p:spPr>
          <a:xfrm>
            <a:off x="5694426" y="2267712"/>
            <a:ext cx="1255014" cy="603504"/>
          </a:xfrm>
          <a:prstGeom prst="rect">
            <a:avLst/>
          </a:prstGeom>
          <a:solidFill>
            <a:srgbClr val="460073"/>
          </a:solidFill>
          <a:ln w="12700">
            <a:solidFill>
              <a:srgbClr val="460073"/>
            </a:solidFill>
            <a:prstDash val="solid"/>
          </a:ln>
        </p:spPr>
      </p:sp>
      <p:sp>
        <p:nvSpPr>
          <p:cNvPr id="35" name="Text 27"/>
          <p:cNvSpPr txBox="1"/>
          <p:nvPr/>
        </p:nvSpPr>
        <p:spPr>
          <a:xfrm>
            <a:off x="5731002" y="2267712"/>
            <a:ext cx="1181862" cy="603504"/>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Knowledge</a:t>
            </a:r>
            <a:endParaRPr lang="en-US" sz="950" dirty="0"/>
          </a:p>
          <a:p>
            <a:pPr marL="0" indent="0" algn="ctr">
              <a:buNone/>
            </a:pPr>
            <a:r>
              <a:rPr lang="en-US" sz="750" dirty="0">
                <a:solidFill>
                  <a:srgbClr val="E6D2FF"/>
                </a:solidFill>
                <a:latin typeface="Arial" pitchFamily="34" charset="0"/>
                <a:ea typeface="Arial" pitchFamily="34" charset="-122"/>
                <a:cs typeface="Arial" pitchFamily="34" charset="-120"/>
              </a:rPr>
              <a:t>version controlled</a:t>
            </a:r>
            <a:endParaRPr lang="en-US" sz="950" dirty="0"/>
          </a:p>
        </p:txBody>
      </p:sp>
      <p:sp>
        <p:nvSpPr>
          <p:cNvPr id="36" name="Text 28"/>
          <p:cNvSpPr txBox="1"/>
          <p:nvPr/>
        </p:nvSpPr>
        <p:spPr>
          <a:xfrm>
            <a:off x="1325880" y="2907792"/>
            <a:ext cx="5623560" cy="155448"/>
          </a:xfrm>
          <a:prstGeom prst="rect">
            <a:avLst/>
          </a:prstGeom>
          <a:noFill/>
          <a:ln/>
        </p:spPr>
        <p:txBody>
          <a:bodyPr wrap="square" lIns="0" tIns="0" rIns="0" bIns="0" rtlCol="0" anchor="ctr"/>
          <a:lstStyle/>
          <a:p>
            <a:pPr marL="0" indent="0">
              <a:buNone/>
            </a:pPr>
            <a:r>
              <a:rPr lang="en-US" sz="750" b="1" dirty="0">
                <a:solidFill>
                  <a:srgbClr val="7500C0"/>
                </a:solidFill>
                <a:latin typeface="Arial" pitchFamily="34" charset="0"/>
                <a:ea typeface="Arial" pitchFamily="34" charset="-122"/>
                <a:cs typeface="Arial" pitchFamily="34" charset="-120"/>
              </a:rPr>
              <a:t>Formats  </a:t>
            </a:r>
            <a:r>
              <a:rPr lang="en-US" sz="750" dirty="0">
                <a:solidFill>
                  <a:srgbClr val="5A5A5A"/>
                </a:solidFill>
                <a:latin typeface="Arial" pitchFamily="34" charset="0"/>
                <a:ea typeface="Arial" pitchFamily="34" charset="-122"/>
                <a:cs typeface="Arial" pitchFamily="34" charset="-120"/>
              </a:rPr>
              <a:t>PDF, Word, Excel, PowerPoint, Outlook, HTML, CSV, JSON, XML, text</a:t>
            </a:r>
            <a:endParaRPr lang="en-US" sz="750" dirty="0"/>
          </a:p>
        </p:txBody>
      </p:sp>
      <p:sp>
        <p:nvSpPr>
          <p:cNvPr id="37" name="Shape 29"/>
          <p:cNvSpPr/>
          <p:nvPr/>
        </p:nvSpPr>
        <p:spPr>
          <a:xfrm>
            <a:off x="4137660" y="3090672"/>
            <a:ext cx="0" cy="146304"/>
          </a:xfrm>
          <a:prstGeom prst="line">
            <a:avLst/>
          </a:prstGeom>
          <a:noFill/>
          <a:ln w="19050">
            <a:solidFill>
              <a:srgbClr val="BE82FF"/>
            </a:solidFill>
            <a:prstDash val="solid"/>
            <a:tailEnd type="triangle"/>
          </a:ln>
        </p:spPr>
      </p:sp>
      <p:sp>
        <p:nvSpPr>
          <p:cNvPr id="38" name="Text 30"/>
          <p:cNvSpPr txBox="1"/>
          <p:nvPr/>
        </p:nvSpPr>
        <p:spPr>
          <a:xfrm>
            <a:off x="457200" y="3255264"/>
            <a:ext cx="795528" cy="2240280"/>
          </a:xfrm>
          <a:prstGeom prst="rect">
            <a:avLst/>
          </a:prstGeom>
          <a:noFill/>
          <a:ln/>
        </p:spPr>
        <p:txBody>
          <a:bodyPr wrap="square" lIns="0" tIns="0" rIns="0" bIns="0" rtlCol="0" anchor="ctr"/>
          <a:lstStyle/>
          <a:p>
            <a:pPr marL="0" indent="0">
              <a:buNone/>
            </a:pPr>
            <a:r>
              <a:rPr lang="en-US" sz="1200" b="1" dirty="0">
                <a:solidFill>
                  <a:srgbClr val="7500C0"/>
                </a:solidFill>
                <a:latin typeface="Arial" pitchFamily="34" charset="0"/>
                <a:ea typeface="Arial" pitchFamily="34" charset="-122"/>
                <a:cs typeface="Arial" pitchFamily="34" charset="-120"/>
              </a:rPr>
              <a:t>Know &amp; Act</a:t>
            </a:r>
            <a:endParaRPr lang="en-US" sz="1200" dirty="0"/>
          </a:p>
          <a:p>
            <a:pPr marL="0" indent="0">
              <a:buNone/>
            </a:pPr>
            <a:r>
              <a:rPr lang="en-US" sz="800" dirty="0">
                <a:solidFill>
                  <a:srgbClr val="5A5A5A"/>
                </a:solidFill>
                <a:latin typeface="Arial" pitchFamily="34" charset="0"/>
                <a:ea typeface="Arial" pitchFamily="34" charset="-122"/>
                <a:cs typeface="Arial" pitchFamily="34" charset="-120"/>
              </a:rPr>
              <a:t>sealed per application</a:t>
            </a:r>
            <a:endParaRPr lang="en-US" sz="1200" dirty="0"/>
          </a:p>
        </p:txBody>
      </p:sp>
      <p:sp>
        <p:nvSpPr>
          <p:cNvPr id="39" name="Shape 31"/>
          <p:cNvSpPr/>
          <p:nvPr/>
        </p:nvSpPr>
        <p:spPr>
          <a:xfrm>
            <a:off x="1325880" y="3255264"/>
            <a:ext cx="5623560" cy="1074420"/>
          </a:xfrm>
          <a:prstGeom prst="rect">
            <a:avLst/>
          </a:prstGeom>
          <a:solidFill>
            <a:srgbClr val="FFFFFF"/>
          </a:solidFill>
          <a:ln w="12700">
            <a:solidFill>
              <a:srgbClr val="D9C2FF"/>
            </a:solidFill>
            <a:prstDash val="solid"/>
          </a:ln>
        </p:spPr>
      </p:sp>
      <p:sp>
        <p:nvSpPr>
          <p:cNvPr id="40" name="Shape 32"/>
          <p:cNvSpPr/>
          <p:nvPr/>
        </p:nvSpPr>
        <p:spPr>
          <a:xfrm>
            <a:off x="1325880" y="3255264"/>
            <a:ext cx="822960" cy="1074420"/>
          </a:xfrm>
          <a:prstGeom prst="rect">
            <a:avLst/>
          </a:prstGeom>
          <a:solidFill>
            <a:srgbClr val="7500C0"/>
          </a:solidFill>
          <a:ln w="12700">
            <a:solidFill>
              <a:srgbClr val="7500C0"/>
            </a:solidFill>
            <a:prstDash val="solid"/>
          </a:ln>
        </p:spPr>
      </p:sp>
      <p:sp>
        <p:nvSpPr>
          <p:cNvPr id="41" name="Text 33"/>
          <p:cNvSpPr txBox="1"/>
          <p:nvPr/>
        </p:nvSpPr>
        <p:spPr>
          <a:xfrm>
            <a:off x="1353312" y="3255264"/>
            <a:ext cx="768096" cy="107442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Code Factory</a:t>
            </a:r>
            <a:endParaRPr lang="en-US" sz="950" dirty="0"/>
          </a:p>
        </p:txBody>
      </p:sp>
      <p:sp>
        <p:nvSpPr>
          <p:cNvPr id="42" name="Text 34"/>
          <p:cNvSpPr txBox="1"/>
          <p:nvPr/>
        </p:nvSpPr>
        <p:spPr>
          <a:xfrm>
            <a:off x="2240280" y="3319272"/>
            <a:ext cx="457200" cy="384048"/>
          </a:xfrm>
          <a:prstGeom prst="rect">
            <a:avLst/>
          </a:prstGeom>
          <a:noFill/>
          <a:ln/>
        </p:spPr>
        <p:txBody>
          <a:bodyPr wrap="square" lIns="0" tIns="0" rIns="0" bIns="0" rtlCol="0" anchor="ctr"/>
          <a:lstStyle/>
          <a:p>
            <a:pPr marL="0" indent="0">
              <a:buNone/>
            </a:pPr>
            <a:r>
              <a:rPr lang="en-US" sz="750" dirty="0">
                <a:solidFill>
                  <a:srgbClr val="5A5A5A"/>
                </a:solidFill>
                <a:latin typeface="Arial" pitchFamily="34" charset="0"/>
                <a:ea typeface="Arial" pitchFamily="34" charset="-122"/>
                <a:cs typeface="Arial" pitchFamily="34" charset="-120"/>
              </a:rPr>
              <a:t>Inputs</a:t>
            </a:r>
            <a:endParaRPr lang="en-US" sz="750" dirty="0"/>
          </a:p>
        </p:txBody>
      </p:sp>
      <p:sp>
        <p:nvSpPr>
          <p:cNvPr id="43" name="Text 35"/>
          <p:cNvSpPr txBox="1"/>
          <p:nvPr/>
        </p:nvSpPr>
        <p:spPr>
          <a:xfrm>
            <a:off x="2240280" y="3767328"/>
            <a:ext cx="457200" cy="498348"/>
          </a:xfrm>
          <a:prstGeom prst="rect">
            <a:avLst/>
          </a:prstGeom>
          <a:noFill/>
          <a:ln/>
        </p:spPr>
        <p:txBody>
          <a:bodyPr wrap="square" lIns="0" tIns="0" rIns="0" bIns="0" rtlCol="0" anchor="ctr"/>
          <a:lstStyle/>
          <a:p>
            <a:pPr marL="0" indent="0">
              <a:buNone/>
            </a:pPr>
            <a:r>
              <a:rPr lang="en-US" sz="750" dirty="0">
                <a:solidFill>
                  <a:srgbClr val="5A5A5A"/>
                </a:solidFill>
                <a:latin typeface="Arial" pitchFamily="34" charset="0"/>
                <a:ea typeface="Arial" pitchFamily="34" charset="-122"/>
                <a:cs typeface="Arial" pitchFamily="34" charset="-120"/>
              </a:rPr>
              <a:t>Stages</a:t>
            </a:r>
            <a:endParaRPr lang="en-US" sz="750" dirty="0"/>
          </a:p>
        </p:txBody>
      </p:sp>
      <p:sp>
        <p:nvSpPr>
          <p:cNvPr id="44" name="Shape 36"/>
          <p:cNvSpPr/>
          <p:nvPr/>
        </p:nvSpPr>
        <p:spPr>
          <a:xfrm>
            <a:off x="2697480" y="3319272"/>
            <a:ext cx="1359408" cy="384048"/>
          </a:xfrm>
          <a:prstGeom prst="rect">
            <a:avLst/>
          </a:prstGeom>
          <a:solidFill>
            <a:srgbClr val="F3EBFF"/>
          </a:solidFill>
          <a:ln w="12700">
            <a:solidFill>
              <a:srgbClr val="F3EBFF"/>
            </a:solidFill>
            <a:prstDash val="solid"/>
          </a:ln>
        </p:spPr>
      </p:sp>
      <p:sp>
        <p:nvSpPr>
          <p:cNvPr id="45" name="Text 37"/>
          <p:cNvSpPr txBox="1"/>
          <p:nvPr/>
        </p:nvSpPr>
        <p:spPr>
          <a:xfrm>
            <a:off x="2715768" y="3319272"/>
            <a:ext cx="1322832" cy="384048"/>
          </a:xfrm>
          <a:prstGeom prst="rect">
            <a:avLst/>
          </a:prstGeom>
          <a:noFill/>
          <a:ln/>
        </p:spPr>
        <p:txBody>
          <a:bodyPr wrap="square" lIns="0" tIns="0" rIns="0" bIns="0" rtlCol="0" anchor="ctr"/>
          <a:lstStyle/>
          <a:p>
            <a:pPr marL="0" indent="0" algn="ctr">
              <a:buNone/>
            </a:pPr>
            <a:r>
              <a:rPr lang="en-US" sz="850" b="1" dirty="0">
                <a:solidFill>
                  <a:srgbClr val="000000"/>
                </a:solidFill>
                <a:latin typeface="Arial" pitchFamily="34" charset="0"/>
                <a:ea typeface="Arial" pitchFamily="34" charset="-122"/>
                <a:cs typeface="Arial" pitchFamily="34" charset="-120"/>
              </a:rPr>
              <a:t>Project docs</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knowledge graph</a:t>
            </a:r>
            <a:endParaRPr lang="en-US" sz="850" dirty="0"/>
          </a:p>
        </p:txBody>
      </p:sp>
      <p:sp>
        <p:nvSpPr>
          <p:cNvPr id="46" name="Shape 38"/>
          <p:cNvSpPr/>
          <p:nvPr/>
        </p:nvSpPr>
        <p:spPr>
          <a:xfrm>
            <a:off x="4111752" y="3319272"/>
            <a:ext cx="1359408" cy="384048"/>
          </a:xfrm>
          <a:prstGeom prst="rect">
            <a:avLst/>
          </a:prstGeom>
          <a:solidFill>
            <a:srgbClr val="F3EBFF"/>
          </a:solidFill>
          <a:ln w="12700">
            <a:solidFill>
              <a:srgbClr val="F3EBFF"/>
            </a:solidFill>
            <a:prstDash val="solid"/>
          </a:ln>
        </p:spPr>
      </p:sp>
      <p:sp>
        <p:nvSpPr>
          <p:cNvPr id="47" name="Text 39"/>
          <p:cNvSpPr txBox="1"/>
          <p:nvPr/>
        </p:nvSpPr>
        <p:spPr>
          <a:xfrm>
            <a:off x="4130040" y="3319272"/>
            <a:ext cx="1322832" cy="384048"/>
          </a:xfrm>
          <a:prstGeom prst="rect">
            <a:avLst/>
          </a:prstGeom>
          <a:noFill/>
          <a:ln/>
        </p:spPr>
        <p:txBody>
          <a:bodyPr wrap="square" lIns="0" tIns="0" rIns="0" bIns="0" rtlCol="0" anchor="ctr"/>
          <a:lstStyle/>
          <a:p>
            <a:pPr marL="0" indent="0" algn="ctr">
              <a:buNone/>
            </a:pPr>
            <a:r>
              <a:rPr lang="en-US" sz="850" b="1" dirty="0">
                <a:solidFill>
                  <a:srgbClr val="000000"/>
                </a:solidFill>
                <a:latin typeface="Arial" pitchFamily="34" charset="0"/>
                <a:ea typeface="Arial" pitchFamily="34" charset="-122"/>
                <a:cs typeface="Arial" pitchFamily="34" charset="-120"/>
              </a:rPr>
              <a:t>Code</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code graph</a:t>
            </a:r>
            <a:endParaRPr lang="en-US" sz="850" dirty="0"/>
          </a:p>
        </p:txBody>
      </p:sp>
      <p:sp>
        <p:nvSpPr>
          <p:cNvPr id="48" name="Shape 40"/>
          <p:cNvSpPr/>
          <p:nvPr/>
        </p:nvSpPr>
        <p:spPr>
          <a:xfrm>
            <a:off x="5526024" y="3319272"/>
            <a:ext cx="1359408" cy="384048"/>
          </a:xfrm>
          <a:prstGeom prst="rect">
            <a:avLst/>
          </a:prstGeom>
          <a:solidFill>
            <a:srgbClr val="FFFFFF"/>
          </a:solidFill>
          <a:ln w="12700">
            <a:solidFill>
              <a:srgbClr val="A100FF"/>
            </a:solidFill>
            <a:prstDash val="solid"/>
          </a:ln>
        </p:spPr>
      </p:sp>
      <p:sp>
        <p:nvSpPr>
          <p:cNvPr id="49" name="Text 41"/>
          <p:cNvSpPr txBox="1"/>
          <p:nvPr/>
        </p:nvSpPr>
        <p:spPr>
          <a:xfrm>
            <a:off x="5544312" y="3319272"/>
            <a:ext cx="1322832" cy="384048"/>
          </a:xfrm>
          <a:prstGeom prst="rect">
            <a:avLst/>
          </a:prstGeom>
          <a:noFill/>
          <a:ln/>
        </p:spPr>
        <p:txBody>
          <a:bodyPr wrap="square" lIns="0" tIns="0" rIns="0" bIns="0" rtlCol="0" anchor="ctr"/>
          <a:lstStyle/>
          <a:p>
            <a:pPr marL="0" indent="0" algn="ctr">
              <a:buNone/>
            </a:pPr>
            <a:r>
              <a:rPr lang="en-US" sz="850" b="1" dirty="0">
                <a:solidFill>
                  <a:srgbClr val="7500C0"/>
                </a:solidFill>
                <a:latin typeface="Arial" pitchFamily="34" charset="0"/>
                <a:ea typeface="Arial" pitchFamily="34" charset="-122"/>
                <a:cs typeface="Arial" pitchFamily="34" charset="-120"/>
              </a:rPr>
              <a:t>Bug</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from ticket</a:t>
            </a:r>
            <a:endParaRPr lang="en-US" sz="850" dirty="0"/>
          </a:p>
        </p:txBody>
      </p:sp>
      <p:sp>
        <p:nvSpPr>
          <p:cNvPr id="50" name="Shape 42"/>
          <p:cNvSpPr/>
          <p:nvPr/>
        </p:nvSpPr>
        <p:spPr>
          <a:xfrm>
            <a:off x="2697480" y="3767328"/>
            <a:ext cx="480713" cy="498348"/>
          </a:xfrm>
          <a:prstGeom prst="rect">
            <a:avLst/>
          </a:prstGeom>
          <a:solidFill>
            <a:srgbClr val="7500C0"/>
          </a:solidFill>
          <a:ln w="12700">
            <a:solidFill>
              <a:srgbClr val="7500C0"/>
            </a:solidFill>
            <a:prstDash val="solid"/>
          </a:ln>
        </p:spPr>
      </p:sp>
      <p:sp>
        <p:nvSpPr>
          <p:cNvPr id="51" name="Text 43"/>
          <p:cNvSpPr txBox="1"/>
          <p:nvPr/>
        </p:nvSpPr>
        <p:spPr>
          <a:xfrm>
            <a:off x="2715768"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Pre-checks</a:t>
            </a:r>
            <a:endParaRPr lang="en-US" sz="750" dirty="0"/>
          </a:p>
        </p:txBody>
      </p:sp>
      <p:sp>
        <p:nvSpPr>
          <p:cNvPr id="52" name="Shape 44"/>
          <p:cNvSpPr/>
          <p:nvPr/>
        </p:nvSpPr>
        <p:spPr>
          <a:xfrm>
            <a:off x="3196481" y="4016502"/>
            <a:ext cx="100584" cy="0"/>
          </a:xfrm>
          <a:prstGeom prst="line">
            <a:avLst/>
          </a:prstGeom>
          <a:noFill/>
          <a:ln w="15875">
            <a:solidFill>
              <a:srgbClr val="A100FF"/>
            </a:solidFill>
            <a:prstDash val="solid"/>
            <a:tailEnd type="triangle"/>
          </a:ln>
        </p:spPr>
      </p:sp>
      <p:sp>
        <p:nvSpPr>
          <p:cNvPr id="53" name="Shape 45"/>
          <p:cNvSpPr/>
          <p:nvPr/>
        </p:nvSpPr>
        <p:spPr>
          <a:xfrm>
            <a:off x="3315353" y="3767328"/>
            <a:ext cx="480713" cy="498348"/>
          </a:xfrm>
          <a:prstGeom prst="rect">
            <a:avLst/>
          </a:prstGeom>
          <a:solidFill>
            <a:srgbClr val="7500C0"/>
          </a:solidFill>
          <a:ln w="12700">
            <a:solidFill>
              <a:srgbClr val="7500C0"/>
            </a:solidFill>
            <a:prstDash val="solid"/>
          </a:ln>
        </p:spPr>
      </p:sp>
      <p:sp>
        <p:nvSpPr>
          <p:cNvPr id="54" name="Text 46"/>
          <p:cNvSpPr txBox="1"/>
          <p:nvPr/>
        </p:nvSpPr>
        <p:spPr>
          <a:xfrm>
            <a:off x="3333641"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Analysis</a:t>
            </a:r>
            <a:endParaRPr lang="en-US" sz="750" dirty="0"/>
          </a:p>
        </p:txBody>
      </p:sp>
      <p:sp>
        <p:nvSpPr>
          <p:cNvPr id="55" name="Shape 47"/>
          <p:cNvSpPr/>
          <p:nvPr/>
        </p:nvSpPr>
        <p:spPr>
          <a:xfrm>
            <a:off x="3814354" y="4016502"/>
            <a:ext cx="100584" cy="0"/>
          </a:xfrm>
          <a:prstGeom prst="line">
            <a:avLst/>
          </a:prstGeom>
          <a:noFill/>
          <a:ln w="15875">
            <a:solidFill>
              <a:srgbClr val="A100FF"/>
            </a:solidFill>
            <a:prstDash val="solid"/>
            <a:tailEnd type="triangle"/>
          </a:ln>
        </p:spPr>
      </p:sp>
      <p:sp>
        <p:nvSpPr>
          <p:cNvPr id="56" name="Shape 48"/>
          <p:cNvSpPr/>
          <p:nvPr/>
        </p:nvSpPr>
        <p:spPr>
          <a:xfrm>
            <a:off x="3933226" y="3767328"/>
            <a:ext cx="480713" cy="498348"/>
          </a:xfrm>
          <a:prstGeom prst="rect">
            <a:avLst/>
          </a:prstGeom>
          <a:solidFill>
            <a:srgbClr val="FFFFFF"/>
          </a:solidFill>
          <a:ln w="12700">
            <a:solidFill>
              <a:srgbClr val="7500C0"/>
            </a:solidFill>
            <a:prstDash val="solid"/>
          </a:ln>
        </p:spPr>
      </p:sp>
      <p:pic>
        <p:nvPicPr>
          <p:cNvPr id="57" name="Image 6" descr="icon-person.png"/>
          <p:cNvPicPr>
            <a:picLocks noChangeAspect="1"/>
          </p:cNvPicPr>
          <p:nvPr/>
        </p:nvPicPr>
        <p:blipFill>
          <a:blip r:embed="rId9"/>
          <a:stretch>
            <a:fillRect/>
          </a:stretch>
        </p:blipFill>
        <p:spPr>
          <a:xfrm>
            <a:off x="4100431" y="3813048"/>
            <a:ext cx="146304" cy="146304"/>
          </a:xfrm>
          <a:prstGeom prst="rect">
            <a:avLst/>
          </a:prstGeom>
        </p:spPr>
      </p:pic>
      <p:sp>
        <p:nvSpPr>
          <p:cNvPr id="58" name="Text 49"/>
          <p:cNvSpPr txBox="1"/>
          <p:nvPr/>
        </p:nvSpPr>
        <p:spPr>
          <a:xfrm>
            <a:off x="3951514" y="3968496"/>
            <a:ext cx="444137" cy="269748"/>
          </a:xfrm>
          <a:prstGeom prst="rect">
            <a:avLst/>
          </a:prstGeom>
          <a:noFill/>
          <a:ln/>
        </p:spPr>
        <p:txBody>
          <a:bodyPr wrap="square" lIns="0" tIns="0" rIns="0" bIns="0" rtlCol="0" anchor="ctr"/>
          <a:lstStyle/>
          <a:p>
            <a:pPr marL="0" indent="0" algn="ctr">
              <a:buNone/>
            </a:pPr>
            <a:r>
              <a:rPr lang="en-US" sz="750" b="1" dirty="0">
                <a:solidFill>
                  <a:srgbClr val="7500C0"/>
                </a:solidFill>
                <a:latin typeface="Arial" pitchFamily="34" charset="0"/>
                <a:ea typeface="Arial" pitchFamily="34" charset="-122"/>
                <a:cs typeface="Arial" pitchFamily="34" charset="-120"/>
              </a:rPr>
              <a:t>Approve gaps</a:t>
            </a:r>
            <a:endParaRPr lang="en-US" sz="750" dirty="0"/>
          </a:p>
        </p:txBody>
      </p:sp>
      <p:sp>
        <p:nvSpPr>
          <p:cNvPr id="59" name="Shape 50"/>
          <p:cNvSpPr/>
          <p:nvPr/>
        </p:nvSpPr>
        <p:spPr>
          <a:xfrm>
            <a:off x="4432227" y="4016502"/>
            <a:ext cx="100584" cy="0"/>
          </a:xfrm>
          <a:prstGeom prst="line">
            <a:avLst/>
          </a:prstGeom>
          <a:noFill/>
          <a:ln w="15875">
            <a:solidFill>
              <a:srgbClr val="A100FF"/>
            </a:solidFill>
            <a:prstDash val="solid"/>
            <a:tailEnd type="triangle"/>
          </a:ln>
        </p:spPr>
      </p:sp>
      <p:sp>
        <p:nvSpPr>
          <p:cNvPr id="60" name="Shape 51"/>
          <p:cNvSpPr/>
          <p:nvPr/>
        </p:nvSpPr>
        <p:spPr>
          <a:xfrm>
            <a:off x="4551099" y="3767328"/>
            <a:ext cx="480713" cy="498348"/>
          </a:xfrm>
          <a:prstGeom prst="rect">
            <a:avLst/>
          </a:prstGeom>
          <a:solidFill>
            <a:srgbClr val="7500C0"/>
          </a:solidFill>
          <a:ln w="12700">
            <a:solidFill>
              <a:srgbClr val="7500C0"/>
            </a:solidFill>
            <a:prstDash val="solid"/>
          </a:ln>
        </p:spPr>
      </p:sp>
      <p:sp>
        <p:nvSpPr>
          <p:cNvPr id="61" name="Text 52"/>
          <p:cNvSpPr txBox="1"/>
          <p:nvPr/>
        </p:nvSpPr>
        <p:spPr>
          <a:xfrm>
            <a:off x="4569387"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Agents</a:t>
            </a:r>
            <a:endParaRPr lang="en-US" sz="750" dirty="0"/>
          </a:p>
        </p:txBody>
      </p:sp>
      <p:sp>
        <p:nvSpPr>
          <p:cNvPr id="62" name="Shape 53"/>
          <p:cNvSpPr/>
          <p:nvPr/>
        </p:nvSpPr>
        <p:spPr>
          <a:xfrm>
            <a:off x="5050101" y="4016502"/>
            <a:ext cx="100584" cy="0"/>
          </a:xfrm>
          <a:prstGeom prst="line">
            <a:avLst/>
          </a:prstGeom>
          <a:noFill/>
          <a:ln w="15875">
            <a:solidFill>
              <a:srgbClr val="A100FF"/>
            </a:solidFill>
            <a:prstDash val="solid"/>
            <a:tailEnd type="triangle"/>
          </a:ln>
        </p:spPr>
      </p:sp>
      <p:sp>
        <p:nvSpPr>
          <p:cNvPr id="63" name="Shape 54"/>
          <p:cNvSpPr/>
          <p:nvPr/>
        </p:nvSpPr>
        <p:spPr>
          <a:xfrm>
            <a:off x="5168973" y="3767328"/>
            <a:ext cx="480713" cy="498348"/>
          </a:xfrm>
          <a:prstGeom prst="rect">
            <a:avLst/>
          </a:prstGeom>
          <a:solidFill>
            <a:srgbClr val="7500C0"/>
          </a:solidFill>
          <a:ln w="12700">
            <a:solidFill>
              <a:srgbClr val="7500C0"/>
            </a:solidFill>
            <a:prstDash val="solid"/>
          </a:ln>
        </p:spPr>
      </p:sp>
      <p:sp>
        <p:nvSpPr>
          <p:cNvPr id="64" name="Text 55"/>
          <p:cNvSpPr txBox="1"/>
          <p:nvPr/>
        </p:nvSpPr>
        <p:spPr>
          <a:xfrm>
            <a:off x="5187261"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Pull request</a:t>
            </a:r>
            <a:endParaRPr lang="en-US" sz="750" dirty="0"/>
          </a:p>
        </p:txBody>
      </p:sp>
      <p:sp>
        <p:nvSpPr>
          <p:cNvPr id="65" name="Shape 56"/>
          <p:cNvSpPr/>
          <p:nvPr/>
        </p:nvSpPr>
        <p:spPr>
          <a:xfrm>
            <a:off x="5667974" y="4016502"/>
            <a:ext cx="100584" cy="0"/>
          </a:xfrm>
          <a:prstGeom prst="line">
            <a:avLst/>
          </a:prstGeom>
          <a:noFill/>
          <a:ln w="15875">
            <a:solidFill>
              <a:srgbClr val="A100FF"/>
            </a:solidFill>
            <a:prstDash val="solid"/>
            <a:tailEnd type="triangle"/>
          </a:ln>
        </p:spPr>
      </p:sp>
      <p:sp>
        <p:nvSpPr>
          <p:cNvPr id="66" name="Shape 57"/>
          <p:cNvSpPr/>
          <p:nvPr/>
        </p:nvSpPr>
        <p:spPr>
          <a:xfrm>
            <a:off x="5786846" y="3767328"/>
            <a:ext cx="480713" cy="498348"/>
          </a:xfrm>
          <a:prstGeom prst="rect">
            <a:avLst/>
          </a:prstGeom>
          <a:solidFill>
            <a:srgbClr val="7500C0"/>
          </a:solidFill>
          <a:ln w="12700">
            <a:solidFill>
              <a:srgbClr val="7500C0"/>
            </a:solidFill>
            <a:prstDash val="solid"/>
          </a:ln>
        </p:spPr>
      </p:sp>
      <p:sp>
        <p:nvSpPr>
          <p:cNvPr id="67" name="Text 58"/>
          <p:cNvSpPr txBox="1"/>
          <p:nvPr/>
        </p:nvSpPr>
        <p:spPr>
          <a:xfrm>
            <a:off x="5805134"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Tests</a:t>
            </a:r>
            <a:endParaRPr lang="en-US" sz="750" dirty="0"/>
          </a:p>
        </p:txBody>
      </p:sp>
      <p:sp>
        <p:nvSpPr>
          <p:cNvPr id="68" name="Shape 59"/>
          <p:cNvSpPr/>
          <p:nvPr/>
        </p:nvSpPr>
        <p:spPr>
          <a:xfrm>
            <a:off x="6285847" y="4016502"/>
            <a:ext cx="100584" cy="0"/>
          </a:xfrm>
          <a:prstGeom prst="line">
            <a:avLst/>
          </a:prstGeom>
          <a:noFill/>
          <a:ln w="15875">
            <a:solidFill>
              <a:srgbClr val="A100FF"/>
            </a:solidFill>
            <a:prstDash val="solid"/>
            <a:tailEnd type="triangle"/>
          </a:ln>
        </p:spPr>
      </p:sp>
      <p:sp>
        <p:nvSpPr>
          <p:cNvPr id="69" name="Shape 60"/>
          <p:cNvSpPr/>
          <p:nvPr/>
        </p:nvSpPr>
        <p:spPr>
          <a:xfrm>
            <a:off x="6404719" y="3767328"/>
            <a:ext cx="480713" cy="498348"/>
          </a:xfrm>
          <a:prstGeom prst="rect">
            <a:avLst/>
          </a:prstGeom>
          <a:solidFill>
            <a:srgbClr val="A100FF"/>
          </a:solidFill>
          <a:ln w="12700">
            <a:solidFill>
              <a:srgbClr val="A100FF"/>
            </a:solidFill>
            <a:prstDash val="solid"/>
          </a:ln>
        </p:spPr>
      </p:sp>
      <p:sp>
        <p:nvSpPr>
          <p:cNvPr id="70" name="Text 61"/>
          <p:cNvSpPr txBox="1"/>
          <p:nvPr/>
        </p:nvSpPr>
        <p:spPr>
          <a:xfrm>
            <a:off x="6423007" y="3767328"/>
            <a:ext cx="444137"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Re-sync</a:t>
            </a:r>
            <a:endParaRPr lang="en-US" sz="750" dirty="0"/>
          </a:p>
        </p:txBody>
      </p:sp>
      <p:sp>
        <p:nvSpPr>
          <p:cNvPr id="71" name="Shape 62"/>
          <p:cNvSpPr/>
          <p:nvPr/>
        </p:nvSpPr>
        <p:spPr>
          <a:xfrm>
            <a:off x="1325880" y="4421124"/>
            <a:ext cx="5623560" cy="1074420"/>
          </a:xfrm>
          <a:prstGeom prst="rect">
            <a:avLst/>
          </a:prstGeom>
          <a:solidFill>
            <a:srgbClr val="FFFFFF"/>
          </a:solidFill>
          <a:ln w="12700">
            <a:solidFill>
              <a:srgbClr val="D9C2FF"/>
            </a:solidFill>
            <a:prstDash val="solid"/>
          </a:ln>
        </p:spPr>
      </p:sp>
      <p:sp>
        <p:nvSpPr>
          <p:cNvPr id="72" name="Shape 63"/>
          <p:cNvSpPr/>
          <p:nvPr/>
        </p:nvSpPr>
        <p:spPr>
          <a:xfrm>
            <a:off x="1325880" y="4421124"/>
            <a:ext cx="822960" cy="1074420"/>
          </a:xfrm>
          <a:prstGeom prst="rect">
            <a:avLst/>
          </a:prstGeom>
          <a:solidFill>
            <a:srgbClr val="7500C0"/>
          </a:solidFill>
          <a:ln w="12700">
            <a:solidFill>
              <a:srgbClr val="7500C0"/>
            </a:solidFill>
            <a:prstDash val="solid"/>
          </a:ln>
        </p:spPr>
      </p:sp>
      <p:sp>
        <p:nvSpPr>
          <p:cNvPr id="73" name="Text 64"/>
          <p:cNvSpPr txBox="1"/>
          <p:nvPr/>
        </p:nvSpPr>
        <p:spPr>
          <a:xfrm>
            <a:off x="1353312" y="4421124"/>
            <a:ext cx="768096" cy="1074420"/>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ServiceOps</a:t>
            </a:r>
            <a:endParaRPr lang="en-US" sz="950" dirty="0"/>
          </a:p>
        </p:txBody>
      </p:sp>
      <p:sp>
        <p:nvSpPr>
          <p:cNvPr id="74" name="Text 65"/>
          <p:cNvSpPr txBox="1"/>
          <p:nvPr/>
        </p:nvSpPr>
        <p:spPr>
          <a:xfrm>
            <a:off x="2240280" y="4485132"/>
            <a:ext cx="457200" cy="384048"/>
          </a:xfrm>
          <a:prstGeom prst="rect">
            <a:avLst/>
          </a:prstGeom>
          <a:noFill/>
          <a:ln/>
        </p:spPr>
        <p:txBody>
          <a:bodyPr wrap="square" lIns="0" tIns="0" rIns="0" bIns="0" rtlCol="0" anchor="ctr"/>
          <a:lstStyle/>
          <a:p>
            <a:pPr marL="0" indent="0">
              <a:buNone/>
            </a:pPr>
            <a:r>
              <a:rPr lang="en-US" sz="750" dirty="0">
                <a:solidFill>
                  <a:srgbClr val="5A5A5A"/>
                </a:solidFill>
                <a:latin typeface="Arial" pitchFamily="34" charset="0"/>
                <a:ea typeface="Arial" pitchFamily="34" charset="-122"/>
                <a:cs typeface="Arial" pitchFamily="34" charset="-120"/>
              </a:rPr>
              <a:t>Inputs</a:t>
            </a:r>
            <a:endParaRPr lang="en-US" sz="750" dirty="0"/>
          </a:p>
        </p:txBody>
      </p:sp>
      <p:sp>
        <p:nvSpPr>
          <p:cNvPr id="75" name="Text 66"/>
          <p:cNvSpPr txBox="1"/>
          <p:nvPr/>
        </p:nvSpPr>
        <p:spPr>
          <a:xfrm>
            <a:off x="2240280" y="4933188"/>
            <a:ext cx="457200" cy="498348"/>
          </a:xfrm>
          <a:prstGeom prst="rect">
            <a:avLst/>
          </a:prstGeom>
          <a:noFill/>
          <a:ln/>
        </p:spPr>
        <p:txBody>
          <a:bodyPr wrap="square" lIns="0" tIns="0" rIns="0" bIns="0" rtlCol="0" anchor="ctr"/>
          <a:lstStyle/>
          <a:p>
            <a:pPr marL="0" indent="0">
              <a:buNone/>
            </a:pPr>
            <a:r>
              <a:rPr lang="en-US" sz="750" dirty="0">
                <a:solidFill>
                  <a:srgbClr val="5A5A5A"/>
                </a:solidFill>
                <a:latin typeface="Arial" pitchFamily="34" charset="0"/>
                <a:ea typeface="Arial" pitchFamily="34" charset="-122"/>
                <a:cs typeface="Arial" pitchFamily="34" charset="-120"/>
              </a:rPr>
              <a:t>Stages</a:t>
            </a:r>
            <a:endParaRPr lang="en-US" sz="750" dirty="0"/>
          </a:p>
        </p:txBody>
      </p:sp>
      <p:sp>
        <p:nvSpPr>
          <p:cNvPr id="76" name="Shape 67"/>
          <p:cNvSpPr/>
          <p:nvPr/>
        </p:nvSpPr>
        <p:spPr>
          <a:xfrm>
            <a:off x="2697480" y="4485132"/>
            <a:ext cx="1005840" cy="384048"/>
          </a:xfrm>
          <a:prstGeom prst="rect">
            <a:avLst/>
          </a:prstGeom>
          <a:solidFill>
            <a:srgbClr val="F3EBFF"/>
          </a:solidFill>
          <a:ln w="12700">
            <a:solidFill>
              <a:srgbClr val="F3EBFF"/>
            </a:solidFill>
            <a:prstDash val="solid"/>
          </a:ln>
        </p:spPr>
      </p:sp>
      <p:sp>
        <p:nvSpPr>
          <p:cNvPr id="77" name="Text 68"/>
          <p:cNvSpPr txBox="1"/>
          <p:nvPr/>
        </p:nvSpPr>
        <p:spPr>
          <a:xfrm>
            <a:off x="2715768" y="4485132"/>
            <a:ext cx="969264" cy="384048"/>
          </a:xfrm>
          <a:prstGeom prst="rect">
            <a:avLst/>
          </a:prstGeom>
          <a:noFill/>
          <a:ln/>
        </p:spPr>
        <p:txBody>
          <a:bodyPr wrap="square" lIns="0" tIns="0" rIns="0" bIns="0" rtlCol="0" anchor="ctr"/>
          <a:lstStyle/>
          <a:p>
            <a:pPr marL="0" indent="0" algn="ctr">
              <a:buNone/>
            </a:pPr>
            <a:r>
              <a:rPr lang="en-US" sz="850" b="1" dirty="0">
                <a:solidFill>
                  <a:srgbClr val="000000"/>
                </a:solidFill>
                <a:latin typeface="Arial" pitchFamily="34" charset="0"/>
                <a:ea typeface="Arial" pitchFamily="34" charset="-122"/>
                <a:cs typeface="Arial" pitchFamily="34" charset="-120"/>
              </a:rPr>
              <a:t>Knowledge</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app graph</a:t>
            </a:r>
            <a:endParaRPr lang="en-US" sz="850" dirty="0"/>
          </a:p>
        </p:txBody>
      </p:sp>
      <p:sp>
        <p:nvSpPr>
          <p:cNvPr id="78" name="Shape 69"/>
          <p:cNvSpPr/>
          <p:nvPr/>
        </p:nvSpPr>
        <p:spPr>
          <a:xfrm>
            <a:off x="3758184" y="4485132"/>
            <a:ext cx="1005840" cy="384048"/>
          </a:xfrm>
          <a:prstGeom prst="rect">
            <a:avLst/>
          </a:prstGeom>
          <a:solidFill>
            <a:srgbClr val="F3EBFF"/>
          </a:solidFill>
          <a:ln w="12700">
            <a:solidFill>
              <a:srgbClr val="F3EBFF"/>
            </a:solidFill>
            <a:prstDash val="solid"/>
          </a:ln>
        </p:spPr>
      </p:sp>
      <p:sp>
        <p:nvSpPr>
          <p:cNvPr id="79" name="Text 70"/>
          <p:cNvSpPr txBox="1"/>
          <p:nvPr/>
        </p:nvSpPr>
        <p:spPr>
          <a:xfrm>
            <a:off x="3776472" y="4485132"/>
            <a:ext cx="969264" cy="384048"/>
          </a:xfrm>
          <a:prstGeom prst="rect">
            <a:avLst/>
          </a:prstGeom>
          <a:noFill/>
          <a:ln/>
        </p:spPr>
        <p:txBody>
          <a:bodyPr wrap="square" lIns="0" tIns="0" rIns="0" bIns="0" rtlCol="0" anchor="ctr"/>
          <a:lstStyle/>
          <a:p>
            <a:pPr marL="0" indent="0" algn="ctr">
              <a:buNone/>
            </a:pPr>
            <a:r>
              <a:rPr lang="en-US" sz="850" b="1" dirty="0">
                <a:solidFill>
                  <a:srgbClr val="000000"/>
                </a:solidFill>
                <a:latin typeface="Arial" pitchFamily="34" charset="0"/>
                <a:ea typeface="Arial" pitchFamily="34" charset="-122"/>
                <a:cs typeface="Arial" pitchFamily="34" charset="-120"/>
              </a:rPr>
              <a:t>History</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past incidents</a:t>
            </a:r>
            <a:endParaRPr lang="en-US" sz="850" dirty="0"/>
          </a:p>
        </p:txBody>
      </p:sp>
      <p:sp>
        <p:nvSpPr>
          <p:cNvPr id="80" name="Shape 71"/>
          <p:cNvSpPr/>
          <p:nvPr/>
        </p:nvSpPr>
        <p:spPr>
          <a:xfrm>
            <a:off x="4818888" y="4485132"/>
            <a:ext cx="1005840" cy="384048"/>
          </a:xfrm>
          <a:prstGeom prst="rect">
            <a:avLst/>
          </a:prstGeom>
          <a:solidFill>
            <a:srgbClr val="F3EBFF"/>
          </a:solidFill>
          <a:ln w="12700">
            <a:solidFill>
              <a:srgbClr val="F3EBFF"/>
            </a:solidFill>
            <a:prstDash val="solid"/>
          </a:ln>
        </p:spPr>
      </p:sp>
      <p:sp>
        <p:nvSpPr>
          <p:cNvPr id="81" name="Text 72"/>
          <p:cNvSpPr txBox="1"/>
          <p:nvPr/>
        </p:nvSpPr>
        <p:spPr>
          <a:xfrm>
            <a:off x="4837176" y="4485132"/>
            <a:ext cx="969264" cy="384048"/>
          </a:xfrm>
          <a:prstGeom prst="rect">
            <a:avLst/>
          </a:prstGeom>
          <a:noFill/>
          <a:ln/>
        </p:spPr>
        <p:txBody>
          <a:bodyPr wrap="square" lIns="0" tIns="0" rIns="0" bIns="0" rtlCol="0" anchor="ctr"/>
          <a:lstStyle/>
          <a:p>
            <a:pPr marL="0" indent="0" algn="ctr">
              <a:buNone/>
            </a:pPr>
            <a:r>
              <a:rPr lang="en-US" sz="850" b="1" dirty="0">
                <a:solidFill>
                  <a:srgbClr val="000000"/>
                </a:solidFill>
                <a:latin typeface="Arial" pitchFamily="34" charset="0"/>
                <a:ea typeface="Arial" pitchFamily="34" charset="-122"/>
                <a:cs typeface="Arial" pitchFamily="34" charset="-120"/>
              </a:rPr>
              <a:t>Changes</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same CI</a:t>
            </a:r>
            <a:endParaRPr lang="en-US" sz="850" dirty="0"/>
          </a:p>
        </p:txBody>
      </p:sp>
      <p:sp>
        <p:nvSpPr>
          <p:cNvPr id="82" name="Shape 73"/>
          <p:cNvSpPr/>
          <p:nvPr/>
        </p:nvSpPr>
        <p:spPr>
          <a:xfrm>
            <a:off x="5879592" y="4485132"/>
            <a:ext cx="1005840" cy="384048"/>
          </a:xfrm>
          <a:prstGeom prst="rect">
            <a:avLst/>
          </a:prstGeom>
          <a:solidFill>
            <a:srgbClr val="FFFFFF"/>
          </a:solidFill>
          <a:ln w="12700">
            <a:solidFill>
              <a:srgbClr val="A100FF"/>
            </a:solidFill>
            <a:prstDash val="solid"/>
          </a:ln>
        </p:spPr>
      </p:sp>
      <p:sp>
        <p:nvSpPr>
          <p:cNvPr id="83" name="Text 74"/>
          <p:cNvSpPr txBox="1"/>
          <p:nvPr/>
        </p:nvSpPr>
        <p:spPr>
          <a:xfrm>
            <a:off x="5897880" y="4485132"/>
            <a:ext cx="969264" cy="384048"/>
          </a:xfrm>
          <a:prstGeom prst="rect">
            <a:avLst/>
          </a:prstGeom>
          <a:noFill/>
          <a:ln/>
        </p:spPr>
        <p:txBody>
          <a:bodyPr wrap="square" lIns="0" tIns="0" rIns="0" bIns="0" rtlCol="0" anchor="ctr"/>
          <a:lstStyle/>
          <a:p>
            <a:pPr marL="0" indent="0" algn="ctr">
              <a:buNone/>
            </a:pPr>
            <a:r>
              <a:rPr lang="en-US" sz="850" b="1" dirty="0">
                <a:solidFill>
                  <a:srgbClr val="7500C0"/>
                </a:solidFill>
                <a:latin typeface="Arial" pitchFamily="34" charset="0"/>
                <a:ea typeface="Arial" pitchFamily="34" charset="-122"/>
                <a:cs typeface="Arial" pitchFamily="34" charset="-120"/>
              </a:rPr>
              <a:t>Incident</a:t>
            </a:r>
            <a:endParaRPr lang="en-US" sz="850" dirty="0"/>
          </a:p>
          <a:p>
            <a:pPr marL="0" indent="0" algn="ctr">
              <a:buNone/>
            </a:pPr>
            <a:r>
              <a:rPr lang="en-US" sz="700" dirty="0">
                <a:solidFill>
                  <a:srgbClr val="5A5A5A"/>
                </a:solidFill>
                <a:latin typeface="Arial" pitchFamily="34" charset="0"/>
                <a:ea typeface="Arial" pitchFamily="34" charset="-122"/>
                <a:cs typeface="Arial" pitchFamily="34" charset="-120"/>
              </a:rPr>
              <a:t>new ticket</a:t>
            </a:r>
            <a:endParaRPr lang="en-US" sz="850" dirty="0"/>
          </a:p>
        </p:txBody>
      </p:sp>
      <p:sp>
        <p:nvSpPr>
          <p:cNvPr id="84" name="Shape 75"/>
          <p:cNvSpPr/>
          <p:nvPr/>
        </p:nvSpPr>
        <p:spPr>
          <a:xfrm>
            <a:off x="2697480" y="4933188"/>
            <a:ext cx="727862" cy="498348"/>
          </a:xfrm>
          <a:prstGeom prst="rect">
            <a:avLst/>
          </a:prstGeom>
          <a:solidFill>
            <a:srgbClr val="7500C0"/>
          </a:solidFill>
          <a:ln w="12700">
            <a:solidFill>
              <a:srgbClr val="7500C0"/>
            </a:solidFill>
            <a:prstDash val="solid"/>
          </a:ln>
        </p:spPr>
      </p:sp>
      <p:sp>
        <p:nvSpPr>
          <p:cNvPr id="85" name="Text 76"/>
          <p:cNvSpPr txBox="1"/>
          <p:nvPr/>
        </p:nvSpPr>
        <p:spPr>
          <a:xfrm>
            <a:off x="2715768" y="4933188"/>
            <a:ext cx="691286"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Evidence</a:t>
            </a:r>
            <a:endParaRPr lang="en-US" sz="750" dirty="0"/>
          </a:p>
        </p:txBody>
      </p:sp>
      <p:sp>
        <p:nvSpPr>
          <p:cNvPr id="86" name="Shape 77"/>
          <p:cNvSpPr/>
          <p:nvPr/>
        </p:nvSpPr>
        <p:spPr>
          <a:xfrm>
            <a:off x="3443630" y="5182362"/>
            <a:ext cx="100584" cy="0"/>
          </a:xfrm>
          <a:prstGeom prst="line">
            <a:avLst/>
          </a:prstGeom>
          <a:noFill/>
          <a:ln w="15875">
            <a:solidFill>
              <a:srgbClr val="A100FF"/>
            </a:solidFill>
            <a:prstDash val="solid"/>
            <a:tailEnd type="triangle"/>
          </a:ln>
        </p:spPr>
      </p:sp>
      <p:sp>
        <p:nvSpPr>
          <p:cNvPr id="87" name="Shape 78"/>
          <p:cNvSpPr/>
          <p:nvPr/>
        </p:nvSpPr>
        <p:spPr>
          <a:xfrm>
            <a:off x="3562502" y="4933188"/>
            <a:ext cx="727862" cy="498348"/>
          </a:xfrm>
          <a:prstGeom prst="rect">
            <a:avLst/>
          </a:prstGeom>
          <a:solidFill>
            <a:srgbClr val="7500C0"/>
          </a:solidFill>
          <a:ln w="12700">
            <a:solidFill>
              <a:srgbClr val="7500C0"/>
            </a:solidFill>
            <a:prstDash val="solid"/>
          </a:ln>
        </p:spPr>
      </p:sp>
      <p:sp>
        <p:nvSpPr>
          <p:cNvPr id="88" name="Text 79"/>
          <p:cNvSpPr txBox="1"/>
          <p:nvPr/>
        </p:nvSpPr>
        <p:spPr>
          <a:xfrm>
            <a:off x="3580790" y="4933188"/>
            <a:ext cx="691286"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Redact</a:t>
            </a:r>
            <a:endParaRPr lang="en-US" sz="750" dirty="0"/>
          </a:p>
        </p:txBody>
      </p:sp>
      <p:sp>
        <p:nvSpPr>
          <p:cNvPr id="89" name="Shape 80"/>
          <p:cNvSpPr/>
          <p:nvPr/>
        </p:nvSpPr>
        <p:spPr>
          <a:xfrm>
            <a:off x="4308653" y="5182362"/>
            <a:ext cx="100584" cy="0"/>
          </a:xfrm>
          <a:prstGeom prst="line">
            <a:avLst/>
          </a:prstGeom>
          <a:noFill/>
          <a:ln w="15875">
            <a:solidFill>
              <a:srgbClr val="A100FF"/>
            </a:solidFill>
            <a:prstDash val="solid"/>
            <a:tailEnd type="triangle"/>
          </a:ln>
        </p:spPr>
      </p:sp>
      <p:sp>
        <p:nvSpPr>
          <p:cNvPr id="90" name="Shape 81"/>
          <p:cNvSpPr/>
          <p:nvPr/>
        </p:nvSpPr>
        <p:spPr>
          <a:xfrm>
            <a:off x="4427525" y="4933188"/>
            <a:ext cx="727862" cy="498348"/>
          </a:xfrm>
          <a:prstGeom prst="rect">
            <a:avLst/>
          </a:prstGeom>
          <a:solidFill>
            <a:srgbClr val="7500C0"/>
          </a:solidFill>
          <a:ln w="12700">
            <a:solidFill>
              <a:srgbClr val="7500C0"/>
            </a:solidFill>
            <a:prstDash val="solid"/>
          </a:ln>
        </p:spPr>
      </p:sp>
      <p:sp>
        <p:nvSpPr>
          <p:cNvPr id="91" name="Text 82"/>
          <p:cNvSpPr txBox="1"/>
          <p:nvPr/>
        </p:nvSpPr>
        <p:spPr>
          <a:xfrm>
            <a:off x="4445813" y="4933188"/>
            <a:ext cx="691286"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Hypotheses</a:t>
            </a:r>
            <a:endParaRPr lang="en-US" sz="750" dirty="0"/>
          </a:p>
        </p:txBody>
      </p:sp>
      <p:sp>
        <p:nvSpPr>
          <p:cNvPr id="92" name="Shape 83"/>
          <p:cNvSpPr/>
          <p:nvPr/>
        </p:nvSpPr>
        <p:spPr>
          <a:xfrm>
            <a:off x="5173675" y="5182362"/>
            <a:ext cx="100584" cy="0"/>
          </a:xfrm>
          <a:prstGeom prst="line">
            <a:avLst/>
          </a:prstGeom>
          <a:noFill/>
          <a:ln w="15875">
            <a:solidFill>
              <a:srgbClr val="A100FF"/>
            </a:solidFill>
            <a:prstDash val="solid"/>
            <a:tailEnd type="triangle"/>
          </a:ln>
        </p:spPr>
      </p:sp>
      <p:sp>
        <p:nvSpPr>
          <p:cNvPr id="93" name="Shape 84"/>
          <p:cNvSpPr/>
          <p:nvPr/>
        </p:nvSpPr>
        <p:spPr>
          <a:xfrm>
            <a:off x="5292547" y="4933188"/>
            <a:ext cx="727862" cy="498348"/>
          </a:xfrm>
          <a:prstGeom prst="rect">
            <a:avLst/>
          </a:prstGeom>
          <a:solidFill>
            <a:srgbClr val="7500C0"/>
          </a:solidFill>
          <a:ln w="12700">
            <a:solidFill>
              <a:srgbClr val="7500C0"/>
            </a:solidFill>
            <a:prstDash val="solid"/>
          </a:ln>
        </p:spPr>
      </p:sp>
      <p:sp>
        <p:nvSpPr>
          <p:cNvPr id="94" name="Text 85"/>
          <p:cNvSpPr txBox="1"/>
          <p:nvPr/>
        </p:nvSpPr>
        <p:spPr>
          <a:xfrm>
            <a:off x="5310835" y="4933188"/>
            <a:ext cx="691286" cy="498348"/>
          </a:xfrm>
          <a:prstGeom prst="rect">
            <a:avLst/>
          </a:prstGeom>
          <a:noFill/>
          <a:ln/>
        </p:spPr>
        <p:txBody>
          <a:bodyPr wrap="square" lIns="0" tIns="0" rIns="0" bIns="0" rtlCol="0" anchor="ctr"/>
          <a:lstStyle/>
          <a:p>
            <a:pPr marL="0" indent="0" algn="ctr">
              <a:buNone/>
            </a:pPr>
            <a:r>
              <a:rPr lang="en-US" sz="750" b="1" dirty="0">
                <a:solidFill>
                  <a:srgbClr val="FFFFFF"/>
                </a:solidFill>
                <a:latin typeface="Arial" pitchFamily="34" charset="0"/>
                <a:ea typeface="Arial" pitchFamily="34" charset="-122"/>
                <a:cs typeface="Arial" pitchFamily="34" charset="-120"/>
              </a:rPr>
              <a:t>Verify &amp; score</a:t>
            </a:r>
            <a:endParaRPr lang="en-US" sz="750" dirty="0"/>
          </a:p>
        </p:txBody>
      </p:sp>
      <p:sp>
        <p:nvSpPr>
          <p:cNvPr id="95" name="Shape 86"/>
          <p:cNvSpPr/>
          <p:nvPr/>
        </p:nvSpPr>
        <p:spPr>
          <a:xfrm>
            <a:off x="6038698" y="5182362"/>
            <a:ext cx="100584" cy="0"/>
          </a:xfrm>
          <a:prstGeom prst="line">
            <a:avLst/>
          </a:prstGeom>
          <a:noFill/>
          <a:ln w="15875">
            <a:solidFill>
              <a:srgbClr val="A100FF"/>
            </a:solidFill>
            <a:prstDash val="solid"/>
            <a:tailEnd type="triangle"/>
          </a:ln>
        </p:spPr>
      </p:sp>
      <p:sp>
        <p:nvSpPr>
          <p:cNvPr id="96" name="Shape 87"/>
          <p:cNvSpPr/>
          <p:nvPr/>
        </p:nvSpPr>
        <p:spPr>
          <a:xfrm>
            <a:off x="6157570" y="4933188"/>
            <a:ext cx="727862" cy="498348"/>
          </a:xfrm>
          <a:prstGeom prst="rect">
            <a:avLst/>
          </a:prstGeom>
          <a:solidFill>
            <a:srgbClr val="FFFFFF"/>
          </a:solidFill>
          <a:ln w="12700">
            <a:solidFill>
              <a:srgbClr val="7500C0"/>
            </a:solidFill>
            <a:prstDash val="solid"/>
          </a:ln>
        </p:spPr>
      </p:sp>
      <p:pic>
        <p:nvPicPr>
          <p:cNvPr id="97" name="Image 7" descr="icon-person.png"/>
          <p:cNvPicPr>
            <a:picLocks noChangeAspect="1"/>
          </p:cNvPicPr>
          <p:nvPr/>
        </p:nvPicPr>
        <p:blipFill>
          <a:blip r:embed="rId9"/>
          <a:stretch>
            <a:fillRect/>
          </a:stretch>
        </p:blipFill>
        <p:spPr>
          <a:xfrm>
            <a:off x="6448349" y="4978908"/>
            <a:ext cx="146304" cy="146304"/>
          </a:xfrm>
          <a:prstGeom prst="rect">
            <a:avLst/>
          </a:prstGeom>
        </p:spPr>
      </p:pic>
      <p:sp>
        <p:nvSpPr>
          <p:cNvPr id="98" name="Text 88"/>
          <p:cNvSpPr txBox="1"/>
          <p:nvPr/>
        </p:nvSpPr>
        <p:spPr>
          <a:xfrm>
            <a:off x="6175858" y="5134356"/>
            <a:ext cx="691286" cy="269748"/>
          </a:xfrm>
          <a:prstGeom prst="rect">
            <a:avLst/>
          </a:prstGeom>
          <a:noFill/>
          <a:ln/>
        </p:spPr>
        <p:txBody>
          <a:bodyPr wrap="square" lIns="0" tIns="0" rIns="0" bIns="0" rtlCol="0" anchor="ctr"/>
          <a:lstStyle/>
          <a:p>
            <a:pPr marL="0" indent="0" algn="ctr">
              <a:buNone/>
            </a:pPr>
            <a:r>
              <a:rPr lang="en-US" sz="750" b="1" dirty="0">
                <a:solidFill>
                  <a:srgbClr val="7500C0"/>
                </a:solidFill>
                <a:latin typeface="Arial" pitchFamily="34" charset="0"/>
                <a:ea typeface="Arial" pitchFamily="34" charset="-122"/>
                <a:cs typeface="Arial" pitchFamily="34" charset="-120"/>
              </a:rPr>
              <a:t>Responder decides</a:t>
            </a:r>
            <a:endParaRPr lang="en-US" sz="750" dirty="0"/>
          </a:p>
        </p:txBody>
      </p:sp>
      <p:sp>
        <p:nvSpPr>
          <p:cNvPr id="99" name="Shape 89"/>
          <p:cNvSpPr/>
          <p:nvPr/>
        </p:nvSpPr>
        <p:spPr>
          <a:xfrm>
            <a:off x="6949440" y="3792474"/>
            <a:ext cx="201168" cy="0"/>
          </a:xfrm>
          <a:prstGeom prst="line">
            <a:avLst/>
          </a:prstGeom>
          <a:noFill/>
          <a:ln w="15875">
            <a:solidFill>
              <a:srgbClr val="A100FF"/>
            </a:solidFill>
            <a:prstDash val="dash"/>
          </a:ln>
        </p:spPr>
      </p:sp>
      <p:sp>
        <p:nvSpPr>
          <p:cNvPr id="100" name="Shape 90"/>
          <p:cNvSpPr/>
          <p:nvPr/>
        </p:nvSpPr>
        <p:spPr>
          <a:xfrm>
            <a:off x="6949440" y="4958334"/>
            <a:ext cx="201168" cy="0"/>
          </a:xfrm>
          <a:prstGeom prst="line">
            <a:avLst/>
          </a:prstGeom>
          <a:noFill/>
          <a:ln w="15875">
            <a:solidFill>
              <a:srgbClr val="A100FF"/>
            </a:solidFill>
            <a:prstDash val="dash"/>
          </a:ln>
        </p:spPr>
      </p:sp>
      <p:sp>
        <p:nvSpPr>
          <p:cNvPr id="101" name="Shape 91"/>
          <p:cNvSpPr/>
          <p:nvPr/>
        </p:nvSpPr>
        <p:spPr>
          <a:xfrm>
            <a:off x="7150608" y="2569464"/>
            <a:ext cx="0" cy="2388870"/>
          </a:xfrm>
          <a:prstGeom prst="line">
            <a:avLst/>
          </a:prstGeom>
          <a:noFill/>
          <a:ln w="15875">
            <a:solidFill>
              <a:srgbClr val="A100FF"/>
            </a:solidFill>
            <a:prstDash val="dash"/>
          </a:ln>
        </p:spPr>
      </p:sp>
      <p:sp>
        <p:nvSpPr>
          <p:cNvPr id="102" name="Shape 92"/>
          <p:cNvSpPr/>
          <p:nvPr/>
        </p:nvSpPr>
        <p:spPr>
          <a:xfrm>
            <a:off x="6949440" y="2569464"/>
            <a:ext cx="201168" cy="0"/>
          </a:xfrm>
          <a:prstGeom prst="line">
            <a:avLst/>
          </a:prstGeom>
          <a:noFill/>
          <a:ln w="15875">
            <a:solidFill>
              <a:srgbClr val="A100FF"/>
            </a:solidFill>
            <a:prstDash val="dash"/>
            <a:headEnd type="triangle"/>
          </a:ln>
        </p:spPr>
      </p:sp>
      <p:sp>
        <p:nvSpPr>
          <p:cNvPr id="103" name="Text 93"/>
          <p:cNvSpPr txBox="1"/>
          <p:nvPr/>
        </p:nvSpPr>
        <p:spPr>
          <a:xfrm rot="16200000">
            <a:off x="5897880" y="3690747"/>
            <a:ext cx="2743200" cy="146304"/>
          </a:xfrm>
          <a:prstGeom prst="rect">
            <a:avLst/>
          </a:prstGeom>
          <a:noFill/>
          <a:ln/>
        </p:spPr>
        <p:txBody>
          <a:bodyPr wrap="square" lIns="0" tIns="0" rIns="0" bIns="0" rtlCol="0" anchor="ctr"/>
          <a:lstStyle/>
          <a:p>
            <a:pPr marL="0" indent="0" algn="ctr">
              <a:buNone/>
            </a:pPr>
            <a:r>
              <a:rPr lang="en-US" sz="750" dirty="0">
                <a:solidFill>
                  <a:srgbClr val="7500C0"/>
                </a:solidFill>
                <a:latin typeface="Arial" pitchFamily="34" charset="0"/>
                <a:ea typeface="Arial" pitchFamily="34" charset="-122"/>
                <a:cs typeface="Arial" pitchFamily="34" charset="-120"/>
              </a:rPr>
              <a:t>results update the knowledge</a:t>
            </a:r>
            <a:endParaRPr lang="en-US" sz="750" dirty="0"/>
          </a:p>
        </p:txBody>
      </p:sp>
      <p:sp>
        <p:nvSpPr>
          <p:cNvPr id="104" name="Shape 94"/>
          <p:cNvSpPr/>
          <p:nvPr/>
        </p:nvSpPr>
        <p:spPr>
          <a:xfrm>
            <a:off x="1325880" y="5586984"/>
            <a:ext cx="5623560" cy="310896"/>
          </a:xfrm>
          <a:prstGeom prst="rect">
            <a:avLst/>
          </a:prstGeom>
          <a:solidFill>
            <a:srgbClr val="FFFFFF"/>
          </a:solidFill>
          <a:ln w="12700">
            <a:solidFill>
              <a:srgbClr val="A100FF"/>
            </a:solidFill>
            <a:prstDash val="dash"/>
          </a:ln>
        </p:spPr>
      </p:sp>
      <p:pic>
        <p:nvPicPr>
          <p:cNvPr id="105" name="Image 8" descr="icon-plug.png"/>
          <p:cNvPicPr>
            <a:picLocks noChangeAspect="1"/>
          </p:cNvPicPr>
          <p:nvPr/>
        </p:nvPicPr>
        <p:blipFill>
          <a:blip r:embed="rId10"/>
          <a:stretch>
            <a:fillRect/>
          </a:stretch>
        </p:blipFill>
        <p:spPr>
          <a:xfrm>
            <a:off x="1453896" y="5660136"/>
            <a:ext cx="164592" cy="164592"/>
          </a:xfrm>
          <a:prstGeom prst="rect">
            <a:avLst/>
          </a:prstGeom>
        </p:spPr>
      </p:pic>
      <p:sp>
        <p:nvSpPr>
          <p:cNvPr id="106" name="Text 95"/>
          <p:cNvSpPr txBox="1"/>
          <p:nvPr/>
        </p:nvSpPr>
        <p:spPr>
          <a:xfrm>
            <a:off x="1709928" y="5586984"/>
            <a:ext cx="5166360" cy="310896"/>
          </a:xfrm>
          <a:prstGeom prst="rect">
            <a:avLst/>
          </a:prstGeom>
          <a:noFill/>
          <a:ln/>
        </p:spPr>
        <p:txBody>
          <a:bodyPr wrap="square" lIns="0" tIns="0" rIns="0" bIns="0" rtlCol="0" anchor="ctr"/>
          <a:lstStyle/>
          <a:p>
            <a:pPr marL="0" indent="0">
              <a:buNone/>
            </a:pPr>
            <a:r>
              <a:rPr lang="en-US" sz="900" b="1" dirty="0">
                <a:solidFill>
                  <a:srgbClr val="7500C0"/>
                </a:solidFill>
                <a:latin typeface="Arial" pitchFamily="34" charset="0"/>
                <a:ea typeface="Arial" pitchFamily="34" charset="-122"/>
                <a:cs typeface="Arial" pitchFamily="34" charset="-120"/>
              </a:rPr>
              <a:t>Access   </a:t>
            </a:r>
            <a:r>
              <a:rPr lang="en-US" sz="900" b="1" dirty="0">
                <a:solidFill>
                  <a:srgbClr val="000000"/>
                </a:solidFill>
                <a:latin typeface="Arial" pitchFamily="34" charset="0"/>
                <a:ea typeface="Arial" pitchFamily="34" charset="-122"/>
                <a:cs typeface="Arial" pitchFamily="34" charset="-120"/>
              </a:rPr>
              <a:t>Chat, REST API and MCP</a:t>
            </a:r>
            <a:r>
              <a:rPr lang="en-US" sz="800" dirty="0">
                <a:solidFill>
                  <a:srgbClr val="5A5A5A"/>
                </a:solidFill>
                <a:latin typeface="Arial" pitchFamily="34" charset="0"/>
                <a:ea typeface="Arial" pitchFamily="34" charset="-122"/>
                <a:cs typeface="Arial" pitchFamily="34" charset="-120"/>
              </a:rPr>
              <a:t>   for people and any AI tool</a:t>
            </a:r>
            <a:endParaRPr lang="en-US" sz="900" dirty="0"/>
          </a:p>
        </p:txBody>
      </p:sp>
      <p:sp>
        <p:nvSpPr>
          <p:cNvPr id="107" name="Text 96"/>
          <p:cNvSpPr txBox="1"/>
          <p:nvPr/>
        </p:nvSpPr>
        <p:spPr>
          <a:xfrm>
            <a:off x="457200" y="5586984"/>
            <a:ext cx="795528" cy="310896"/>
          </a:xfrm>
          <a:prstGeom prst="rect">
            <a:avLst/>
          </a:prstGeom>
          <a:noFill/>
          <a:ln/>
        </p:spPr>
        <p:txBody>
          <a:bodyPr wrap="square" lIns="0" tIns="0" rIns="0" bIns="0" rtlCol="0" anchor="ctr"/>
          <a:lstStyle/>
          <a:p>
            <a:pPr marL="0" indent="0">
              <a:buNone/>
            </a:pPr>
            <a:r>
              <a:rPr lang="en-US" sz="750" dirty="0">
                <a:solidFill>
                  <a:srgbClr val="5A5A5A"/>
                </a:solidFill>
                <a:latin typeface="Arial" pitchFamily="34" charset="0"/>
                <a:ea typeface="Arial" pitchFamily="34" charset="-122"/>
                <a:cs typeface="Arial" pitchFamily="34" charset="-120"/>
              </a:rPr>
              <a:t>Runs on OpenAI or Claude</a:t>
            </a:r>
            <a:endParaRPr lang="en-US" sz="750" dirty="0"/>
          </a:p>
        </p:txBody>
      </p:sp>
      <p:sp>
        <p:nvSpPr>
          <p:cNvPr id="108" name="Text 97"/>
          <p:cNvSpPr txBox="1"/>
          <p:nvPr/>
        </p:nvSpPr>
        <p:spPr>
          <a:xfrm>
            <a:off x="7452360" y="932688"/>
            <a:ext cx="4279392" cy="256032"/>
          </a:xfrm>
          <a:prstGeom prst="rect">
            <a:avLst/>
          </a:prstGeom>
          <a:noFill/>
          <a:ln/>
        </p:spPr>
        <p:txBody>
          <a:bodyPr wrap="square" lIns="0" tIns="0" rIns="0" bIns="0" rtlCol="0" anchor="b"/>
          <a:lstStyle/>
          <a:p>
            <a:pPr marL="0" indent="0">
              <a:buNone/>
            </a:pPr>
            <a:r>
              <a:rPr lang="en-US" sz="1300" b="1" dirty="0">
                <a:solidFill>
                  <a:srgbClr val="7500C0"/>
                </a:solidFill>
                <a:latin typeface="Arial" pitchFamily="34" charset="0"/>
                <a:ea typeface="Arial" pitchFamily="34" charset="-122"/>
                <a:cs typeface="Arial" pitchFamily="34" charset="-120"/>
              </a:rPr>
              <a:t>Key features</a:t>
            </a:r>
            <a:endParaRPr lang="en-US" sz="1300" dirty="0"/>
          </a:p>
        </p:txBody>
      </p:sp>
      <p:sp>
        <p:nvSpPr>
          <p:cNvPr id="109" name="Shape 98"/>
          <p:cNvSpPr/>
          <p:nvPr/>
        </p:nvSpPr>
        <p:spPr>
          <a:xfrm>
            <a:off x="7452360" y="1316736"/>
            <a:ext cx="4279392" cy="0"/>
          </a:xfrm>
          <a:prstGeom prst="line">
            <a:avLst/>
          </a:prstGeom>
          <a:noFill/>
          <a:ln w="9525">
            <a:solidFill>
              <a:srgbClr val="E3E3E3"/>
            </a:solidFill>
            <a:prstDash val="solid"/>
          </a:ln>
        </p:spPr>
      </p:sp>
      <p:sp>
        <p:nvSpPr>
          <p:cNvPr id="110" name="Text 99"/>
          <p:cNvSpPr txBox="1"/>
          <p:nvPr/>
        </p:nvSpPr>
        <p:spPr>
          <a:xfrm>
            <a:off x="7452360" y="1316736"/>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Organizations</a:t>
            </a:r>
            <a:endParaRPr lang="en-US" sz="950" dirty="0"/>
          </a:p>
        </p:txBody>
      </p:sp>
      <p:sp>
        <p:nvSpPr>
          <p:cNvPr id="111" name="Text 100"/>
          <p:cNvSpPr txBox="1"/>
          <p:nvPr/>
        </p:nvSpPr>
        <p:spPr>
          <a:xfrm>
            <a:off x="8778240" y="1316736"/>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portfolio → product → application, access per app</a:t>
            </a:r>
            <a:endParaRPr lang="en-US" sz="900" dirty="0"/>
          </a:p>
        </p:txBody>
      </p:sp>
      <p:sp>
        <p:nvSpPr>
          <p:cNvPr id="112" name="Shape 101"/>
          <p:cNvSpPr/>
          <p:nvPr/>
        </p:nvSpPr>
        <p:spPr>
          <a:xfrm>
            <a:off x="7452360" y="1563624"/>
            <a:ext cx="4279392" cy="0"/>
          </a:xfrm>
          <a:prstGeom prst="line">
            <a:avLst/>
          </a:prstGeom>
          <a:noFill/>
          <a:ln w="9525">
            <a:solidFill>
              <a:srgbClr val="E3E3E3"/>
            </a:solidFill>
            <a:prstDash val="solid"/>
          </a:ln>
        </p:spPr>
      </p:sp>
      <p:sp>
        <p:nvSpPr>
          <p:cNvPr id="113" name="Text 102"/>
          <p:cNvSpPr txBox="1"/>
          <p:nvPr/>
        </p:nvSpPr>
        <p:spPr>
          <a:xfrm>
            <a:off x="7452360" y="1563624"/>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Graph management</a:t>
            </a:r>
            <a:endParaRPr lang="en-US" sz="950" dirty="0"/>
          </a:p>
        </p:txBody>
      </p:sp>
      <p:sp>
        <p:nvSpPr>
          <p:cNvPr id="114" name="Text 103"/>
          <p:cNvSpPr txBox="1"/>
          <p:nvPr/>
        </p:nvSpPr>
        <p:spPr>
          <a:xfrm>
            <a:off x="8778240" y="1563624"/>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source → graph → quality check → publish</a:t>
            </a:r>
            <a:endParaRPr lang="en-US" sz="900" dirty="0"/>
          </a:p>
        </p:txBody>
      </p:sp>
      <p:sp>
        <p:nvSpPr>
          <p:cNvPr id="115" name="Shape 104"/>
          <p:cNvSpPr/>
          <p:nvPr/>
        </p:nvSpPr>
        <p:spPr>
          <a:xfrm>
            <a:off x="7452360" y="1810512"/>
            <a:ext cx="4279392" cy="0"/>
          </a:xfrm>
          <a:prstGeom prst="line">
            <a:avLst/>
          </a:prstGeom>
          <a:noFill/>
          <a:ln w="9525">
            <a:solidFill>
              <a:srgbClr val="E3E3E3"/>
            </a:solidFill>
            <a:prstDash val="solid"/>
          </a:ln>
        </p:spPr>
      </p:sp>
      <p:sp>
        <p:nvSpPr>
          <p:cNvPr id="116" name="Text 105"/>
          <p:cNvSpPr txBox="1"/>
          <p:nvPr/>
        </p:nvSpPr>
        <p:spPr>
          <a:xfrm>
            <a:off x="7452360" y="1810512"/>
            <a:ext cx="1325880" cy="365760"/>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Code Factory</a:t>
            </a:r>
            <a:endParaRPr lang="en-US" sz="950" dirty="0"/>
          </a:p>
        </p:txBody>
      </p:sp>
      <p:sp>
        <p:nvSpPr>
          <p:cNvPr id="117" name="Text 106"/>
          <p:cNvSpPr txBox="1"/>
          <p:nvPr/>
        </p:nvSpPr>
        <p:spPr>
          <a:xfrm>
            <a:off x="8778240" y="1810512"/>
            <a:ext cx="2953512" cy="3657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ticket → plan → approval → draft PR → re-sync knowledge</a:t>
            </a:r>
            <a:endParaRPr lang="en-US" sz="900" dirty="0"/>
          </a:p>
        </p:txBody>
      </p:sp>
      <p:sp>
        <p:nvSpPr>
          <p:cNvPr id="118" name="Shape 107"/>
          <p:cNvSpPr/>
          <p:nvPr/>
        </p:nvSpPr>
        <p:spPr>
          <a:xfrm>
            <a:off x="7452360" y="2176272"/>
            <a:ext cx="4279392" cy="0"/>
          </a:xfrm>
          <a:prstGeom prst="line">
            <a:avLst/>
          </a:prstGeom>
          <a:noFill/>
          <a:ln w="9525">
            <a:solidFill>
              <a:srgbClr val="E3E3E3"/>
            </a:solidFill>
            <a:prstDash val="solid"/>
          </a:ln>
        </p:spPr>
      </p:sp>
      <p:sp>
        <p:nvSpPr>
          <p:cNvPr id="119" name="Text 108"/>
          <p:cNvSpPr txBox="1"/>
          <p:nvPr/>
        </p:nvSpPr>
        <p:spPr>
          <a:xfrm>
            <a:off x="7452360" y="2176272"/>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ServiceOps</a:t>
            </a:r>
            <a:endParaRPr lang="en-US" sz="950" dirty="0"/>
          </a:p>
        </p:txBody>
      </p:sp>
      <p:sp>
        <p:nvSpPr>
          <p:cNvPr id="120" name="Text 109"/>
          <p:cNvSpPr txBox="1"/>
          <p:nvPr/>
        </p:nvSpPr>
        <p:spPr>
          <a:xfrm>
            <a:off x="8778240" y="2176272"/>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incidents open with past fixes and recent changes</a:t>
            </a:r>
            <a:endParaRPr lang="en-US" sz="900" dirty="0"/>
          </a:p>
        </p:txBody>
      </p:sp>
      <p:sp>
        <p:nvSpPr>
          <p:cNvPr id="121" name="Shape 110"/>
          <p:cNvSpPr/>
          <p:nvPr/>
        </p:nvSpPr>
        <p:spPr>
          <a:xfrm>
            <a:off x="7452360" y="2423160"/>
            <a:ext cx="4279392" cy="0"/>
          </a:xfrm>
          <a:prstGeom prst="line">
            <a:avLst/>
          </a:prstGeom>
          <a:noFill/>
          <a:ln w="9525">
            <a:solidFill>
              <a:srgbClr val="E3E3E3"/>
            </a:solidFill>
            <a:prstDash val="solid"/>
          </a:ln>
        </p:spPr>
      </p:sp>
      <p:sp>
        <p:nvSpPr>
          <p:cNvPr id="122" name="Text 111"/>
          <p:cNvSpPr txBox="1"/>
          <p:nvPr/>
        </p:nvSpPr>
        <p:spPr>
          <a:xfrm>
            <a:off x="7452360" y="2423160"/>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Guided onboarding</a:t>
            </a:r>
            <a:endParaRPr lang="en-US" sz="950" dirty="0"/>
          </a:p>
        </p:txBody>
      </p:sp>
      <p:sp>
        <p:nvSpPr>
          <p:cNvPr id="123" name="Text 112"/>
          <p:cNvSpPr txBox="1"/>
          <p:nvPr/>
        </p:nvSpPr>
        <p:spPr>
          <a:xfrm>
            <a:off x="8778240" y="2423160"/>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onboarding checklist per application</a:t>
            </a:r>
            <a:endParaRPr lang="en-US" sz="900" dirty="0"/>
          </a:p>
        </p:txBody>
      </p:sp>
      <p:sp>
        <p:nvSpPr>
          <p:cNvPr id="124" name="Shape 113"/>
          <p:cNvSpPr/>
          <p:nvPr/>
        </p:nvSpPr>
        <p:spPr>
          <a:xfrm>
            <a:off x="7452360" y="2670048"/>
            <a:ext cx="4279392" cy="0"/>
          </a:xfrm>
          <a:prstGeom prst="line">
            <a:avLst/>
          </a:prstGeom>
          <a:noFill/>
          <a:ln w="9525">
            <a:solidFill>
              <a:srgbClr val="E3E3E3"/>
            </a:solidFill>
            <a:prstDash val="solid"/>
          </a:ln>
        </p:spPr>
      </p:sp>
      <p:sp>
        <p:nvSpPr>
          <p:cNvPr id="125" name="Text 114"/>
          <p:cNvSpPr txBox="1"/>
          <p:nvPr/>
        </p:nvSpPr>
        <p:spPr>
          <a:xfrm>
            <a:off x="7452360" y="2670048"/>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Usage tracking</a:t>
            </a:r>
            <a:endParaRPr lang="en-US" sz="950" dirty="0"/>
          </a:p>
        </p:txBody>
      </p:sp>
      <p:sp>
        <p:nvSpPr>
          <p:cNvPr id="126" name="Text 115"/>
          <p:cNvSpPr txBox="1"/>
          <p:nvPr/>
        </p:nvSpPr>
        <p:spPr>
          <a:xfrm>
            <a:off x="8778240" y="2670048"/>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AI cost per call, per application</a:t>
            </a:r>
            <a:endParaRPr lang="en-US" sz="900" dirty="0"/>
          </a:p>
        </p:txBody>
      </p:sp>
      <p:sp>
        <p:nvSpPr>
          <p:cNvPr id="127" name="Shape 116"/>
          <p:cNvSpPr/>
          <p:nvPr/>
        </p:nvSpPr>
        <p:spPr>
          <a:xfrm>
            <a:off x="7452360" y="2916936"/>
            <a:ext cx="4279392" cy="0"/>
          </a:xfrm>
          <a:prstGeom prst="line">
            <a:avLst/>
          </a:prstGeom>
          <a:noFill/>
          <a:ln w="9525">
            <a:solidFill>
              <a:srgbClr val="E3E3E3"/>
            </a:solidFill>
            <a:prstDash val="solid"/>
          </a:ln>
        </p:spPr>
      </p:sp>
      <p:sp>
        <p:nvSpPr>
          <p:cNvPr id="128" name="Text 117"/>
          <p:cNvSpPr txBox="1"/>
          <p:nvPr/>
        </p:nvSpPr>
        <p:spPr>
          <a:xfrm>
            <a:off x="7452360" y="2916936"/>
            <a:ext cx="1325880" cy="246888"/>
          </a:xfrm>
          <a:prstGeom prst="rect">
            <a:avLst/>
          </a:prstGeom>
          <a:noFill/>
          <a:ln/>
        </p:spPr>
        <p:txBody>
          <a:bodyPr wrap="square" lIns="0" tIns="0" rIns="0" bIns="0" rtlCol="0" anchor="ctr"/>
          <a:lstStyle/>
          <a:p>
            <a:pPr marL="0" indent="0">
              <a:buNone/>
            </a:pPr>
            <a:r>
              <a:rPr lang="en-US" sz="950" b="1" dirty="0">
                <a:solidFill>
                  <a:srgbClr val="7500C0"/>
                </a:solidFill>
                <a:latin typeface="Arial" pitchFamily="34" charset="0"/>
                <a:ea typeface="Arial" pitchFamily="34" charset="-122"/>
                <a:cs typeface="Arial" pitchFamily="34" charset="-120"/>
              </a:rPr>
              <a:t>Connectors</a:t>
            </a:r>
            <a:endParaRPr lang="en-US" sz="950" dirty="0"/>
          </a:p>
        </p:txBody>
      </p:sp>
      <p:sp>
        <p:nvSpPr>
          <p:cNvPr id="129" name="Text 118"/>
          <p:cNvSpPr txBox="1"/>
          <p:nvPr/>
        </p:nvSpPr>
        <p:spPr>
          <a:xfrm>
            <a:off x="8778240" y="2916936"/>
            <a:ext cx="2953512" cy="24688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Jira, ServiceNow and GitHub synced on a schedule</a:t>
            </a:r>
            <a:endParaRPr lang="en-US" sz="900" dirty="0"/>
          </a:p>
        </p:txBody>
      </p:sp>
      <p:sp>
        <p:nvSpPr>
          <p:cNvPr id="130" name="Shape 119"/>
          <p:cNvSpPr/>
          <p:nvPr/>
        </p:nvSpPr>
        <p:spPr>
          <a:xfrm>
            <a:off x="7452360" y="3163824"/>
            <a:ext cx="4279392" cy="0"/>
          </a:xfrm>
          <a:prstGeom prst="line">
            <a:avLst/>
          </a:prstGeom>
          <a:noFill/>
          <a:ln w="9525">
            <a:solidFill>
              <a:srgbClr val="E3E3E3"/>
            </a:solidFill>
            <a:prstDash val="solid"/>
          </a:ln>
        </p:spPr>
      </p:sp>
      <p:sp>
        <p:nvSpPr>
          <p:cNvPr id="131" name="Text 120"/>
          <p:cNvSpPr txBox="1"/>
          <p:nvPr/>
        </p:nvSpPr>
        <p:spPr>
          <a:xfrm>
            <a:off x="7452360" y="3255264"/>
            <a:ext cx="4279392" cy="256032"/>
          </a:xfrm>
          <a:prstGeom prst="rect">
            <a:avLst/>
          </a:prstGeom>
          <a:noFill/>
          <a:ln/>
        </p:spPr>
        <p:txBody>
          <a:bodyPr wrap="square" lIns="0" tIns="0" rIns="0" bIns="0" rtlCol="0" anchor="b"/>
          <a:lstStyle/>
          <a:p>
            <a:pPr marL="0" indent="0">
              <a:buNone/>
            </a:pPr>
            <a:r>
              <a:rPr lang="en-US" sz="1300" b="1" dirty="0">
                <a:solidFill>
                  <a:srgbClr val="7500C0"/>
                </a:solidFill>
                <a:latin typeface="Arial" pitchFamily="34" charset="0"/>
                <a:ea typeface="Arial" pitchFamily="34" charset="-122"/>
                <a:cs typeface="Arial" pitchFamily="34" charset="-120"/>
              </a:rPr>
              <a:t>Key differentiators</a:t>
            </a:r>
            <a:endParaRPr lang="en-US" sz="1300" dirty="0"/>
          </a:p>
        </p:txBody>
      </p:sp>
      <p:sp>
        <p:nvSpPr>
          <p:cNvPr id="132" name="Shape 121"/>
          <p:cNvSpPr/>
          <p:nvPr/>
        </p:nvSpPr>
        <p:spPr>
          <a:xfrm>
            <a:off x="7452360" y="3584448"/>
            <a:ext cx="4279392" cy="0"/>
          </a:xfrm>
          <a:prstGeom prst="line">
            <a:avLst/>
          </a:prstGeom>
          <a:noFill/>
          <a:ln w="19050">
            <a:solidFill>
              <a:srgbClr val="7500C0"/>
            </a:solidFill>
            <a:prstDash val="solid"/>
          </a:ln>
        </p:spPr>
      </p:sp>
      <p:sp>
        <p:nvSpPr>
          <p:cNvPr id="133" name="Text 122"/>
          <p:cNvSpPr txBox="1"/>
          <p:nvPr/>
        </p:nvSpPr>
        <p:spPr>
          <a:xfrm>
            <a:off x="7452360" y="3639312"/>
            <a:ext cx="4279392" cy="585216"/>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Graph vs traditional RAG</a:t>
            </a:r>
          </a:p>
          <a:p>
            <a:pPr>
              <a:defRPr sz="840" b="0">
                <a:solidFill>
                  <a:srgbClr val="607180"/>
                </a:solidFill>
                <a:latin typeface="Arial"/>
                <a:ea typeface="Arial"/>
                <a:cs typeface="Arial"/>
              </a:defRPr>
            </a:pPr>
            <a:r>
              <a:rPr lang="en-US" sz="900" dirty="0">
                <a:solidFill>
                  <a:srgbClr val="607180"/>
                </a:solidFill>
                <a:latin typeface="Arial"/>
                <a:ea typeface="Arial"/>
                <a:cs typeface="Arial"/>
              </a:rPr>
              <a:t>Graph-based RAG reuses connected knowledge for more efficient retrieval and better-supported answers, with potential reductions in token use and response time.</a:t>
            </a:r>
          </a:p>
        </p:txBody>
      </p:sp>
      <p:sp>
        <p:nvSpPr>
          <p:cNvPr id="134" name="Shape 123"/>
          <p:cNvSpPr/>
          <p:nvPr/>
        </p:nvSpPr>
        <p:spPr>
          <a:xfrm>
            <a:off x="7452360" y="4261104"/>
            <a:ext cx="2025396" cy="0"/>
          </a:xfrm>
          <a:prstGeom prst="line">
            <a:avLst/>
          </a:prstGeom>
          <a:noFill/>
          <a:ln w="9525">
            <a:solidFill>
              <a:srgbClr val="E3E3E3"/>
            </a:solidFill>
            <a:prstDash val="solid"/>
          </a:ln>
        </p:spPr>
      </p:sp>
      <p:sp>
        <p:nvSpPr>
          <p:cNvPr id="135" name="Text 124"/>
          <p:cNvSpPr txBox="1"/>
          <p:nvPr/>
        </p:nvSpPr>
        <p:spPr>
          <a:xfrm>
            <a:off x="7452360" y="4315968"/>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Verified answers</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Every answer is traceable to a verified source.</a:t>
            </a:r>
            <a:endParaRPr lang="en-US" sz="1000" dirty="0"/>
          </a:p>
        </p:txBody>
      </p:sp>
      <p:sp>
        <p:nvSpPr>
          <p:cNvPr id="136" name="Shape 125"/>
          <p:cNvSpPr/>
          <p:nvPr/>
        </p:nvSpPr>
        <p:spPr>
          <a:xfrm>
            <a:off x="9706356" y="4261104"/>
            <a:ext cx="2025396" cy="0"/>
          </a:xfrm>
          <a:prstGeom prst="line">
            <a:avLst/>
          </a:prstGeom>
          <a:noFill/>
          <a:ln w="9525">
            <a:solidFill>
              <a:srgbClr val="E3E3E3"/>
            </a:solidFill>
            <a:prstDash val="solid"/>
          </a:ln>
        </p:spPr>
      </p:sp>
      <p:sp>
        <p:nvSpPr>
          <p:cNvPr id="137" name="Text 126"/>
          <p:cNvSpPr txBox="1"/>
          <p:nvPr/>
        </p:nvSpPr>
        <p:spPr>
          <a:xfrm>
            <a:off x="9706356" y="4315968"/>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Shared by delivery and ops</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Every resolved incident strengthens the next response.</a:t>
            </a:r>
            <a:endParaRPr lang="en-US" sz="1000" dirty="0"/>
          </a:p>
        </p:txBody>
      </p:sp>
      <p:sp>
        <p:nvSpPr>
          <p:cNvPr id="138" name="Shape 127"/>
          <p:cNvSpPr/>
          <p:nvPr/>
        </p:nvSpPr>
        <p:spPr>
          <a:xfrm>
            <a:off x="7452360" y="4806696"/>
            <a:ext cx="2025396" cy="0"/>
          </a:xfrm>
          <a:prstGeom prst="line">
            <a:avLst/>
          </a:prstGeom>
          <a:noFill/>
          <a:ln w="9525">
            <a:solidFill>
              <a:srgbClr val="E3E3E3"/>
            </a:solidFill>
            <a:prstDash val="solid"/>
          </a:ln>
        </p:spPr>
      </p:sp>
      <p:sp>
        <p:nvSpPr>
          <p:cNvPr id="139" name="Text 128"/>
          <p:cNvSpPr txBox="1"/>
          <p:nvPr/>
        </p:nvSpPr>
        <p:spPr>
          <a:xfrm>
            <a:off x="7452360" y="4861560"/>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Human-approved knowledge</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All knowledge is reviewed and approved before use.</a:t>
            </a:r>
            <a:endParaRPr lang="en-US" sz="1000" dirty="0"/>
          </a:p>
        </p:txBody>
      </p:sp>
      <p:sp>
        <p:nvSpPr>
          <p:cNvPr id="140" name="Shape 129"/>
          <p:cNvSpPr/>
          <p:nvPr/>
        </p:nvSpPr>
        <p:spPr>
          <a:xfrm>
            <a:off x="9706356" y="4806696"/>
            <a:ext cx="2025396" cy="0"/>
          </a:xfrm>
          <a:prstGeom prst="line">
            <a:avLst/>
          </a:prstGeom>
          <a:noFill/>
          <a:ln w="9525">
            <a:solidFill>
              <a:srgbClr val="E3E3E3"/>
            </a:solidFill>
            <a:prstDash val="solid"/>
          </a:ln>
        </p:spPr>
      </p:sp>
      <p:sp>
        <p:nvSpPr>
          <p:cNvPr id="141" name="Text 130"/>
          <p:cNvSpPr txBox="1"/>
          <p:nvPr/>
        </p:nvSpPr>
        <p:spPr>
          <a:xfrm>
            <a:off x="9706356" y="4861560"/>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Kept current</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Sources and knowledge refresh after major changes, like a bug fix.</a:t>
            </a:r>
            <a:endParaRPr lang="en-US" sz="1000" dirty="0"/>
          </a:p>
        </p:txBody>
      </p:sp>
      <p:sp>
        <p:nvSpPr>
          <p:cNvPr id="142" name="Shape 131"/>
          <p:cNvSpPr/>
          <p:nvPr/>
        </p:nvSpPr>
        <p:spPr>
          <a:xfrm>
            <a:off x="7452360" y="5352288"/>
            <a:ext cx="2025396" cy="0"/>
          </a:xfrm>
          <a:prstGeom prst="line">
            <a:avLst/>
          </a:prstGeom>
          <a:noFill/>
          <a:ln w="9525">
            <a:solidFill>
              <a:srgbClr val="E3E3E3"/>
            </a:solidFill>
            <a:prstDash val="solid"/>
          </a:ln>
        </p:spPr>
      </p:sp>
      <p:sp>
        <p:nvSpPr>
          <p:cNvPr id="143" name="Text 132"/>
          <p:cNvSpPr txBox="1"/>
          <p:nvPr/>
        </p:nvSpPr>
        <p:spPr>
          <a:xfrm>
            <a:off x="7452360" y="5407152"/>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Requirement-to-code traceability</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Every change is linked to its requirement and code.</a:t>
            </a:r>
            <a:endParaRPr lang="en-US" sz="1000" dirty="0"/>
          </a:p>
        </p:txBody>
      </p:sp>
      <p:sp>
        <p:nvSpPr>
          <p:cNvPr id="144" name="Shape 133"/>
          <p:cNvSpPr/>
          <p:nvPr/>
        </p:nvSpPr>
        <p:spPr>
          <a:xfrm>
            <a:off x="9706356" y="5352288"/>
            <a:ext cx="2025396" cy="0"/>
          </a:xfrm>
          <a:prstGeom prst="line">
            <a:avLst/>
          </a:prstGeom>
          <a:noFill/>
          <a:ln w="9525">
            <a:solidFill>
              <a:srgbClr val="E3E3E3"/>
            </a:solidFill>
            <a:prstDash val="solid"/>
          </a:ln>
        </p:spPr>
      </p:sp>
      <p:sp>
        <p:nvSpPr>
          <p:cNvPr id="145" name="Text 134"/>
          <p:cNvSpPr txBox="1"/>
          <p:nvPr/>
        </p:nvSpPr>
        <p:spPr>
          <a:xfrm>
            <a:off x="9706356" y="5407152"/>
            <a:ext cx="2025396" cy="454152"/>
          </a:xfrm>
          <a:prstGeom prst="rect">
            <a:avLst/>
          </a:prstGeom>
          <a:noFill/>
          <a:ln/>
        </p:spPr>
        <p:txBody>
          <a:bodyPr wrap="square" lIns="0" tIns="0" rIns="0" bIns="0" rtlCol="0" anchor="t"/>
          <a:lstStyle/>
          <a:p>
            <a:pPr marL="0" indent="0">
              <a:spcAft>
                <a:spcPts val="300"/>
              </a:spcAft>
              <a:buNone/>
            </a:pPr>
            <a:r>
              <a:rPr lang="en-US" sz="1000" b="1" dirty="0">
                <a:solidFill>
                  <a:srgbClr val="7500C0"/>
                </a:solidFill>
                <a:latin typeface="Arial" pitchFamily="34" charset="0"/>
                <a:ea typeface="Arial" pitchFamily="34" charset="-122"/>
                <a:cs typeface="Arial" pitchFamily="34" charset="-120"/>
              </a:rPr>
              <a:t>Works with any AI tool</a:t>
            </a:r>
            <a:endParaRPr lang="en-US" sz="1000" dirty="0"/>
          </a:p>
          <a:p>
            <a:pPr marL="0" indent="0">
              <a:spcAft>
                <a:spcPts val="300"/>
              </a:spcAft>
              <a:buNone/>
            </a:pPr>
            <a:r>
              <a:rPr lang="en-US" sz="850" dirty="0">
                <a:solidFill>
                  <a:srgbClr val="333333"/>
                </a:solidFill>
                <a:latin typeface="Arial" pitchFamily="34" charset="0"/>
                <a:ea typeface="Arial" pitchFamily="34" charset="-122"/>
                <a:cs typeface="Arial" pitchFamily="34" charset="-120"/>
              </a:rPr>
              <a:t>Trusted knowledge is accessible from any AI tool.</a:t>
            </a:r>
            <a:endParaRPr lang="en-US" sz="1000" dirty="0"/>
          </a:p>
        </p:txBody>
      </p:sp>
      <p:sp>
        <p:nvSpPr>
          <p:cNvPr id="146" name="Shape 135"/>
          <p:cNvSpPr/>
          <p:nvPr/>
        </p:nvSpPr>
        <p:spPr>
          <a:xfrm>
            <a:off x="457200" y="6071616"/>
            <a:ext cx="11274552" cy="329184"/>
          </a:xfrm>
          <a:prstGeom prst="rect">
            <a:avLst/>
          </a:prstGeom>
          <a:solidFill>
            <a:srgbClr val="F3EBFF"/>
          </a:solidFill>
          <a:ln w="12700">
            <a:solidFill>
              <a:srgbClr val="F3EBFF"/>
            </a:solidFill>
            <a:prstDash val="solid"/>
          </a:ln>
        </p:spPr>
      </p:sp>
      <p:sp>
        <p:nvSpPr>
          <p:cNvPr id="147" name="Text 136"/>
          <p:cNvSpPr txBox="1"/>
          <p:nvPr/>
        </p:nvSpPr>
        <p:spPr>
          <a:xfrm>
            <a:off x="640080" y="6071616"/>
            <a:ext cx="11000232" cy="329184"/>
          </a:xfrm>
          <a:prstGeom prst="rect">
            <a:avLst/>
          </a:prstGeom>
          <a:noFill/>
          <a:ln/>
        </p:spPr>
        <p:txBody>
          <a:bodyPr wrap="square" lIns="0" tIns="0" rIns="0" bIns="0" rtlCol="0" anchor="ctr"/>
          <a:lstStyle/>
          <a:p>
            <a:pPr marL="0" indent="0">
              <a:buNone/>
            </a:pPr>
            <a:r>
              <a:rPr lang="en-US" sz="950" b="1" dirty="0">
                <a:solidFill>
                  <a:srgbClr val="460073"/>
                </a:solidFill>
                <a:latin typeface="Arial" pitchFamily="34" charset="0"/>
                <a:ea typeface="Arial" pitchFamily="34" charset="-122"/>
                <a:cs typeface="Arial" pitchFamily="34" charset="-120"/>
              </a:rPr>
              <a:t>Tech stack        </a:t>
            </a:r>
            <a:r>
              <a:rPr lang="en-US" sz="850" b="1" dirty="0">
                <a:solidFill>
                  <a:srgbClr val="7500C0"/>
                </a:solidFill>
                <a:latin typeface="Arial" pitchFamily="34" charset="0"/>
                <a:ea typeface="Arial" pitchFamily="34" charset="-122"/>
                <a:cs typeface="Arial" pitchFamily="34" charset="-120"/>
              </a:rPr>
              <a:t>Core  </a:t>
            </a:r>
            <a:r>
              <a:rPr lang="en-US" sz="900" b="1" dirty="0">
                <a:solidFill>
                  <a:srgbClr val="000000"/>
                </a:solidFill>
                <a:latin typeface="Arial" pitchFamily="34" charset="0"/>
                <a:ea typeface="Arial" pitchFamily="34" charset="-122"/>
                <a:cs typeface="Arial" pitchFamily="34" charset="-120"/>
              </a:rPr>
              <a:t>Python, Django, PostgreSQL</a:t>
            </a:r>
            <a:r>
              <a:rPr lang="en-US" sz="900" dirty="0">
                <a:solidFill>
                  <a:srgbClr val="000000"/>
                </a:solidFill>
                <a:latin typeface="Arial" pitchFamily="34" charset="0"/>
                <a:ea typeface="Arial" pitchFamily="34" charset="-122"/>
                <a:cs typeface="Arial" pitchFamily="34" charset="-120"/>
              </a:rPr>
              <a:t>        </a:t>
            </a:r>
            <a:r>
              <a:rPr lang="en-US" sz="850" b="1" dirty="0">
                <a:solidFill>
                  <a:srgbClr val="7500C0"/>
                </a:solidFill>
                <a:latin typeface="Arial" pitchFamily="34" charset="0"/>
                <a:ea typeface="Arial" pitchFamily="34" charset="-122"/>
                <a:cs typeface="Arial" pitchFamily="34" charset="-120"/>
              </a:rPr>
              <a:t>AI &amp; graph  </a:t>
            </a:r>
            <a:r>
              <a:rPr lang="en-US" sz="900" b="1" dirty="0">
                <a:solidFill>
                  <a:srgbClr val="000000"/>
                </a:solidFill>
                <a:latin typeface="Arial" pitchFamily="34" charset="0"/>
                <a:ea typeface="Arial" pitchFamily="34" charset="-122"/>
                <a:cs typeface="Arial" pitchFamily="34" charset="-120"/>
              </a:rPr>
              <a:t>OpenAI Agents SDK, Claude Agent SDK, Graphify</a:t>
            </a:r>
            <a:r>
              <a:rPr lang="en-US" sz="900" dirty="0">
                <a:solidFill>
                  <a:srgbClr val="000000"/>
                </a:solidFill>
                <a:latin typeface="Arial" pitchFamily="34" charset="0"/>
                <a:ea typeface="Arial" pitchFamily="34" charset="-122"/>
                <a:cs typeface="Arial" pitchFamily="34" charset="-120"/>
              </a:rPr>
              <a:t>        </a:t>
            </a:r>
            <a:r>
              <a:rPr lang="en-US" sz="850" b="1" dirty="0">
                <a:solidFill>
                  <a:srgbClr val="7500C0"/>
                </a:solidFill>
                <a:latin typeface="Arial" pitchFamily="34" charset="0"/>
                <a:ea typeface="Arial" pitchFamily="34" charset="-122"/>
                <a:cs typeface="Arial" pitchFamily="34" charset="-120"/>
              </a:rPr>
              <a:t>Supporting  </a:t>
            </a:r>
            <a:r>
              <a:rPr lang="en-US" sz="900" dirty="0">
                <a:solidFill>
                  <a:srgbClr val="5A5A5A"/>
                </a:solidFill>
                <a:latin typeface="Arial" pitchFamily="34" charset="0"/>
                <a:ea typeface="Arial" pitchFamily="34" charset="-122"/>
                <a:cs typeface="Arial" pitchFamily="34" charset="-120"/>
              </a:rPr>
              <a:t>MarkItDown, MCP, Docker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1073</Words>
  <Application>Microsoft Office PowerPoint</Application>
  <PresentationFormat>Widescreen</PresentationFormat>
  <Paragraphs>91</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Brain</dc:title>
  <dc:subject>PptxGenJS Presentation</dc:subject>
  <dc:creator>PptxGenJS</dc:creator>
  <cp:lastModifiedBy>Ajit Kumar</cp:lastModifiedBy>
  <cp:revision>2</cp:revision>
  <dcterms:created xsi:type="dcterms:W3CDTF">2026-09-25T16:37:22Z</dcterms:created>
  <dcterms:modified xsi:type="dcterms:W3CDTF">2026-09-25T16:53:18Z</dcterms:modified>
</cp:coreProperties>
</file>