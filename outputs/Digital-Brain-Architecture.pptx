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de89c194c44870" /><Relationship Type="http://schemas.openxmlformats.org/officeDocument/2006/relationships/extended-properties" Target="/docProps/app.xml" Id="Rfa764909d83247aa" /><Relationship Type="http://schemas.openxmlformats.org/officeDocument/2006/relationships/officeDocument" Target="/ppt/presentation.xml" Id="R3abdbd1f399e4b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8c9c904f604a7b"/>
  </p:sldMasterIdLst>
  <p:notesMasterIdLst>
    <p:notesMasterId xmlns:r="http://schemas.openxmlformats.org/officeDocument/2006/relationships" r:id="R996b2253a5414cbb"/>
  </p:notesMasterIdLst>
  <p:sldIdLst>
    <p:sldId xmlns:r="http://schemas.openxmlformats.org/officeDocument/2006/relationships" id="256" r:id="R934e1c0c5e554e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acd013e92249fc" /><Relationship Type="http://schemas.openxmlformats.org/officeDocument/2006/relationships/slideMaster" Target="/ppt/slideMasters/slideMaster1.xml" Id="R368c9c904f604a7b" /><Relationship Type="http://schemas.openxmlformats.org/officeDocument/2006/relationships/notesMaster" Target="/ppt/notesMasters/notesMaster1.xml" Id="R996b2253a5414cbb" /><Relationship Type="http://schemas.openxmlformats.org/officeDocument/2006/relationships/presProps" Target="/ppt/presProps.xml" Id="R1c0b6774af6c47c6" /><Relationship Type="http://schemas.openxmlformats.org/officeDocument/2006/relationships/tableStyles" Target="/ppt/tableStyles.xml" Id="Rc2f4516ae6464043" /><Relationship Type="http://schemas.openxmlformats.org/officeDocument/2006/relationships/slide" Target="/ppt/slides/slide1.xml" Id="R934e1c0c5e554e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4593ab37742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8c25b074484961" /><Relationship Type="http://schemas.openxmlformats.org/officeDocument/2006/relationships/notesMaster" Target="/ppt/notesMasters/notesMaster1.xml" Id="R9cc9b53dc0144e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snapshot grounded in local repository documents: README.md (Available now and Structure); docs/feature-workflows.md (documents, AI providers, Code Factory); docs/non-functional.md (security, availability and release requirements). Supporting code: platform_core/code_factory.py, platform_core/policy.py, platform_core/graphs.py, platform_core/code_graph.py, platform_core/ai.py. Business reasons describe design intent, not measured benefits. Per-application policy is implemented; database/storage isolation and source-level ACLs are production work. No production readiness or quantified productivity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a11bfa5084f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e02b93ed141f4" /><Relationship Type="http://schemas.openxmlformats.org/officeDocument/2006/relationships/slideLayout" Target="/ppt/slideLayouts/slideLayout1.xml" Id="R4f693b60407c4e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93b60407c4e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e5a2e55a440b3" /><Relationship Type="http://schemas.openxmlformats.org/officeDocument/2006/relationships/notesSlide" Target="/ppt/notesSlides/notesSlide1.xml" Id="R980441a699b647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">
            <a:extLst xmlns:a="http://schemas.openxmlformats.org/drawingml/2006/main">
              <a:ext uri="{FF2B5EF4-FFF2-40B4-BE49-F238E27FC236}">
                <a16:creationId xmlns:a16="http://schemas.microsoft.com/office/drawing/2014/main" id="{E1853B05-1208-48E0-991B-F0B3AEC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Purpose">
            <a:extLst xmlns:a="http://schemas.openxmlformats.org/drawingml/2006/main">
              <a:ext uri="{FF2B5EF4-FFF2-40B4-BE49-F238E27FC236}">
                <a16:creationId xmlns:a16="http://schemas.microsoft.com/office/drawing/2014/main" id="{9CE1EA01-3BD6-44AE-8103-31B4EB88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52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5265"/>
                </a:solidFill>
                <a:latin typeface="Arial"/>
                <a:ea typeface="Arial"/>
                <a:cs typeface="Arial"/>
              </a:rPr>
              <a:t>Application knowledge, cited answers and governed code changes</a:t>
            </a:r>
          </a:p>
        </p:txBody>
      </p:sp>
      <p:sp>
        <p:nvSpPr>
          <p:cNvPr id="3" name="Architecture heading">
            <a:extLst xmlns:a="http://schemas.openxmlformats.org/drawingml/2006/main">
              <a:ext uri="{FF2B5EF4-FFF2-40B4-BE49-F238E27FC236}">
                <a16:creationId xmlns:a16="http://schemas.microsoft.com/office/drawing/2014/main" id="{FA32BEB7-544C-4246-AA02-E639EE77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Differentiators heading">
            <a:extLst xmlns:a="http://schemas.openxmlformats.org/drawingml/2006/main">
              <a:ext uri="{FF2B5EF4-FFF2-40B4-BE49-F238E27FC236}">
                <a16:creationId xmlns:a16="http://schemas.microsoft.com/office/drawing/2014/main" id="{48263A4B-8858-4610-85EA-9334DE40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Key features / differentiators</a:t>
            </a:r>
          </a:p>
        </p:txBody>
      </p:sp>
      <p:sp>
        <p:nvSpPr>
          <p:cNvPr id="5" name="Document sources">
            <a:extLst xmlns:a="http://schemas.openxmlformats.org/drawingml/2006/main">
              <a:ext uri="{FF2B5EF4-FFF2-40B4-BE49-F238E27FC236}">
                <a16:creationId xmlns:a16="http://schemas.microsoft.com/office/drawing/2014/main" id="{D5C5131A-C5AF-475F-A230-05B44EB6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752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FF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6" name="Code sources">
            <a:extLst xmlns:a="http://schemas.openxmlformats.org/drawingml/2006/main">
              <a:ext uri="{FF2B5EF4-FFF2-40B4-BE49-F238E27FC236}">
                <a16:creationId xmlns:a16="http://schemas.microsoft.com/office/drawing/2014/main" id="{BCC12658-76E7-4AE5-81CE-585D8E94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85975"/>
            <a:ext cx="1752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FF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GitHub code</a:t>
            </a:r>
          </a:p>
        </p:txBody>
      </p:sp>
      <p:sp>
        <p:nvSpPr>
          <p:cNvPr id="7" name="Ticket sources">
            <a:extLst xmlns:a="http://schemas.openxmlformats.org/drawingml/2006/main">
              <a:ext uri="{FF2B5EF4-FFF2-40B4-BE49-F238E27FC236}">
                <a16:creationId xmlns:a16="http://schemas.microsoft.com/office/drawing/2014/main" id="{6E9A6C46-0F8D-47DD-90DF-001269CB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85975"/>
            <a:ext cx="1943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FF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Jira / ServiceNow</a:t>
            </a:r>
          </a:p>
        </p:txBody>
      </p:sp>
      <p:sp>
        <p:nvSpPr>
          <p:cNvPr id="8" name="Ingestion workers">
            <a:extLst xmlns:a="http://schemas.openxmlformats.org/drawingml/2006/main">
              <a:ext uri="{FF2B5EF4-FFF2-40B4-BE49-F238E27FC236}">
                <a16:creationId xmlns:a16="http://schemas.microsoft.com/office/drawing/2014/main" id="{BF1972A5-2CFF-4073-BEAE-80630B9C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57531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FF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Ingestion and indexing workers</a:t>
            </a:r>
          </a:p>
          <a:p xmlns:a="http://schemas.openxmlformats.org/drawingml/2006/main">
            <a:pPr algn="ctr">
              <a:defRPr sz="15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Document conversion, code indexing, ticket import</a:t>
            </a:r>
          </a:p>
        </p:txBody>
      </p:sp>
      <p:sp>
        <p:nvSpPr>
          <p:cNvPr id="9" name="Knowledge and retrieval">
            <a:extLst xmlns:a="http://schemas.openxmlformats.org/drawingml/2006/main">
              <a:ext uri="{FF2B5EF4-FFF2-40B4-BE49-F238E27FC236}">
                <a16:creationId xmlns:a16="http://schemas.microsoft.com/office/drawing/2014/main" id="{71BD12BE-1758-42FD-9D25-824C495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43325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00C0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knowledge and retrieval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Versioned evidence, knowledge graph and code graph</a:t>
            </a:r>
          </a:p>
        </p:txBody>
      </p:sp>
      <p:sp>
        <p:nvSpPr>
          <p:cNvPr id="10" name="Read channels">
            <a:extLst xmlns:a="http://schemas.openxmlformats.org/drawingml/2006/main">
              <a:ext uri="{FF2B5EF4-FFF2-40B4-BE49-F238E27FC236}">
                <a16:creationId xmlns:a16="http://schemas.microsoft.com/office/drawing/2014/main" id="{05A953B7-8082-4052-9D0B-B9BB6342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2362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FF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Cited chat</a:t>
            </a:r>
          </a:p>
          <a:p xmlns:a="http://schemas.openxmlformats.org/drawingml/2006/main">
            <a:pPr algn="ctr">
              <a:defRPr sz="157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REST / MCP access</a:t>
            </a:r>
          </a:p>
        </p:txBody>
      </p:sp>
      <p:sp>
        <p:nvSpPr>
          <p:cNvPr id="11" name="Factory planning">
            <a:extLst xmlns:a="http://schemas.openxmlformats.org/drawingml/2006/main">
              <a:ext uri="{FF2B5EF4-FFF2-40B4-BE49-F238E27FC236}">
                <a16:creationId xmlns:a16="http://schemas.microsoft.com/office/drawing/2014/main" id="{4A547954-9E52-4BC9-8A63-7894CC35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95825"/>
            <a:ext cx="28384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FF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Code Factory</a:t>
            </a:r>
          </a:p>
          <a:p xmlns:a="http://schemas.openxmlformats.org/drawingml/2006/main">
            <a:pPr algn="ctr">
              <a:defRPr sz="157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Evidence-based plan</a:t>
            </a:r>
          </a:p>
        </p:txBody>
      </p:sp>
      <p:sp>
        <p:nvSpPr>
          <p:cNvPr id="12" name="Human review gate">
            <a:extLst xmlns:a="http://schemas.openxmlformats.org/drawingml/2006/main">
              <a:ext uri="{FF2B5EF4-FFF2-40B4-BE49-F238E27FC236}">
                <a16:creationId xmlns:a16="http://schemas.microsoft.com/office/drawing/2014/main" id="{603B5D5E-BD1B-4BFB-B26E-DF39AD05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81650"/>
            <a:ext cx="2838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FF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Independent approval + verification</a:t>
            </a:r>
          </a:p>
        </p:txBody>
      </p:sp>
      <p:sp>
        <p:nvSpPr>
          <p:cNvPr id="13" name="Draft pull request">
            <a:extLst xmlns:a="http://schemas.openxmlformats.org/drawingml/2006/main">
              <a:ext uri="{FF2B5EF4-FFF2-40B4-BE49-F238E27FC236}">
                <a16:creationId xmlns:a16="http://schemas.microsoft.com/office/drawing/2014/main" id="{25BA8586-FE85-4715-ADDA-A057EF05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2198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00C0"/>
          </a:solidFill>
          <a:ln xmlns:a="http://schemas.openxmlformats.org/drawingml/2006/main" w="13335">
            <a:solidFill>
              <a:srgbClr val="A100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Draft pull request</a:t>
            </a:r>
          </a:p>
        </p:txBody>
      </p:sp>
      <p:cxnSp>
        <p:nvCxnSpPr>
          <p:cNvPr id="46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409700" y="2514600"/>
            <a:ext cx="200025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100FF"/>
            </a:solidFill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314700" y="2514600"/>
            <a:ext cx="9525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100FF"/>
            </a:solidFill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409950" y="2514600"/>
            <a:ext cx="190500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100FF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409950" y="341947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00FF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714500" y="4352925"/>
            <a:ext cx="1695450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100FF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409950" y="4352925"/>
            <a:ext cx="1457325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100FF"/>
            </a:solidFill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867275" y="52959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00FF"/>
            </a:solidFill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867275" y="60102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00FF"/>
            </a:solidFill>
            <a:tailEnd type="triangle" w="sm" len="sm"/>
          </a:ln>
        </p:spPr>
      </p:cxnSp>
      <p:sp>
        <p:nvSpPr>
          <p:cNvPr id="22" name="Foundation">
            <a:extLst xmlns:a="http://schemas.openxmlformats.org/drawingml/2006/main">
              <a:ext uri="{FF2B5EF4-FFF2-40B4-BE49-F238E27FC236}">
                <a16:creationId xmlns:a16="http://schemas.microsoft.com/office/drawing/2014/main" id="{123BF11B-35FC-492B-A4AB-43F814DB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261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Python / Django</a:t>
            </a:r>
          </a:p>
          <a:p xmlns:a="http://schemas.openxmlformats.org/drawingml/2006/main">
            <a:pPr>
              <a:defRPr sz="150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Background workers</a:t>
            </a:r>
          </a:p>
        </p:txBody>
      </p:sp>
      <p:sp>
        <p:nvSpPr>
          <p:cNvPr id="23" name="Shared policy">
            <a:extLst xmlns:a="http://schemas.openxmlformats.org/drawingml/2006/main">
              <a:ext uri="{FF2B5EF4-FFF2-40B4-BE49-F238E27FC236}">
                <a16:creationId xmlns:a16="http://schemas.microsoft.com/office/drawing/2014/main" id="{C887C414-C73F-442D-8E80-A1F811C7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62675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Application grants, audit</a:t>
            </a:r>
          </a:p>
          <a:p xmlns:a="http://schemas.openxmlformats.org/drawingml/2006/main">
            <a:pPr>
              <a:defRPr sz="13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and AI usage receipts</a:t>
            </a:r>
          </a:p>
        </p:txBody>
      </p:sp>
      <p:sp>
        <p:nvSpPr>
          <p:cNvPr id="24" name="Feature 0">
            <a:extLst xmlns:a="http://schemas.openxmlformats.org/drawingml/2006/main">
              <a:ext uri="{FF2B5EF4-FFF2-40B4-BE49-F238E27FC236}">
                <a16:creationId xmlns:a16="http://schemas.microsoft.com/office/drawing/2014/main" id="{AF54AD8A-02C4-4CC1-9EAF-496266E0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050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Evidence behind every answer</a:t>
            </a:r>
          </a:p>
        </p:txBody>
      </p:sp>
      <p:sp>
        <p:nvSpPr>
          <p:cNvPr id="25" name="Rationale 0">
            <a:extLst xmlns:a="http://schemas.openxmlformats.org/drawingml/2006/main">
              <a:ext uri="{FF2B5EF4-FFF2-40B4-BE49-F238E27FC236}">
                <a16:creationId xmlns:a16="http://schemas.microsoft.com/office/drawing/2014/main" id="{15A2F1FB-4767-405D-96CC-2A0D3020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reduce time spent reconstructing context.</a:t>
            </a:r>
          </a:p>
          <a:p xmlns:a="http://schemas.openxmlformats.org/drawingml/2006/main">
            <a:pPr>
              <a:defRPr sz="1425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versioned sources and verified citations.</a:t>
            </a:r>
          </a:p>
        </p:txBody>
      </p:sp>
      <p:sp>
        <p:nvSpPr>
          <p:cNvPr id="26" name="Feature 1">
            <a:extLst xmlns:a="http://schemas.openxmlformats.org/drawingml/2006/main">
              <a:ext uri="{FF2B5EF4-FFF2-40B4-BE49-F238E27FC236}">
                <a16:creationId xmlns:a16="http://schemas.microsoft.com/office/drawing/2014/main" id="{C1895076-5714-465E-8B83-40F3457F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Application access by design</a:t>
            </a:r>
          </a:p>
        </p:txBody>
      </p:sp>
      <p:sp>
        <p:nvSpPr>
          <p:cNvPr id="27" name="Rationale 1">
            <a:extLst xmlns:a="http://schemas.openxmlformats.org/drawingml/2006/main">
              <a:ext uri="{FF2B5EF4-FFF2-40B4-BE49-F238E27FC236}">
                <a16:creationId xmlns:a16="http://schemas.microsoft.com/office/drawing/2014/main" id="{EEB0AEB5-9BF9-425D-A89A-FAF79958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control access to application knowledge.</a:t>
            </a:r>
          </a:p>
          <a:p xmlns:a="http://schemas.openxmlformats.org/drawingml/2006/main">
            <a:pPr>
              <a:defRPr sz="1425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explicit grants and server policy checks.</a:t>
            </a:r>
          </a:p>
        </p:txBody>
      </p:sp>
      <p:sp>
        <p:nvSpPr>
          <p:cNvPr id="28" name="Feature 2">
            <a:extLst xmlns:a="http://schemas.openxmlformats.org/drawingml/2006/main">
              <a:ext uri="{FF2B5EF4-FFF2-40B4-BE49-F238E27FC236}">
                <a16:creationId xmlns:a16="http://schemas.microsoft.com/office/drawing/2014/main" id="{09DE9886-5E64-4F38-A20B-B2E63E90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00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Human control over code changes</a:t>
            </a:r>
          </a:p>
        </p:txBody>
      </p:sp>
      <p:sp>
        <p:nvSpPr>
          <p:cNvPr id="29" name="Rationale 2">
            <a:extLst xmlns:a="http://schemas.openxmlformats.org/drawingml/2006/main">
              <a:ext uri="{FF2B5EF4-FFF2-40B4-BE49-F238E27FC236}">
                <a16:creationId xmlns:a16="http://schemas.microsoft.com/office/drawing/2014/main" id="{BC71ECC3-3C6D-4773-845B-235E041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retain accountability as AI proposes fixes.</a:t>
            </a:r>
          </a:p>
          <a:p xmlns:a="http://schemas.openxmlformats.org/drawingml/2006/main">
            <a:pPr>
              <a:defRPr sz="1425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pinned plans, separate approval and draft PRs.</a:t>
            </a:r>
          </a:p>
        </p:txBody>
      </p:sp>
      <p:sp>
        <p:nvSpPr>
          <p:cNvPr id="30" name="Feature 3">
            <a:extLst xmlns:a="http://schemas.openxmlformats.org/drawingml/2006/main">
              <a:ext uri="{FF2B5EF4-FFF2-40B4-BE49-F238E27FC236}">
                <a16:creationId xmlns:a16="http://schemas.microsoft.com/office/drawing/2014/main" id="{920EC54F-61B1-4CE1-B05C-A07729C4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62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Model choice with cost visibility</a:t>
            </a:r>
          </a:p>
        </p:txBody>
      </p:sp>
      <p:sp>
        <p:nvSpPr>
          <p:cNvPr id="31" name="Rationale 3">
            <a:extLst xmlns:a="http://schemas.openxmlformats.org/drawingml/2006/main">
              <a:ext uri="{FF2B5EF4-FFF2-40B4-BE49-F238E27FC236}">
                <a16:creationId xmlns:a16="http://schemas.microsoft.com/office/drawing/2014/main" id="{8854F282-3B18-40AF-BEA7-1B7635A9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959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adapt AI use to the task and its cost.</a:t>
            </a:r>
          </a:p>
          <a:p xmlns:a="http://schemas.openxmlformats.org/drawingml/2006/main">
            <a:pPr>
              <a:defRPr sz="1425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OpenAI / Claude settings and usage receipts.</a:t>
            </a:r>
          </a:p>
        </p:txBody>
      </p:sp>
      <p:sp>
        <p:nvSpPr>
          <p:cNvPr id="32" name="Release boundary">
            <a:extLst xmlns:a="http://schemas.openxmlformats.org/drawingml/2006/main">
              <a:ext uri="{FF2B5EF4-FFF2-40B4-BE49-F238E27FC236}">
                <a16:creationId xmlns:a16="http://schemas.microsoft.com/office/drawing/2014/main" id="{D854759E-E941-4E7C-A4DE-492F911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34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64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476"/>
                </a:solidFill>
                <a:latin typeface="Arial"/>
                <a:ea typeface="Arial"/>
                <a:cs typeface="Arial"/>
              </a:rPr>
              <a:t>Production work remains: SSO / MFA, storage isolation,</a:t>
            </a:r>
          </a:p>
          <a:p xmlns:a="http://schemas.openxmlformats.org/drawingml/2006/main">
            <a:pPr>
              <a:defRPr sz="1200" b="0">
                <a:solidFill>
                  <a:srgbClr val="6D64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476"/>
                </a:solidFill>
                <a:latin typeface="Arial"/>
                <a:ea typeface="Arial"/>
                <a:cs typeface="Arial"/>
              </a:rPr>
              <a:t>source permissions and recovery validation.</a:t>
            </a:r>
          </a:p>
        </p:txBody>
      </p:sp>
    </p:spTree>
    <p:extLst>
      <p:ext uri="{BB962C8B-B14F-4D97-AF65-F5344CB8AC3E}">
        <p14:creationId xmlns:p14="http://schemas.microsoft.com/office/powerpoint/2010/main" val="516977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2026-09-25T11:42:50.6510000Z</dcterms:created>
  <dcterms:modified xsi:type="dcterms:W3CDTF">2026-09-25T11:42:50.6510000Z</dcterms:modified>
</coreProperties>
</file>