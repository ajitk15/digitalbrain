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f2e0d701634bd3" /><Relationship Type="http://schemas.openxmlformats.org/officeDocument/2006/relationships/extended-properties" Target="/docProps/app.xml" Id="Rb98bf6ec9655415f" /><Relationship Type="http://schemas.openxmlformats.org/officeDocument/2006/relationships/officeDocument" Target="/ppt/presentation.xml" Id="R6d24fb1f959548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301904f09a4639"/>
  </p:sldMasterIdLst>
  <p:notesMasterIdLst>
    <p:notesMasterId xmlns:r="http://schemas.openxmlformats.org/officeDocument/2006/relationships" r:id="Rb91f6e311c184556"/>
  </p:notesMasterIdLst>
  <p:sldIdLst>
    <p:sldId xmlns:r="http://schemas.openxmlformats.org/officeDocument/2006/relationships" id="256" r:id="R8ccc4f6fcec244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05d9c0ae641a1" /><Relationship Type="http://schemas.openxmlformats.org/officeDocument/2006/relationships/slideMaster" Target="/ppt/slideMasters/slideMaster1.xml" Id="R7b301904f09a4639" /><Relationship Type="http://schemas.openxmlformats.org/officeDocument/2006/relationships/notesMaster" Target="/ppt/notesMasters/notesMaster1.xml" Id="Rb91f6e311c184556" /><Relationship Type="http://schemas.openxmlformats.org/officeDocument/2006/relationships/presProps" Target="/ppt/presProps.xml" Id="R7d59d0a5f9934b94" /><Relationship Type="http://schemas.openxmlformats.org/officeDocument/2006/relationships/tableStyles" Target="/ppt/tableStyles.xml" Id="Rdc4faaee204a4299" /><Relationship Type="http://schemas.openxmlformats.org/officeDocument/2006/relationships/slide" Target="/ppt/slides/slide1.xml" Id="R8ccc4f6fcec244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9164647a77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a7ab3d282f4594" /><Relationship Type="http://schemas.openxmlformats.org/officeDocument/2006/relationships/notesMaster" Target="/ppt/notesMasters/notesMaster1.xml" Id="R3dca1be094b54b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Validated against the current local working tree on 25 September 2026. Sources: README.md; docs/feature-workflows.md; docs/non-functional.md; platform_core/code_factory.py; platform_core/code_graph.py; platform_core/graphs.py; platform_core/connectors.py; platform_core/serviceops.py; platform_core/serviceops_triage.py; platform_core/utility/api_triage.py; platform_core/models.py. The ServiceOps hypothesis and verdict flow is present in uncommitted local changes and is therefore current-build work, not a released capability. Its 20 targeted tests passed locally. Connector imports may be scheduled every 15 minutes or longer and are not a live event stream. Code Factory performs a model verification phase but does not run a repository build or test suite and creates only a draft PR. ServiceOps confidence bands are provisional, not calibrated probabilities; it does not establish root cause or remediate an incident. The wow statement describes the product combination within this workspace, not a market exclusivity claim. Production security and isolation work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4036e906f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d39a4e13c44f85" /><Relationship Type="http://schemas.openxmlformats.org/officeDocument/2006/relationships/slideLayout" Target="/ppt/slideLayouts/slideLayout1.xml" Id="Re8d673f71b7545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d673f71b7545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8f90f83b049f0" /><Relationship Type="http://schemas.openxmlformats.org/officeDocument/2006/relationships/notesSlide" Target="/ppt/notesSlides/notesSlide1.xml" Id="Ra878eeacdc1d42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A63E1EA1-2B8D-4F59-9EB7-835D5ACF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Digital Brain: evidence to action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3FEAB7-5D95-466C-B39C-9A596E6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772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Current architecture and differentiators for SDLC and ServiceOps</a:t>
            </a:r>
          </a:p>
        </p:txBody>
      </p:sp>
      <p:sp>
        <p:nvSpPr>
          <p:cNvPr id="3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70932892-B53F-42C5-BBFC-E308FD0D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CURRENT ARCHITECTURE</a:t>
            </a:r>
          </a:p>
        </p:txBody>
      </p:sp>
      <p:sp>
        <p:nvSpPr>
          <p:cNvPr id="4" name="Sources">
            <a:extLst xmlns:a="http://schemas.openxmlformats.org/drawingml/2006/main">
              <a:ext uri="{FF2B5EF4-FFF2-40B4-BE49-F238E27FC236}">
                <a16:creationId xmlns:a16="http://schemas.microsoft.com/office/drawing/2014/main" id="{21ACEFA8-A44E-4E6A-9BED-558EFEDA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5" name="Sources title">
            <a:extLst xmlns:a="http://schemas.openxmlformats.org/drawingml/2006/main">
              <a:ext uri="{FF2B5EF4-FFF2-40B4-BE49-F238E27FC236}">
                <a16:creationId xmlns:a16="http://schemas.microsoft.com/office/drawing/2014/main" id="{E0F64BB6-3518-4465-8C7C-C8E3CC7F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6" name="Sources detail">
            <a:extLst xmlns:a="http://schemas.openxmlformats.org/drawingml/2006/main">
              <a:ext uri="{FF2B5EF4-FFF2-40B4-BE49-F238E27FC236}">
                <a16:creationId xmlns:a16="http://schemas.microsoft.com/office/drawing/2014/main" id="{D6341111-D187-4EC8-94A9-FAE5A4BA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Documents, GitHub code,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Jira and ServiceNow</a:t>
            </a:r>
          </a:p>
        </p:txBody>
      </p:sp>
      <p:sp>
        <p:nvSpPr>
          <p:cNvPr id="7" name="Processing">
            <a:extLst xmlns:a="http://schemas.openxmlformats.org/drawingml/2006/main">
              <a:ext uri="{FF2B5EF4-FFF2-40B4-BE49-F238E27FC236}">
                <a16:creationId xmlns:a16="http://schemas.microsoft.com/office/drawing/2014/main" id="{F4ED3623-23C2-4C31-8CC3-B3A9BF27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8" name="Processing title">
            <a:extLst xmlns:a="http://schemas.openxmlformats.org/drawingml/2006/main">
              <a:ext uri="{FF2B5EF4-FFF2-40B4-BE49-F238E27FC236}">
                <a16:creationId xmlns:a16="http://schemas.microsoft.com/office/drawing/2014/main" id="{7616B18E-B147-419E-91AC-A5D7BEC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9" name="Processing detail">
            <a:extLst xmlns:a="http://schemas.openxmlformats.org/drawingml/2006/main">
              <a:ext uri="{FF2B5EF4-FFF2-40B4-BE49-F238E27FC236}">
                <a16:creationId xmlns:a16="http://schemas.microsoft.com/office/drawing/2014/main" id="{F76ADCE0-2888-4BCE-92E4-AC1A42D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Conversion, code indexing,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scheduled ticket import</a:t>
            </a:r>
          </a:p>
        </p:txBody>
      </p:sp>
      <p:sp>
        <p:nvSpPr>
          <p:cNvPr id="10" name="Evidence">
            <a:extLst xmlns:a="http://schemas.openxmlformats.org/drawingml/2006/main">
              <a:ext uri="{FF2B5EF4-FFF2-40B4-BE49-F238E27FC236}">
                <a16:creationId xmlns:a16="http://schemas.microsoft.com/office/drawing/2014/main" id="{CFF52B99-6BA6-4D8B-ACB3-16025034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11" name="Evidence title">
            <a:extLst xmlns:a="http://schemas.openxmlformats.org/drawingml/2006/main">
              <a:ext uri="{FF2B5EF4-FFF2-40B4-BE49-F238E27FC236}">
                <a16:creationId xmlns:a16="http://schemas.microsoft.com/office/drawing/2014/main" id="{65EB9765-6FBE-4D85-AA35-9BA1276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Application evidence</a:t>
            </a:r>
          </a:p>
        </p:txBody>
      </p:sp>
      <p:sp>
        <p:nvSpPr>
          <p:cNvPr id="12" name="Evidence detail">
            <a:extLst xmlns:a="http://schemas.openxmlformats.org/drawingml/2006/main">
              <a:ext uri="{FF2B5EF4-FFF2-40B4-BE49-F238E27FC236}">
                <a16:creationId xmlns:a16="http://schemas.microsoft.com/office/drawing/2014/main" id="{FBD4C33B-47E6-429F-B4BD-8DD55DEC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Published knowledge graph,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pinned code snapshot</a:t>
            </a:r>
          </a:p>
        </p:txBody>
      </p:sp>
      <p:sp>
        <p:nvSpPr>
          <p:cNvPr id="13" name="Use">
            <a:extLst xmlns:a="http://schemas.openxmlformats.org/drawingml/2006/main">
              <a:ext uri="{FF2B5EF4-FFF2-40B4-BE49-F238E27FC236}">
                <a16:creationId xmlns:a16="http://schemas.microsoft.com/office/drawing/2014/main" id="{16326DAC-4E02-480E-B465-4B9B3C78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14" name="Use title">
            <a:extLst xmlns:a="http://schemas.openxmlformats.org/drawingml/2006/main">
              <a:ext uri="{FF2B5EF4-FFF2-40B4-BE49-F238E27FC236}">
                <a16:creationId xmlns:a16="http://schemas.microsoft.com/office/drawing/2014/main" id="{0AD7179A-EA57-4161-83FA-8814D26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Experiences</a:t>
            </a:r>
          </a:p>
        </p:txBody>
      </p:sp>
      <p:sp>
        <p:nvSpPr>
          <p:cNvPr id="15" name="Use detail">
            <a:extLst xmlns:a="http://schemas.openxmlformats.org/drawingml/2006/main">
              <a:ext uri="{FF2B5EF4-FFF2-40B4-BE49-F238E27FC236}">
                <a16:creationId xmlns:a16="http://schemas.microsoft.com/office/drawing/2014/main" id="{9C5EB2F3-6637-4910-9415-110C550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Cited chat / API, Code Factory,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ServiceOps triage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24200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43625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163050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sp>
        <p:nvSpPr>
          <p:cNvPr id="19" name="SDLC header">
            <a:extLst xmlns:a="http://schemas.openxmlformats.org/drawingml/2006/main">
              <a:ext uri="{FF2B5EF4-FFF2-40B4-BE49-F238E27FC236}">
                <a16:creationId xmlns:a16="http://schemas.microsoft.com/office/drawing/2014/main" id="{AC8533D3-9832-4419-8029-E7460040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20" name="SDLC journey">
            <a:extLst xmlns:a="http://schemas.openxmlformats.org/drawingml/2006/main">
              <a:ext uri="{FF2B5EF4-FFF2-40B4-BE49-F238E27FC236}">
                <a16:creationId xmlns:a16="http://schemas.microsoft.com/office/drawing/2014/main" id="{236B332E-9097-4C17-AF2E-08680E1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3325"/>
            <a:ext cx="536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Ticket → cited plan → human approval → draft PR</a:t>
            </a:r>
          </a:p>
        </p:txBody>
      </p:sp>
      <p:sp>
        <p:nvSpPr>
          <p:cNvPr id="21" name="SDLC value">
            <a:extLst xmlns:a="http://schemas.openxmlformats.org/drawingml/2006/main">
              <a:ext uri="{FF2B5EF4-FFF2-40B4-BE49-F238E27FC236}">
                <a16:creationId xmlns:a16="http://schemas.microsoft.com/office/drawing/2014/main" id="{E84F82D2-B22B-4302-99F9-835B561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Pins source evidence and a repository commit. Separate approval and a verification pass govern the proposed file changes.</a:t>
            </a:r>
          </a:p>
        </p:txBody>
      </p:sp>
      <p:sp>
        <p:nvSpPr>
          <p:cNvPr id="22" name="ServiceOps header">
            <a:extLst xmlns:a="http://schemas.openxmlformats.org/drawingml/2006/main">
              <a:ext uri="{FF2B5EF4-FFF2-40B4-BE49-F238E27FC236}">
                <a16:creationId xmlns:a16="http://schemas.microsoft.com/office/drawing/2014/main" id="{FBD33583-80C7-4035-A09D-5460000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52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23" name="ServiceOps journey">
            <a:extLst xmlns:a="http://schemas.openxmlformats.org/drawingml/2006/main">
              <a:ext uri="{FF2B5EF4-FFF2-40B4-BE49-F238E27FC236}">
                <a16:creationId xmlns:a16="http://schemas.microsoft.com/office/drawing/2014/main" id="{E35F25E2-2C9D-4B7C-B7DA-9DADA7C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43325"/>
            <a:ext cx="5305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Incident → cited hypotheses → human verdict</a:t>
            </a:r>
          </a:p>
        </p:txBody>
      </p:sp>
      <p:sp>
        <p:nvSpPr>
          <p:cNvPr id="24" name="ServiceOps value">
            <a:extLst xmlns:a="http://schemas.openxmlformats.org/drawingml/2006/main">
              <a:ext uri="{FF2B5EF4-FFF2-40B4-BE49-F238E27FC236}">
                <a16:creationId xmlns:a16="http://schemas.microsoft.com/office/drawing/2014/main" id="{05B97A80-4CD5-4E85-9405-548DA5C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48175"/>
            <a:ext cx="53054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Combines resolved precedents, recent same-CI changes and published graph quotes. Offers read-only next checks and abstains when evidence is weak.</a:t>
            </a:r>
          </a:p>
        </p:txBody>
      </p:sp>
      <p:sp>
        <p:nvSpPr>
          <p:cNvPr id="25" name="Wow banner">
            <a:extLst xmlns:a="http://schemas.openxmlformats.org/drawingml/2006/main">
              <a:ext uri="{FF2B5EF4-FFF2-40B4-BE49-F238E27FC236}">
                <a16:creationId xmlns:a16="http://schemas.microsoft.com/office/drawing/2014/main" id="{140D4ABD-249E-45A3-A6EF-081B3954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112014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00C0"/>
          </a:solidFill>
          <a:ln xmlns:a="http://schemas.openxmlformats.org/drawingml/2006/main" w="0">
            <a:solidFill>
              <a:srgbClr val="7500C0"/>
            </a:solidFill>
          </a:ln>
        </p:spPr>
      </p:sp>
      <p:sp>
        <p:nvSpPr>
          <p:cNvPr id="26" name="Wow heading">
            <a:extLst xmlns:a="http://schemas.openxmlformats.org/drawingml/2006/main">
              <a:ext uri="{FF2B5EF4-FFF2-40B4-BE49-F238E27FC236}">
                <a16:creationId xmlns:a16="http://schemas.microsoft.com/office/drawing/2014/main" id="{F8F64CA3-1574-4009-8A6C-9473824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WOW FACTOR</a:t>
            </a:r>
          </a:p>
        </p:txBody>
      </p:sp>
      <p:sp>
        <p:nvSpPr>
          <p:cNvPr id="27" name="Wow statement">
            <a:extLst xmlns:a="http://schemas.openxmlformats.org/drawingml/2006/main">
              <a:ext uri="{FF2B5EF4-FFF2-40B4-BE49-F238E27FC236}">
                <a16:creationId xmlns:a16="http://schemas.microsoft.com/office/drawing/2014/main" id="{F6F9A1B1-C0AC-40D8-8343-77AA294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810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governed workspace traces both code-change proposals and incident briefs back to source evidence, with a human decision before action.</a:t>
            </a:r>
          </a:p>
        </p:txBody>
      </p:sp>
      <p:sp>
        <p:nvSpPr>
          <p:cNvPr id="28" name="Scope note">
            <a:extLst xmlns:a="http://schemas.openxmlformats.org/drawingml/2006/main">
              <a:ext uri="{FF2B5EF4-FFF2-40B4-BE49-F238E27FC236}">
                <a16:creationId xmlns:a16="http://schemas.microsoft.com/office/drawing/2014/main" id="{8384B29D-2E15-43B1-A3B5-A1CEBF87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15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6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6476"/>
                </a:solidFill>
                <a:latin typeface="Arial"/>
                <a:ea typeface="Arial"/>
                <a:cs typeface="Arial"/>
              </a:rPr>
              <a:t>Current build: connector sync is opt-in (15-minute minimum); triage runs on demand. Production hardening remains in progress.</a:t>
            </a:r>
          </a:p>
        </p:txBody>
      </p:sp>
    </p:spTree>
    <p:extLst>
      <p:ext uri="{BB962C8B-B14F-4D97-AF65-F5344CB8AC3E}">
        <p14:creationId xmlns:p14="http://schemas.microsoft.com/office/powerpoint/2010/main" val="1241136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2026-09-25T11:54:24.0400000Z</dcterms:created>
  <dcterms:modified xsi:type="dcterms:W3CDTF">2026-09-25T11:54:24.0400000Z</dcterms:modified>
</coreProperties>
</file>