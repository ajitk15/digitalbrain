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5fdbefd13f48ee" /><Relationship Type="http://schemas.openxmlformats.org/officeDocument/2006/relationships/extended-properties" Target="/docProps/app.xml" Id="R192f45e5471e4624" /><Relationship Type="http://schemas.openxmlformats.org/officeDocument/2006/relationships/officeDocument" Target="/ppt/presentation.xml" Id="Ra6fa3bec890145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88033f5d2a48d8"/>
  </p:sldMasterIdLst>
  <p:notesMasterIdLst>
    <p:notesMasterId xmlns:r="http://schemas.openxmlformats.org/officeDocument/2006/relationships" r:id="R6ce3fb89399541e9"/>
  </p:notesMasterIdLst>
  <p:sldIdLst>
    <p:sldId xmlns:r="http://schemas.openxmlformats.org/officeDocument/2006/relationships" id="256" r:id="Re4992fc2a78643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8e9397e02421d" /><Relationship Type="http://schemas.openxmlformats.org/officeDocument/2006/relationships/slideMaster" Target="/ppt/slideMasters/slideMaster1.xml" Id="Re788033f5d2a48d8" /><Relationship Type="http://schemas.openxmlformats.org/officeDocument/2006/relationships/notesMaster" Target="/ppt/notesMasters/notesMaster1.xml" Id="R6ce3fb89399541e9" /><Relationship Type="http://schemas.openxmlformats.org/officeDocument/2006/relationships/presProps" Target="/ppt/presProps.xml" Id="R9722ed42049a465a" /><Relationship Type="http://schemas.openxmlformats.org/officeDocument/2006/relationships/tableStyles" Target="/ppt/tableStyles.xml" Id="Re0734190015e49a9" /><Relationship Type="http://schemas.openxmlformats.org/officeDocument/2006/relationships/slide" Target="/ppt/slides/slide1.xml" Id="Re4992fc2a78643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15e693a58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aa9edfe5a41c9" /><Relationship Type="http://schemas.openxmlformats.org/officeDocument/2006/relationships/notesMaster" Target="/ppt/notesMasters/notesMaster1.xml" Id="Rc57979f068b34a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Validated against the current local working tree on 25 September 2026. Sources: README.md; docs/feature-workflows.md; docs/non-functional.md; platform_core/code_factory.py; platform_core/code_graph.py; platform_core/graphs.py; platform_core/connectors.py; platform_core/serviceops.py; platform_core/serviceops_triage.py; platform_core/utility/api_triage.py; platform_core/models.py. The ServiceOps hypothesis and verdict flow is present in uncommitted local changes and is therefore current-build work, not a released capability. Its 20 targeted tests passed locally. Connector imports may be scheduled every 15 minutes or longer and are not a live event stream. Code Factory performs a model verification phase but does not run a repository build or test suite and creates only a draft PR. ServiceOps confidence bands are provisional, not calibrated probabilities; it does not establish root cause or remediate an incident. The wow statement describes the product combination within this workspace, not a market exclusivity claim. Production security and isolation work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a1da3a95c4e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c9af3f6ac418d" /><Relationship Type="http://schemas.openxmlformats.org/officeDocument/2006/relationships/slideLayout" Target="/ppt/slideLayouts/slideLayout1.xml" Id="R676fa44505de41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fa44505de41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9b1aaf9944184" /><Relationship Type="http://schemas.openxmlformats.org/officeDocument/2006/relationships/notesSlide" Target="/ppt/notesSlides/notesSlide1.xml" Id="R5af5de4072064e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4F5E3870-D67B-4247-990D-8B507247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Brain: evidence to action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F72A05-04E3-4BC4-A99C-935C1B79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772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Current architecture and differentiators for SDLC and ServiceOps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FC16A95B-B591-4C37-A422-DFFCD09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CURRENT ARCHITECTURE</a:t>
            </a:r>
          </a:p>
        </p:txBody>
      </p:sp>
      <p:sp>
        <p:nvSpPr>
          <p:cNvPr id="4" name="Sources">
            <a:extLst xmlns:a="http://schemas.openxmlformats.org/drawingml/2006/main">
              <a:ext uri="{FF2B5EF4-FFF2-40B4-BE49-F238E27FC236}">
                <a16:creationId xmlns:a16="http://schemas.microsoft.com/office/drawing/2014/main" id="{B20A7539-80F4-4A80-8BBD-977320E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5" name="Sources title">
            <a:extLst xmlns:a="http://schemas.openxmlformats.org/drawingml/2006/main">
              <a:ext uri="{FF2B5EF4-FFF2-40B4-BE49-F238E27FC236}">
                <a16:creationId xmlns:a16="http://schemas.microsoft.com/office/drawing/2014/main" id="{24F6FFD9-F97B-4B8C-BAF6-D4DBBA5A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6" name="Sources detail">
            <a:extLst xmlns:a="http://schemas.openxmlformats.org/drawingml/2006/main">
              <a:ext uri="{FF2B5EF4-FFF2-40B4-BE49-F238E27FC236}">
                <a16:creationId xmlns:a16="http://schemas.microsoft.com/office/drawing/2014/main" id="{B39B9901-53DB-4710-973D-0417CC4E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Documents, GitHub code,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Jira and ServiceNow</a:t>
            </a:r>
          </a:p>
        </p:txBody>
      </p:sp>
      <p:sp>
        <p:nvSpPr>
          <p:cNvPr id="7" name="Processing">
            <a:extLst xmlns:a="http://schemas.openxmlformats.org/drawingml/2006/main">
              <a:ext uri="{FF2B5EF4-FFF2-40B4-BE49-F238E27FC236}">
                <a16:creationId xmlns:a16="http://schemas.microsoft.com/office/drawing/2014/main" id="{8F16A648-B086-41BB-940A-C5038AFF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8" name="Processing title">
            <a:extLst xmlns:a="http://schemas.openxmlformats.org/drawingml/2006/main">
              <a:ext uri="{FF2B5EF4-FFF2-40B4-BE49-F238E27FC236}">
                <a16:creationId xmlns:a16="http://schemas.microsoft.com/office/drawing/2014/main" id="{0CE758D7-B2F3-4CBD-BF9E-36DE479C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9" name="Processing detail">
            <a:extLst xmlns:a="http://schemas.openxmlformats.org/drawingml/2006/main">
              <a:ext uri="{FF2B5EF4-FFF2-40B4-BE49-F238E27FC236}">
                <a16:creationId xmlns:a16="http://schemas.microsoft.com/office/drawing/2014/main" id="{83832256-E20E-45B3-9870-C7C8CB7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Conversion, code indexing,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scheduled ticket import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4B0B50CD-E24D-4BA9-9E4E-7BF6880F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1" name="Evidence title">
            <a:extLst xmlns:a="http://schemas.openxmlformats.org/drawingml/2006/main">
              <a:ext uri="{FF2B5EF4-FFF2-40B4-BE49-F238E27FC236}">
                <a16:creationId xmlns:a16="http://schemas.microsoft.com/office/drawing/2014/main" id="{0FED0FD3-97EB-49A3-BE83-7B2D7913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evidence</a:t>
            </a:r>
          </a:p>
        </p:txBody>
      </p:sp>
      <p:sp>
        <p:nvSpPr>
          <p:cNvPr id="12" name="Evidence detail">
            <a:extLst xmlns:a="http://schemas.openxmlformats.org/drawingml/2006/main">
              <a:ext uri="{FF2B5EF4-FFF2-40B4-BE49-F238E27FC236}">
                <a16:creationId xmlns:a16="http://schemas.microsoft.com/office/drawing/2014/main" id="{0419BE2A-B045-46F9-97BD-6DBFF2CB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Published graph;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commit-pinned code index</a:t>
            </a:r>
          </a:p>
        </p:txBody>
      </p:sp>
      <p:sp>
        <p:nvSpPr>
          <p:cNvPr id="13" name="Use">
            <a:extLst xmlns:a="http://schemas.openxmlformats.org/drawingml/2006/main">
              <a:ext uri="{FF2B5EF4-FFF2-40B4-BE49-F238E27FC236}">
                <a16:creationId xmlns:a16="http://schemas.microsoft.com/office/drawing/2014/main" id="{1761BCBC-CE43-4075-B4A4-C62DC78D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9750"/>
            <a:ext cx="26289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3FF"/>
          </a:solidFill>
          <a:ln xmlns:a="http://schemas.openxmlformats.org/drawingml/2006/main" w="15240">
            <a:solidFill>
              <a:srgbClr val="A100FF"/>
            </a:solidFill>
          </a:ln>
        </p:spPr>
      </p:sp>
      <p:sp>
        <p:nvSpPr>
          <p:cNvPr id="14" name="Use title">
            <a:extLst xmlns:a="http://schemas.openxmlformats.org/drawingml/2006/main">
              <a:ext uri="{FF2B5EF4-FFF2-40B4-BE49-F238E27FC236}">
                <a16:creationId xmlns:a16="http://schemas.microsoft.com/office/drawing/2014/main" id="{CCEBF551-4D4C-4B35-A9D1-59938CD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52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Experiences</a:t>
            </a:r>
          </a:p>
        </p:txBody>
      </p:sp>
      <p:sp>
        <p:nvSpPr>
          <p:cNvPr id="15" name="Use detail">
            <a:extLst xmlns:a="http://schemas.openxmlformats.org/drawingml/2006/main">
              <a:ext uri="{FF2B5EF4-FFF2-40B4-BE49-F238E27FC236}">
                <a16:creationId xmlns:a16="http://schemas.microsoft.com/office/drawing/2014/main" id="{F3A18DF3-23EE-41C0-A169-09CCE2A4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2324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Chat / API, Code Factory,</a:t>
            </a:r>
          </a:p>
          <a:p xmlns:a="http://schemas.openxmlformats.org/drawingml/2006/main">
            <a:pPr>
              <a:defRPr sz="1350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ServiceOps triage</a:t>
            </a:r>
          </a:p>
        </p:txBody>
      </p:sp>
      <p:cxnSp>
        <p:nvCxnSpPr>
          <p:cNvPr id="44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2420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43625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163050" y="23955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100FF"/>
            </a:solidFill>
            <a:tailEnd type="triangle" w="med" len="med"/>
          </a:ln>
        </p:spPr>
      </p:cxnSp>
      <p:sp>
        <p:nvSpPr>
          <p:cNvPr id="19" name="SDLC header">
            <a:extLst xmlns:a="http://schemas.openxmlformats.org/drawingml/2006/main">
              <a:ext uri="{FF2B5EF4-FFF2-40B4-BE49-F238E27FC236}">
                <a16:creationId xmlns:a16="http://schemas.microsoft.com/office/drawing/2014/main" id="{4368CD7C-2F34-4ED9-BEAB-7870A09C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SDLC</a:t>
            </a:r>
          </a:p>
        </p:txBody>
      </p:sp>
      <p:sp>
        <p:nvSpPr>
          <p:cNvPr id="20" name="SDLC journey">
            <a:extLst xmlns:a="http://schemas.openxmlformats.org/drawingml/2006/main">
              <a:ext uri="{FF2B5EF4-FFF2-40B4-BE49-F238E27FC236}">
                <a16:creationId xmlns:a16="http://schemas.microsoft.com/office/drawing/2014/main" id="{A56225AD-A1AD-4F58-B987-315D051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3325"/>
            <a:ext cx="5362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Ticket to approved draft PR</a:t>
            </a:r>
          </a:p>
        </p:txBody>
      </p:sp>
      <p:sp>
        <p:nvSpPr>
          <p:cNvPr id="21" name="SDLC value">
            <a:extLst xmlns:a="http://schemas.openxmlformats.org/drawingml/2006/main">
              <a:ext uri="{FF2B5EF4-FFF2-40B4-BE49-F238E27FC236}">
                <a16:creationId xmlns:a16="http://schemas.microsoft.com/office/drawing/2014/main" id="{CB30846C-A11B-4DFA-B540-3825058B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76725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Finds requirement-to-code gaps using published evidence and a commit-pinned code index. Human approval gates the draft PR.</a:t>
            </a:r>
          </a:p>
        </p:txBody>
      </p:sp>
      <p:sp>
        <p:nvSpPr>
          <p:cNvPr id="22" name="ServiceOps header">
            <a:extLst xmlns:a="http://schemas.openxmlformats.org/drawingml/2006/main">
              <a:ext uri="{FF2B5EF4-FFF2-40B4-BE49-F238E27FC236}">
                <a16:creationId xmlns:a16="http://schemas.microsoft.com/office/drawing/2014/main" id="{B9521C4C-00BE-4EA0-8AF7-B872C71A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52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23" name="ServiceOps journey">
            <a:extLst xmlns:a="http://schemas.openxmlformats.org/drawingml/2006/main">
              <a:ext uri="{FF2B5EF4-FFF2-40B4-BE49-F238E27FC236}">
                <a16:creationId xmlns:a16="http://schemas.microsoft.com/office/drawing/2014/main" id="{1A60FE58-FB22-4B17-8DD5-59019BA0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43325"/>
            <a:ext cx="5305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Incident to evidence brief and verdict</a:t>
            </a:r>
          </a:p>
        </p:txBody>
      </p:sp>
      <p:sp>
        <p:nvSpPr>
          <p:cNvPr id="24" name="ServiceOps value">
            <a:extLst xmlns:a="http://schemas.openxmlformats.org/drawingml/2006/main">
              <a:ext uri="{FF2B5EF4-FFF2-40B4-BE49-F238E27FC236}">
                <a16:creationId xmlns:a16="http://schemas.microsoft.com/office/drawing/2014/main" id="{0CC4328D-57DF-4A32-92E3-36102DE4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76725"/>
            <a:ext cx="53054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44C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44C5D"/>
                </a:solidFill>
                <a:latin typeface="Arial"/>
                <a:ea typeface="Arial"/>
                <a:cs typeface="Arial"/>
              </a:rPr>
              <a:t>Combines resolved precedents, recent same-CI changes and published graph quotes. Offers read-only next checks and abstains when evidence is weak.</a:t>
            </a:r>
          </a:p>
        </p:txBody>
      </p:sp>
      <p:sp>
        <p:nvSpPr>
          <p:cNvPr id="25" name="Wow banner">
            <a:extLst xmlns:a="http://schemas.openxmlformats.org/drawingml/2006/main">
              <a:ext uri="{FF2B5EF4-FFF2-40B4-BE49-F238E27FC236}">
                <a16:creationId xmlns:a16="http://schemas.microsoft.com/office/drawing/2014/main" id="{2D14CAE0-D95F-48DB-A08C-5194388D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12014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00C0"/>
          </a:solidFill>
          <a:ln xmlns:a="http://schemas.openxmlformats.org/drawingml/2006/main" w="0">
            <a:solidFill>
              <a:srgbClr val="7500C0"/>
            </a:solidFill>
          </a:ln>
        </p:spPr>
      </p:sp>
      <p:sp>
        <p:nvSpPr>
          <p:cNvPr id="26" name="Wow heading">
            <a:extLst xmlns:a="http://schemas.openxmlformats.org/drawingml/2006/main">
              <a:ext uri="{FF2B5EF4-FFF2-40B4-BE49-F238E27FC236}">
                <a16:creationId xmlns:a16="http://schemas.microsoft.com/office/drawing/2014/main" id="{613D14F8-5391-4C8B-98BA-271997EB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WOW FACTOR</a:t>
            </a:r>
          </a:p>
        </p:txBody>
      </p:sp>
      <p:sp>
        <p:nvSpPr>
          <p:cNvPr id="27" name="Wow statement">
            <a:extLst xmlns:a="http://schemas.openxmlformats.org/drawingml/2006/main">
              <a:ext uri="{FF2B5EF4-FFF2-40B4-BE49-F238E27FC236}">
                <a16:creationId xmlns:a16="http://schemas.microsoft.com/office/drawing/2014/main" id="{DF97A11E-E2C2-443A-8DB7-D51E6AAE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1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governed workspace turns source evidence into two reviewable outcomes: a draft PR and an incident brief.</a:t>
            </a:r>
          </a:p>
        </p:txBody>
      </p:sp>
      <p:sp>
        <p:nvSpPr>
          <p:cNvPr id="28" name="Scope note">
            <a:extLst xmlns:a="http://schemas.openxmlformats.org/drawingml/2006/main">
              <a:ext uri="{FF2B5EF4-FFF2-40B4-BE49-F238E27FC236}">
                <a16:creationId xmlns:a16="http://schemas.microsoft.com/office/drawing/2014/main" id="{8E72D539-244B-458D-B86F-36A24468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48425"/>
            <a:ext cx="111156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Current build: connector sync is opt-in (15-minute minimum); triage runs on demand. Production hardening remains in progress.</a:t>
            </a:r>
          </a:p>
        </p:txBody>
      </p:sp>
    </p:spTree>
    <p:extLst>
      <p:ext uri="{BB962C8B-B14F-4D97-AF65-F5344CB8AC3E}">
        <p14:creationId xmlns:p14="http://schemas.microsoft.com/office/powerpoint/2010/main" val="9210297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2026-09-25T11:56:05.2520000Z</dcterms:created>
  <dcterms:modified xsi:type="dcterms:W3CDTF">2026-09-25T11:56:05.2520000Z</dcterms:modified>
</coreProperties>
</file>