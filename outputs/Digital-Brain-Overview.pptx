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f88be9971e4c10" /><Relationship Type="http://schemas.openxmlformats.org/officeDocument/2006/relationships/extended-properties" Target="/docProps/app.xml" Id="R1318db087ce3431b" /><Relationship Type="http://schemas.openxmlformats.org/officeDocument/2006/relationships/officeDocument" Target="/ppt/presentation.xml" Id="Rda2ad00a0a4a41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9d46ae01e94600"/>
  </p:sldMasterIdLst>
  <p:notesMasterIdLst>
    <p:notesMasterId xmlns:r="http://schemas.openxmlformats.org/officeDocument/2006/relationships" r:id="R71c1a279d5634a80"/>
  </p:notesMasterIdLst>
  <p:sldIdLst>
    <p:sldId xmlns:r="http://schemas.openxmlformats.org/officeDocument/2006/relationships" id="256" r:id="Rdb7eff6bb9654f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0aa5e3cffe478d" /><Relationship Type="http://schemas.openxmlformats.org/officeDocument/2006/relationships/slideMaster" Target="/ppt/slideMasters/slideMaster1.xml" Id="R1c9d46ae01e94600" /><Relationship Type="http://schemas.openxmlformats.org/officeDocument/2006/relationships/notesMaster" Target="/ppt/notesMasters/notesMaster1.xml" Id="R71c1a279d5634a80" /><Relationship Type="http://schemas.openxmlformats.org/officeDocument/2006/relationships/presProps" Target="/ppt/presProps.xml" Id="R7df7c307be8c4674" /><Relationship Type="http://schemas.openxmlformats.org/officeDocument/2006/relationships/tableStyles" Target="/ppt/tableStyles.xml" Id="R6aae2a8ca2fc4605" /><Relationship Type="http://schemas.openxmlformats.org/officeDocument/2006/relationships/slide" Target="/ppt/slides/slide1.xml" Id="Rdb7eff6bb9654f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e20f5dcbec43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5edf4d8e1747a5" /><Relationship Type="http://schemas.openxmlformats.org/officeDocument/2006/relationships/notesMaster" Target="/ppt/notesMasters/notesMaster1.xml" Id="Ra2c229628e3448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snapshot grounded in local repository documents: README.md (Available now and Structure); docs/feature-workflows.md (documents, AI providers, Code Factory); docs/non-functional.md (security, availability and release requirements). Supporting code: platform_core/code_factory.py, platform_core/policy.py, platform_core/graphs.py, platform_core/code_graph.py, platform_core/ai.py. Business reasons describe design intent, not measured benefits. Per-application policy is implemented; database/storage isolation and source-level ACLs are production work. No production readiness or quantified productivity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28b2afbf74a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82be1128b44aea" /><Relationship Type="http://schemas.openxmlformats.org/officeDocument/2006/relationships/slideLayout" Target="/ppt/slideLayouts/slideLayout1.xml" Id="Rdf33f9a204c349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33f9a204c349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fc30de5d04eca" /><Relationship Type="http://schemas.openxmlformats.org/officeDocument/2006/relationships/notesSlide" Target="/ppt/notesSlides/notesSlide1.xml" Id="R18136653916048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7B4BBB1B-90DC-447A-88C8-0BC8DE8C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Digital Brain</a:t>
            </a:r>
          </a:p>
        </p:txBody>
      </p:sp>
      <p:sp>
        <p:nvSpPr>
          <p:cNvPr id="2" name="Purpose">
            <a:extLst xmlns:a="http://schemas.openxmlformats.org/drawingml/2006/main">
              <a:ext uri="{FF2B5EF4-FFF2-40B4-BE49-F238E27FC236}">
                <a16:creationId xmlns:a16="http://schemas.microsoft.com/office/drawing/2014/main" id="{1887782A-D9B7-4087-A1D8-78F3BBF7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42975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52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5265"/>
                </a:solidFill>
                <a:latin typeface="Arial"/>
                <a:ea typeface="Arial"/>
                <a:cs typeface="Arial"/>
              </a:rPr>
              <a:t>Application knowledge, cited answers and governed code changes</a:t>
            </a:r>
          </a:p>
        </p:txBody>
      </p:sp>
      <p:sp>
        <p:nvSpPr>
          <p:cNvPr id="3" name="Architecture heading">
            <a:extLst xmlns:a="http://schemas.openxmlformats.org/drawingml/2006/main">
              <a:ext uri="{FF2B5EF4-FFF2-40B4-BE49-F238E27FC236}">
                <a16:creationId xmlns:a16="http://schemas.microsoft.com/office/drawing/2014/main" id="{60BD2676-1D8B-4F2F-906D-4E672275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4" name="Differentiators heading">
            <a:extLst xmlns:a="http://schemas.openxmlformats.org/drawingml/2006/main">
              <a:ext uri="{FF2B5EF4-FFF2-40B4-BE49-F238E27FC236}">
                <a16:creationId xmlns:a16="http://schemas.microsoft.com/office/drawing/2014/main" id="{42E21ABC-2425-4888-9E91-0AAE8FFB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27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Key features / differentiators</a:t>
            </a:r>
          </a:p>
        </p:txBody>
      </p:sp>
      <p:sp>
        <p:nvSpPr>
          <p:cNvPr id="5" name="Stage 01">
            <a:extLst xmlns:a="http://schemas.openxmlformats.org/drawingml/2006/main">
              <a:ext uri="{FF2B5EF4-FFF2-40B4-BE49-F238E27FC236}">
                <a16:creationId xmlns:a16="http://schemas.microsoft.com/office/drawing/2014/main" id="{55B0C07A-88A1-4158-AC0A-ABB42067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Layer 01">
            <a:extLst xmlns:a="http://schemas.openxmlformats.org/drawingml/2006/main">
              <a:ext uri="{FF2B5EF4-FFF2-40B4-BE49-F238E27FC236}">
                <a16:creationId xmlns:a16="http://schemas.microsoft.com/office/drawing/2014/main" id="{76ED5312-D328-4CC1-91C9-83F1627A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05025"/>
            <a:ext cx="470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Connect sources</a:t>
            </a:r>
          </a:p>
        </p:txBody>
      </p:sp>
      <p:sp>
        <p:nvSpPr>
          <p:cNvPr id="7" name="Layer detail 01">
            <a:extLst xmlns:a="http://schemas.openxmlformats.org/drawingml/2006/main">
              <a:ext uri="{FF2B5EF4-FFF2-40B4-BE49-F238E27FC236}">
                <a16:creationId xmlns:a16="http://schemas.microsoft.com/office/drawing/2014/main" id="{F3CFE133-F686-4BA2-A664-EEC96C71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Documents, GitHub code, Jira and ServiceNow</a:t>
            </a:r>
          </a:p>
        </p:txBody>
      </p:sp>
      <p:sp>
        <p:nvSpPr>
          <p:cNvPr id="8" name="Stage 02">
            <a:extLst xmlns:a="http://schemas.openxmlformats.org/drawingml/2006/main">
              <a:ext uri="{FF2B5EF4-FFF2-40B4-BE49-F238E27FC236}">
                <a16:creationId xmlns:a16="http://schemas.microsoft.com/office/drawing/2014/main" id="{478A1B0D-28FC-43B7-B877-57B279A6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194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Layer 02">
            <a:extLst xmlns:a="http://schemas.openxmlformats.org/drawingml/2006/main">
              <a:ext uri="{FF2B5EF4-FFF2-40B4-BE49-F238E27FC236}">
                <a16:creationId xmlns:a16="http://schemas.microsoft.com/office/drawing/2014/main" id="{4130910E-94E5-4ACC-AD37-AA889534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470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Build application knowledge</a:t>
            </a:r>
          </a:p>
        </p:txBody>
      </p:sp>
      <p:sp>
        <p:nvSpPr>
          <p:cNvPr id="10" name="Layer detail 02">
            <a:extLst xmlns:a="http://schemas.openxmlformats.org/drawingml/2006/main">
              <a:ext uri="{FF2B5EF4-FFF2-40B4-BE49-F238E27FC236}">
                <a16:creationId xmlns:a16="http://schemas.microsoft.com/office/drawing/2014/main" id="{405704DF-2946-4431-9F0D-0E5543E6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Markdown conversion, versioned evidence</a:t>
            </a:r>
          </a:p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and knowledge / code graphs</a:t>
            </a:r>
          </a:p>
        </p:txBody>
      </p:sp>
      <p:sp>
        <p:nvSpPr>
          <p:cNvPr id="11" name="Stage 03">
            <a:extLst xmlns:a="http://schemas.openxmlformats.org/drawingml/2006/main">
              <a:ext uri="{FF2B5EF4-FFF2-40B4-BE49-F238E27FC236}">
                <a16:creationId xmlns:a16="http://schemas.microsoft.com/office/drawing/2014/main" id="{43553F28-1155-4252-A733-E7065A05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338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Layer 03">
            <a:extLst xmlns:a="http://schemas.openxmlformats.org/drawingml/2006/main">
              <a:ext uri="{FF2B5EF4-FFF2-40B4-BE49-F238E27FC236}">
                <a16:creationId xmlns:a16="http://schemas.microsoft.com/office/drawing/2014/main" id="{649807C6-FC44-4928-8F99-D7724DE9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33825"/>
            <a:ext cx="470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Retrieve and reason</a:t>
            </a:r>
          </a:p>
        </p:txBody>
      </p:sp>
      <p:sp>
        <p:nvSpPr>
          <p:cNvPr id="13" name="Layer detail 03">
            <a:extLst xmlns:a="http://schemas.openxmlformats.org/drawingml/2006/main">
              <a:ext uri="{FF2B5EF4-FFF2-40B4-BE49-F238E27FC236}">
                <a16:creationId xmlns:a16="http://schemas.microsoft.com/office/drawing/2014/main" id="{0DD01C3B-EDB0-47A8-8554-1D4E01F2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Shared retrieval for cited chat, REST / MCP</a:t>
            </a:r>
          </a:p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and Code Factory plans</a:t>
            </a:r>
          </a:p>
        </p:txBody>
      </p:sp>
      <p:sp>
        <p:nvSpPr>
          <p:cNvPr id="14" name="Stage 04">
            <a:extLst xmlns:a="http://schemas.openxmlformats.org/drawingml/2006/main">
              <a:ext uri="{FF2B5EF4-FFF2-40B4-BE49-F238E27FC236}">
                <a16:creationId xmlns:a16="http://schemas.microsoft.com/office/drawing/2014/main" id="{EABF092B-D8A5-4CA0-9F69-373FAFE4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100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100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Layer 04">
            <a:extLst xmlns:a="http://schemas.openxmlformats.org/drawingml/2006/main">
              <a:ext uri="{FF2B5EF4-FFF2-40B4-BE49-F238E27FC236}">
                <a16:creationId xmlns:a16="http://schemas.microsoft.com/office/drawing/2014/main" id="{67C7CD6D-E2C7-44AD-95F0-41D8F6E1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48225"/>
            <a:ext cx="470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Review and deliver</a:t>
            </a:r>
          </a:p>
        </p:txBody>
      </p:sp>
      <p:sp>
        <p:nvSpPr>
          <p:cNvPr id="16" name="Layer detail 04">
            <a:extLst xmlns:a="http://schemas.openxmlformats.org/drawingml/2006/main">
              <a:ext uri="{FF2B5EF4-FFF2-40B4-BE49-F238E27FC236}">
                <a16:creationId xmlns:a16="http://schemas.microsoft.com/office/drawing/2014/main" id="{FB4E1F6A-3264-4A9D-93E3-61002BE5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Independent approval, verification</a:t>
            </a:r>
          </a:p>
          <a:p xmlns:a="http://schemas.openxmlformats.org/drawingml/2006/main">
            <a:pPr>
              <a:defRPr sz="165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and a draft pull request</a:t>
            </a:r>
          </a:p>
        </p:txBody>
      </p:sp>
      <p:sp>
        <p:nvSpPr>
          <p:cNvPr id="17" name="Feature 0">
            <a:extLst xmlns:a="http://schemas.openxmlformats.org/drawingml/2006/main">
              <a:ext uri="{FF2B5EF4-FFF2-40B4-BE49-F238E27FC236}">
                <a16:creationId xmlns:a16="http://schemas.microsoft.com/office/drawing/2014/main" id="{04F062C3-624A-4BFC-8A01-6EF34E45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5025"/>
            <a:ext cx="529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Evidence behind every answer</a:t>
            </a:r>
          </a:p>
        </p:txBody>
      </p:sp>
      <p:sp>
        <p:nvSpPr>
          <p:cNvPr id="18" name="Rationale 0">
            <a:extLst xmlns:a="http://schemas.openxmlformats.org/drawingml/2006/main">
              <a:ext uri="{FF2B5EF4-FFF2-40B4-BE49-F238E27FC236}">
                <a16:creationId xmlns:a16="http://schemas.microsoft.com/office/drawing/2014/main" id="{2FBFA4C3-C2E5-4EC8-BF0E-C8EE288E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5295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Why: reduce time spent reconstructing context.</a:t>
            </a:r>
          </a:p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How: versioned sources and verified citations.</a:t>
            </a:r>
          </a:p>
        </p:txBody>
      </p:sp>
      <p:sp>
        <p:nvSpPr>
          <p:cNvPr id="19" name="Feature 1">
            <a:extLst xmlns:a="http://schemas.openxmlformats.org/drawingml/2006/main">
              <a:ext uri="{FF2B5EF4-FFF2-40B4-BE49-F238E27FC236}">
                <a16:creationId xmlns:a16="http://schemas.microsoft.com/office/drawing/2014/main" id="{C0BA9696-9B73-465E-BA8F-E31F80B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19425"/>
            <a:ext cx="529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Application access by design</a:t>
            </a:r>
          </a:p>
        </p:txBody>
      </p:sp>
      <p:sp>
        <p:nvSpPr>
          <p:cNvPr id="20" name="Rationale 1">
            <a:extLst xmlns:a="http://schemas.openxmlformats.org/drawingml/2006/main">
              <a:ext uri="{FF2B5EF4-FFF2-40B4-BE49-F238E27FC236}">
                <a16:creationId xmlns:a16="http://schemas.microsoft.com/office/drawing/2014/main" id="{AC86B993-B3CF-4F43-A6EE-C10B8A05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5295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Why: control who can use each application’s knowledge.</a:t>
            </a:r>
          </a:p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How: explicit grants and server-side policy checks.</a:t>
            </a:r>
          </a:p>
        </p:txBody>
      </p:sp>
      <p:sp>
        <p:nvSpPr>
          <p:cNvPr id="21" name="Feature 2">
            <a:extLst xmlns:a="http://schemas.openxmlformats.org/drawingml/2006/main">
              <a:ext uri="{FF2B5EF4-FFF2-40B4-BE49-F238E27FC236}">
                <a16:creationId xmlns:a16="http://schemas.microsoft.com/office/drawing/2014/main" id="{CCB9C280-B117-45B7-A2E3-5731BEF5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3825"/>
            <a:ext cx="529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Human control over code changes</a:t>
            </a:r>
          </a:p>
        </p:txBody>
      </p:sp>
      <p:sp>
        <p:nvSpPr>
          <p:cNvPr id="22" name="Rationale 2">
            <a:extLst xmlns:a="http://schemas.openxmlformats.org/drawingml/2006/main">
              <a:ext uri="{FF2B5EF4-FFF2-40B4-BE49-F238E27FC236}">
                <a16:creationId xmlns:a16="http://schemas.microsoft.com/office/drawing/2014/main" id="{9CDBD527-AD77-45E3-89E4-760EB1D1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67200"/>
            <a:ext cx="5295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Why: retain accountability as AI proposes fixes.</a:t>
            </a:r>
          </a:p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How: pinned plans, separate approval and draft PRs.</a:t>
            </a:r>
          </a:p>
        </p:txBody>
      </p:sp>
      <p:sp>
        <p:nvSpPr>
          <p:cNvPr id="23" name="Feature 3">
            <a:extLst xmlns:a="http://schemas.openxmlformats.org/drawingml/2006/main">
              <a:ext uri="{FF2B5EF4-FFF2-40B4-BE49-F238E27FC236}">
                <a16:creationId xmlns:a16="http://schemas.microsoft.com/office/drawing/2014/main" id="{023AFCB8-6D4D-4A13-9183-890B4CE6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48225"/>
            <a:ext cx="529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106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10638"/>
                </a:solidFill>
                <a:latin typeface="Arial"/>
                <a:ea typeface="Arial"/>
                <a:cs typeface="Arial"/>
              </a:rPr>
              <a:t>Model choice with cost visibility</a:t>
            </a:r>
          </a:p>
        </p:txBody>
      </p:sp>
      <p:sp>
        <p:nvSpPr>
          <p:cNvPr id="24" name="Rationale 3">
            <a:extLst xmlns:a="http://schemas.openxmlformats.org/drawingml/2006/main">
              <a:ext uri="{FF2B5EF4-FFF2-40B4-BE49-F238E27FC236}">
                <a16:creationId xmlns:a16="http://schemas.microsoft.com/office/drawing/2014/main" id="{B807AFFD-32C6-41C4-9A10-2D542106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81600"/>
            <a:ext cx="5295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Why: adapt AI use to the task and its cost.</a:t>
            </a:r>
          </a:p>
          <a:p xmlns:a="http://schemas.openxmlformats.org/drawingml/2006/main">
            <a:pPr>
              <a:defRPr sz="1500" b="0">
                <a:solidFill>
                  <a:srgbClr val="5148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485B"/>
                </a:solidFill>
                <a:latin typeface="Arial"/>
                <a:ea typeface="Arial"/>
                <a:cs typeface="Arial"/>
              </a:rPr>
              <a:t>How: OpenAI / Claude settings and usage receipts.</a:t>
            </a:r>
          </a:p>
        </p:txBody>
      </p:sp>
      <p:sp>
        <p:nvSpPr>
          <p:cNvPr id="25" name="Implementation stack">
            <a:extLst xmlns:a="http://schemas.openxmlformats.org/drawingml/2006/main">
              <a:ext uri="{FF2B5EF4-FFF2-40B4-BE49-F238E27FC236}">
                <a16:creationId xmlns:a16="http://schemas.microsoft.com/office/drawing/2014/main" id="{A7A5D781-372B-42F0-B67C-C6E5DB56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500C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500C0"/>
                </a:solidFill>
                <a:latin typeface="Arial"/>
                <a:ea typeface="Arial"/>
                <a:cs typeface="Arial"/>
              </a:rPr>
              <a:t>Python / Django foundation with background workers</a:t>
            </a:r>
          </a:p>
        </p:txBody>
      </p:sp>
      <p:sp>
        <p:nvSpPr>
          <p:cNvPr id="26" name="Release boundary">
            <a:extLst xmlns:a="http://schemas.openxmlformats.org/drawingml/2006/main">
              <a:ext uri="{FF2B5EF4-FFF2-40B4-BE49-F238E27FC236}">
                <a16:creationId xmlns:a16="http://schemas.microsoft.com/office/drawing/2014/main" id="{E2C5A5C6-F887-485B-9CF4-6972F841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D647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D6476"/>
                </a:solidFill>
                <a:latin typeface="Arial"/>
                <a:ea typeface="Arial"/>
                <a:cs typeface="Arial"/>
              </a:rPr>
              <a:t>Production work remains: SSO / MFA, storage isolation, source permissions and recovery validation.</a:t>
            </a:r>
          </a:p>
        </p:txBody>
      </p:sp>
    </p:spTree>
    <p:extLst>
      <p:ext uri="{BB962C8B-B14F-4D97-AF65-F5344CB8AC3E}">
        <p14:creationId xmlns:p14="http://schemas.microsoft.com/office/powerpoint/2010/main" val="20484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2026-09-25T11:38:09.7570000Z</dcterms:created>
  <dcterms:modified xsi:type="dcterms:W3CDTF">2026-09-25T11:38:09.7570000Z</dcterms:modified>
</coreProperties>
</file>