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5a1b9b0d4d4631" /><Relationship Type="http://schemas.openxmlformats.org/officeDocument/2006/relationships/extended-properties" Target="/docProps/app.xml" Id="Re1384f8bdaf3490d" /><Relationship Type="http://schemas.openxmlformats.org/officeDocument/2006/relationships/officeDocument" Target="/ppt/presentation.xml" Id="R8a7b8146fdae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3623db02d471f"/>
  </p:sldMasterIdLst>
  <p:notesMasterIdLst>
    <p:notesMasterId xmlns:r="http://schemas.openxmlformats.org/officeDocument/2006/relationships" r:id="R384c78b4a6924f06"/>
  </p:notesMasterIdLst>
  <p:sldIdLst>
    <p:sldId xmlns:r="http://schemas.openxmlformats.org/officeDocument/2006/relationships" id="256" r:id="Re5b3676558cd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fd0f3c0364b9e" /><Relationship Type="http://schemas.openxmlformats.org/officeDocument/2006/relationships/slideMaster" Target="/ppt/slideMasters/slideMaster1.xml" Id="R59b3623db02d471f" /><Relationship Type="http://schemas.openxmlformats.org/officeDocument/2006/relationships/notesMaster" Target="/ppt/notesMasters/notesMaster1.xml" Id="R384c78b4a6924f06" /><Relationship Type="http://schemas.openxmlformats.org/officeDocument/2006/relationships/presProps" Target="/ppt/presProps.xml" Id="R6bdcf48ad5134f47" /><Relationship Type="http://schemas.openxmlformats.org/officeDocument/2006/relationships/tableStyles" Target="/ppt/tableStyles.xml" Id="R9816c1b3394e4618" /><Relationship Type="http://schemas.openxmlformats.org/officeDocument/2006/relationships/slide" Target="/ppt/slides/slide1.xml" Id="Re5b3676558cd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d0b92a8644a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d14d8f3df43e8" /><Relationship Type="http://schemas.openxmlformats.org/officeDocument/2006/relationships/notesMaster" Target="/ppt/notesMasters/notesMaster1.xml" Id="R21e46416db7f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snapshot grounded in local repository documents: README.md (Available now and Structure); docs/feature-workflows.md (documents, AI providers, Code Factory); docs/non-functional.md (security, availability and release requirements). Supporting code: platform_core/code_factory.py, platform_core/policy.py, platform_core/graphs.py, platform_core/code_graph.py, platform_core/ai.py. Business reasons describe design intent, not measured benefits. Per-application policy is implemented; database/storage isolation and source-level ACLs are production work. No production readiness or quantified productivity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60d34f518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47206c13a4d07" /><Relationship Type="http://schemas.openxmlformats.org/officeDocument/2006/relationships/slideLayout" Target="/ppt/slideLayouts/slideLayout1.xml" Id="R2232071d4188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32071d4188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552dcbeb0453d" /><Relationship Type="http://schemas.openxmlformats.org/officeDocument/2006/relationships/notesSlide" Target="/ppt/notesSlides/notesSlide1.xml" Id="Rbd880ab8d0d54c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89DD0359-A60A-4FAF-B4B0-E1A896C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Purpose">
            <a:extLst xmlns:a="http://schemas.openxmlformats.org/drawingml/2006/main">
              <a:ext uri="{FF2B5EF4-FFF2-40B4-BE49-F238E27FC236}">
                <a16:creationId xmlns:a16="http://schemas.microsoft.com/office/drawing/2014/main" id="{0811542F-B380-43D6-B831-A09C320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2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5265"/>
                </a:solidFill>
                <a:latin typeface="Arial"/>
                <a:ea typeface="Arial"/>
                <a:cs typeface="Arial"/>
              </a:rPr>
              <a:t>Application knowledge, cited answers and governed code changes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300FE267-24BE-4C10-AD91-D8F8083E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Differentiators heading">
            <a:extLst xmlns:a="http://schemas.openxmlformats.org/drawingml/2006/main">
              <a:ext uri="{FF2B5EF4-FFF2-40B4-BE49-F238E27FC236}">
                <a16:creationId xmlns:a16="http://schemas.microsoft.com/office/drawing/2014/main" id="{67D6DED3-A3D8-491E-BA70-F372C19B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Key features / differentiators</a:t>
            </a:r>
          </a:p>
        </p:txBody>
      </p:sp>
      <p:sp>
        <p:nvSpPr>
          <p:cNvPr id="5" name="Stage 01">
            <a:extLst xmlns:a="http://schemas.openxmlformats.org/drawingml/2006/main">
              <a:ext uri="{FF2B5EF4-FFF2-40B4-BE49-F238E27FC236}">
                <a16:creationId xmlns:a16="http://schemas.microsoft.com/office/drawing/2014/main" id="{2CB3336F-326E-4D5E-B0F2-FD04633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Layer 01">
            <a:extLst xmlns:a="http://schemas.openxmlformats.org/drawingml/2006/main">
              <a:ext uri="{FF2B5EF4-FFF2-40B4-BE49-F238E27FC236}">
                <a16:creationId xmlns:a16="http://schemas.microsoft.com/office/drawing/2014/main" id="{56092D04-6EC7-48D7-B9A1-A18D1D7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Connect sources</a:t>
            </a:r>
          </a:p>
        </p:txBody>
      </p:sp>
      <p:sp>
        <p:nvSpPr>
          <p:cNvPr id="7" name="Layer detail 01">
            <a:extLst xmlns:a="http://schemas.openxmlformats.org/drawingml/2006/main">
              <a:ext uri="{FF2B5EF4-FFF2-40B4-BE49-F238E27FC236}">
                <a16:creationId xmlns:a16="http://schemas.microsoft.com/office/drawing/2014/main" id="{35219BA1-9775-4CA3-BC06-961EF59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Documents, GitHub code, Jira and ServiceNow</a:t>
            </a:r>
          </a:p>
        </p:txBody>
      </p:sp>
      <p:sp>
        <p:nvSpPr>
          <p:cNvPr id="8" name="Stage 02">
            <a:extLst xmlns:a="http://schemas.openxmlformats.org/drawingml/2006/main">
              <a:ext uri="{FF2B5EF4-FFF2-40B4-BE49-F238E27FC236}">
                <a16:creationId xmlns:a16="http://schemas.microsoft.com/office/drawing/2014/main" id="{B524E438-0B76-4604-BAC0-2EB4E388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Layer 02">
            <a:extLst xmlns:a="http://schemas.openxmlformats.org/drawingml/2006/main">
              <a:ext uri="{FF2B5EF4-FFF2-40B4-BE49-F238E27FC236}">
                <a16:creationId xmlns:a16="http://schemas.microsoft.com/office/drawing/2014/main" id="{2F9E5DC4-C442-4A68-833B-6C4E9BA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Build application knowledge</a:t>
            </a:r>
          </a:p>
        </p:txBody>
      </p:sp>
      <p:sp>
        <p:nvSpPr>
          <p:cNvPr id="10" name="Layer detail 02">
            <a:extLst xmlns:a="http://schemas.openxmlformats.org/drawingml/2006/main">
              <a:ext uri="{FF2B5EF4-FFF2-40B4-BE49-F238E27FC236}">
                <a16:creationId xmlns:a16="http://schemas.microsoft.com/office/drawing/2014/main" id="{1DD2DBF8-B881-4CC6-9E42-A64B3DFF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Markdown conversion, versioned evidence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knowledge / code graphs</a:t>
            </a:r>
          </a:p>
        </p:txBody>
      </p:sp>
      <p:sp>
        <p:nvSpPr>
          <p:cNvPr id="11" name="Stage 03">
            <a:extLst xmlns:a="http://schemas.openxmlformats.org/drawingml/2006/main">
              <a:ext uri="{FF2B5EF4-FFF2-40B4-BE49-F238E27FC236}">
                <a16:creationId xmlns:a16="http://schemas.microsoft.com/office/drawing/2014/main" id="{81060A87-75FE-4DC9-95D6-F701287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Layer 03">
            <a:extLst xmlns:a="http://schemas.openxmlformats.org/drawingml/2006/main">
              <a:ext uri="{FF2B5EF4-FFF2-40B4-BE49-F238E27FC236}">
                <a16:creationId xmlns:a16="http://schemas.microsoft.com/office/drawing/2014/main" id="{F9660549-B976-4A1F-9644-C34BFC0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338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Retrieve and reason</a:t>
            </a:r>
          </a:p>
        </p:txBody>
      </p:sp>
      <p:sp>
        <p:nvSpPr>
          <p:cNvPr id="13" name="Layer detail 03">
            <a:extLst xmlns:a="http://schemas.openxmlformats.org/drawingml/2006/main">
              <a:ext uri="{FF2B5EF4-FFF2-40B4-BE49-F238E27FC236}">
                <a16:creationId xmlns:a16="http://schemas.microsoft.com/office/drawing/2014/main" id="{1825F177-FDAF-4B18-8F2A-A586EBA3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Shared retrieval for cited chat, REST / MCP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Code Factory plans</a:t>
            </a:r>
          </a:p>
        </p:txBody>
      </p:sp>
      <p:sp>
        <p:nvSpPr>
          <p:cNvPr id="14" name="Stage 04">
            <a:extLst xmlns:a="http://schemas.openxmlformats.org/drawingml/2006/main">
              <a:ext uri="{FF2B5EF4-FFF2-40B4-BE49-F238E27FC236}">
                <a16:creationId xmlns:a16="http://schemas.microsoft.com/office/drawing/2014/main" id="{8DDD76E5-A628-4B32-A4E0-39D42AF4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Layer 04">
            <a:extLst xmlns:a="http://schemas.openxmlformats.org/drawingml/2006/main">
              <a:ext uri="{FF2B5EF4-FFF2-40B4-BE49-F238E27FC236}">
                <a16:creationId xmlns:a16="http://schemas.microsoft.com/office/drawing/2014/main" id="{4A9E18DC-EBDA-4431-A427-D0F3FF7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Review and deliver</a:t>
            </a:r>
          </a:p>
        </p:txBody>
      </p:sp>
      <p:sp>
        <p:nvSpPr>
          <p:cNvPr id="16" name="Layer detail 04">
            <a:extLst xmlns:a="http://schemas.openxmlformats.org/drawingml/2006/main">
              <a:ext uri="{FF2B5EF4-FFF2-40B4-BE49-F238E27FC236}">
                <a16:creationId xmlns:a16="http://schemas.microsoft.com/office/drawing/2014/main" id="{76564F25-21FF-49AE-9D3F-4E0232B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Independent approval, verification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a draft pull request</a:t>
            </a:r>
          </a:p>
        </p:txBody>
      </p:sp>
      <p:sp>
        <p:nvSpPr>
          <p:cNvPr id="17" name="Feature 0">
            <a:extLst xmlns:a="http://schemas.openxmlformats.org/drawingml/2006/main">
              <a:ext uri="{FF2B5EF4-FFF2-40B4-BE49-F238E27FC236}">
                <a16:creationId xmlns:a16="http://schemas.microsoft.com/office/drawing/2014/main" id="{651B3981-1439-42F4-8C66-F0EF7090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Evidence behind every answer</a:t>
            </a:r>
          </a:p>
        </p:txBody>
      </p:sp>
      <p:sp>
        <p:nvSpPr>
          <p:cNvPr id="18" name="Rationale 0">
            <a:extLst xmlns:a="http://schemas.openxmlformats.org/drawingml/2006/main">
              <a:ext uri="{FF2B5EF4-FFF2-40B4-BE49-F238E27FC236}">
                <a16:creationId xmlns:a16="http://schemas.microsoft.com/office/drawing/2014/main" id="{BD8B157B-1CAF-47B4-8D8B-8838836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reduce time spent reconstructing context.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versioned sources and verified citations.</a:t>
            </a:r>
          </a:p>
        </p:txBody>
      </p:sp>
      <p:sp>
        <p:nvSpPr>
          <p:cNvPr id="19" name="Feature 1">
            <a:extLst xmlns:a="http://schemas.openxmlformats.org/drawingml/2006/main">
              <a:ext uri="{FF2B5EF4-FFF2-40B4-BE49-F238E27FC236}">
                <a16:creationId xmlns:a16="http://schemas.microsoft.com/office/drawing/2014/main" id="{1E84FD48-C947-4B54-8B5E-FB459EB3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94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access by design</a:t>
            </a:r>
          </a:p>
        </p:txBody>
      </p:sp>
      <p:sp>
        <p:nvSpPr>
          <p:cNvPr id="20" name="Rationale 1">
            <a:extLst xmlns:a="http://schemas.openxmlformats.org/drawingml/2006/main">
              <a:ext uri="{FF2B5EF4-FFF2-40B4-BE49-F238E27FC236}">
                <a16:creationId xmlns:a16="http://schemas.microsoft.com/office/drawing/2014/main" id="{EC7CB724-9B0E-4473-AAC5-5BE7154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control who can use each application’s knowledge.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explicit grants and server-side policy checks.</a:t>
            </a:r>
          </a:p>
        </p:txBody>
      </p:sp>
      <p:sp>
        <p:nvSpPr>
          <p:cNvPr id="21" name="Feature 2">
            <a:extLst xmlns:a="http://schemas.openxmlformats.org/drawingml/2006/main">
              <a:ext uri="{FF2B5EF4-FFF2-40B4-BE49-F238E27FC236}">
                <a16:creationId xmlns:a16="http://schemas.microsoft.com/office/drawing/2014/main" id="{2E82F47C-E646-4E74-9EBC-4538877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Human control over code changes</a:t>
            </a:r>
          </a:p>
        </p:txBody>
      </p:sp>
      <p:sp>
        <p:nvSpPr>
          <p:cNvPr id="22" name="Rationale 2">
            <a:extLst xmlns:a="http://schemas.openxmlformats.org/drawingml/2006/main">
              <a:ext uri="{FF2B5EF4-FFF2-40B4-BE49-F238E27FC236}">
                <a16:creationId xmlns:a16="http://schemas.microsoft.com/office/drawing/2014/main" id="{A9E1A8C3-1240-4DE6-8AC8-18B5330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retain accountability as AI proposes fixes.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pinned plans, separate approval and draft PRs.</a:t>
            </a:r>
          </a:p>
        </p:txBody>
      </p:sp>
      <p:sp>
        <p:nvSpPr>
          <p:cNvPr id="23" name="Feature 3">
            <a:extLst xmlns:a="http://schemas.openxmlformats.org/drawingml/2006/main">
              <a:ext uri="{FF2B5EF4-FFF2-40B4-BE49-F238E27FC236}">
                <a16:creationId xmlns:a16="http://schemas.microsoft.com/office/drawing/2014/main" id="{36EF6133-3E7D-4F25-A92B-5B97FA3C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82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Model choice with cost visibility</a:t>
            </a:r>
          </a:p>
        </p:txBody>
      </p:sp>
      <p:sp>
        <p:nvSpPr>
          <p:cNvPr id="24" name="Rationale 3">
            <a:extLst xmlns:a="http://schemas.openxmlformats.org/drawingml/2006/main">
              <a:ext uri="{FF2B5EF4-FFF2-40B4-BE49-F238E27FC236}">
                <a16:creationId xmlns:a16="http://schemas.microsoft.com/office/drawing/2014/main" id="{75E90A2B-2C5D-4D9E-9AA6-ABA3480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adapt AI use to the task and its cost.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OpenAI / Claude settings and usage receipts.</a:t>
            </a:r>
          </a:p>
        </p:txBody>
      </p:sp>
      <p:sp>
        <p:nvSpPr>
          <p:cNvPr id="25" name="Implementation stack">
            <a:extLst xmlns:a="http://schemas.openxmlformats.org/drawingml/2006/main">
              <a:ext uri="{FF2B5EF4-FFF2-40B4-BE49-F238E27FC236}">
                <a16:creationId xmlns:a16="http://schemas.microsoft.com/office/drawing/2014/main" id="{3738E7FA-FD25-4D2F-9688-99F574A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Python / Django foundation with background workers</a:t>
            </a:r>
          </a:p>
        </p:txBody>
      </p:sp>
      <p:sp>
        <p:nvSpPr>
          <p:cNvPr id="26" name="Release boundary">
            <a:extLst xmlns:a="http://schemas.openxmlformats.org/drawingml/2006/main">
              <a:ext uri="{FF2B5EF4-FFF2-40B4-BE49-F238E27FC236}">
                <a16:creationId xmlns:a16="http://schemas.microsoft.com/office/drawing/2014/main" id="{1A11C392-6DF6-4F45-A5FE-0A15D8E9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Production work remains: SSO / MFA, storage isolation, source permissions and recovery validation.</a:t>
            </a:r>
          </a:p>
        </p:txBody>
      </p:sp>
    </p:spTree>
    <p:extLst>
      <p:ext uri="{BB962C8B-B14F-4D97-AF65-F5344CB8AC3E}">
        <p14:creationId xmlns:p14="http://schemas.microsoft.com/office/powerpoint/2010/main" val="340952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2026-09-25T11:36:37.9130000Z</dcterms:created>
  <dcterms:modified xsi:type="dcterms:W3CDTF">2026-09-25T11:36:37.9130000Z</dcterms:modified>
</coreProperties>
</file>