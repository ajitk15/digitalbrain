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0f7bc3d8b64cd6" /><Relationship Type="http://schemas.openxmlformats.org/officeDocument/2006/relationships/extended-properties" Target="/docProps/app.xml" Id="Rafb974a49a564d3f" /><Relationship Type="http://schemas.openxmlformats.org/officeDocument/2006/relationships/officeDocument" Target="/ppt/presentation.xml" Id="Re33bece48a014f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72d21d2fc246d4"/>
  </p:sldMasterIdLst>
  <p:notesMasterIdLst>
    <p:notesMasterId xmlns:r="http://schemas.openxmlformats.org/officeDocument/2006/relationships" r:id="R2c2562bd89ce41c1"/>
  </p:notesMasterIdLst>
  <p:sldIdLst>
    <p:sldId xmlns:r="http://schemas.openxmlformats.org/officeDocument/2006/relationships" id="256" r:id="R4346e53e6cef43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753f77ab6d4761" /><Relationship Type="http://schemas.openxmlformats.org/officeDocument/2006/relationships/slideMaster" Target="/ppt/slideMasters/slideMaster1.xml" Id="Rca72d21d2fc246d4" /><Relationship Type="http://schemas.openxmlformats.org/officeDocument/2006/relationships/notesMaster" Target="/ppt/notesMasters/notesMaster1.xml" Id="R2c2562bd89ce41c1" /><Relationship Type="http://schemas.openxmlformats.org/officeDocument/2006/relationships/presProps" Target="/ppt/presProps.xml" Id="R55cc196922be4e13" /><Relationship Type="http://schemas.openxmlformats.org/officeDocument/2006/relationships/tableStyles" Target="/ppt/tableStyles.xml" Id="R019b2781dcce40c2" /><Relationship Type="http://schemas.openxmlformats.org/officeDocument/2006/relationships/slide" Target="/ppt/slides/slide1.xml" Id="R4346e53e6cef43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ae23492ace40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e9e895b4334bdf" /><Relationship Type="http://schemas.openxmlformats.org/officeDocument/2006/relationships/notesMaster" Target="/ppt/notesMasters/notesMaster1.xml" Id="R87aadef5453946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Validated against the current local working tree on 25 September 2026. Sources: README.md; docs/feature-workflows.md; docs/non-functional.md; platform_core/code_factory.py; platform_core/code_graph.py; platform_core/graphs.py; platform_core/connectors.py; platform_core/serviceops.py; platform_core/serviceops_triage.py; platform_core/utility/api_triage.py; platform_core/models.py. The ServiceOps hypothesis and verdict flow is present in uncommitted local changes and is therefore current-build work, not a released capability. Its 20 targeted tests passed locally. Connector imports may be scheduled every 15 minutes or longer and are not a live event stream. Code Factory performs a model verification phase but does not run a repository build or test suite and creates only a draft PR. ServiceOps confidence bands are provisional, not calibrated probabilities; it does not establish root cause or remediate an incident. The wow statement describes the product combination within this workspace, not a market exclusivity claim. Production security and isolation work remains.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98633fb26347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7c8145b9554220" /><Relationship Type="http://schemas.openxmlformats.org/officeDocument/2006/relationships/slideLayout" Target="/ppt/slideLayouts/slideLayout1.xml" Id="R3986d48355bc4d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86d48355bc4d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e532a90084f89" /><Relationship Type="http://schemas.openxmlformats.org/officeDocument/2006/relationships/notesSlide" Target="/ppt/notesSlides/notesSlide1.xml" Id="Rd2728d6966d74e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2AA5C53C-98BC-4E52-BD28-8EB7B5F4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Digital Brain: evidence to action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55F6E90-F504-41F5-931B-F6CB8487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7725"/>
            <a:ext cx="11163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Current architecture and differentiators for SDLC and ServiceOps</a:t>
            </a:r>
          </a:p>
        </p:txBody>
      </p:sp>
      <p:sp>
        <p:nvSpPr>
          <p:cNvPr id="3" name="Architecture heading">
            <a:extLst xmlns:a="http://schemas.openxmlformats.org/drawingml/2006/main">
              <a:ext uri="{FF2B5EF4-FFF2-40B4-BE49-F238E27FC236}">
                <a16:creationId xmlns:a16="http://schemas.microsoft.com/office/drawing/2014/main" id="{39A27C5D-F4AC-492A-8A2F-1C5F1EE4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500C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CURRENT ARCHITECTURE</a:t>
            </a:r>
          </a:p>
        </p:txBody>
      </p:sp>
      <p:sp>
        <p:nvSpPr>
          <p:cNvPr id="4" name="Sources">
            <a:extLst xmlns:a="http://schemas.openxmlformats.org/drawingml/2006/main">
              <a:ext uri="{FF2B5EF4-FFF2-40B4-BE49-F238E27FC236}">
                <a16:creationId xmlns:a16="http://schemas.microsoft.com/office/drawing/2014/main" id="{1CCF506F-F024-4FD7-8D46-2D78C290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26289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3FF"/>
          </a:solidFill>
          <a:ln xmlns:a="http://schemas.openxmlformats.org/drawingml/2006/main" w="15240">
            <a:solidFill>
              <a:srgbClr val="A100FF"/>
            </a:solidFill>
          </a:ln>
        </p:spPr>
      </p:sp>
      <p:sp>
        <p:nvSpPr>
          <p:cNvPr id="5" name="Sources title">
            <a:extLst xmlns:a="http://schemas.openxmlformats.org/drawingml/2006/main">
              <a:ext uri="{FF2B5EF4-FFF2-40B4-BE49-F238E27FC236}">
                <a16:creationId xmlns:a16="http://schemas.microsoft.com/office/drawing/2014/main" id="{ED30D2E7-CBD8-43C1-8322-AB6D7C8D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5262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6" name="Sources detail">
            <a:extLst xmlns:a="http://schemas.openxmlformats.org/drawingml/2006/main">
              <a:ext uri="{FF2B5EF4-FFF2-40B4-BE49-F238E27FC236}">
                <a16:creationId xmlns:a16="http://schemas.microsoft.com/office/drawing/2014/main" id="{A596D9E2-5758-4755-9327-6AB040F4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314575"/>
            <a:ext cx="2324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Documents, GitHub code,</a:t>
            </a:r>
          </a:p>
          <a:p xmlns:a="http://schemas.openxmlformats.org/drawingml/2006/main">
            <a:pPr>
              <a:defRPr sz="13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Jira and ServiceNow</a:t>
            </a:r>
          </a:p>
        </p:txBody>
      </p:sp>
      <p:sp>
        <p:nvSpPr>
          <p:cNvPr id="7" name="Processing">
            <a:extLst xmlns:a="http://schemas.openxmlformats.org/drawingml/2006/main">
              <a:ext uri="{FF2B5EF4-FFF2-40B4-BE49-F238E27FC236}">
                <a16:creationId xmlns:a16="http://schemas.microsoft.com/office/drawing/2014/main" id="{3BA1B7E1-4B3C-491C-9353-8F3A8B1E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809750"/>
            <a:ext cx="26289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3FF"/>
          </a:solidFill>
          <a:ln xmlns:a="http://schemas.openxmlformats.org/drawingml/2006/main" w="15240">
            <a:solidFill>
              <a:srgbClr val="A100FF"/>
            </a:solidFill>
          </a:ln>
        </p:spPr>
      </p:sp>
      <p:sp>
        <p:nvSpPr>
          <p:cNvPr id="8" name="Processing title">
            <a:extLst xmlns:a="http://schemas.openxmlformats.org/drawingml/2006/main">
              <a:ext uri="{FF2B5EF4-FFF2-40B4-BE49-F238E27FC236}">
                <a16:creationId xmlns:a16="http://schemas.microsoft.com/office/drawing/2014/main" id="{3CFA7176-15F8-40B1-BA06-8B21FB46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5262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Processing</a:t>
            </a:r>
          </a:p>
        </p:txBody>
      </p:sp>
      <p:sp>
        <p:nvSpPr>
          <p:cNvPr id="9" name="Processing detail">
            <a:extLst xmlns:a="http://schemas.openxmlformats.org/drawingml/2006/main">
              <a:ext uri="{FF2B5EF4-FFF2-40B4-BE49-F238E27FC236}">
                <a16:creationId xmlns:a16="http://schemas.microsoft.com/office/drawing/2014/main" id="{520C9A23-486F-4886-AA4B-08C4E138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14575"/>
            <a:ext cx="2324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Conversion, code indexing,</a:t>
            </a:r>
          </a:p>
          <a:p xmlns:a="http://schemas.openxmlformats.org/drawingml/2006/main">
            <a:pPr>
              <a:defRPr sz="13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scheduled ticket import</a:t>
            </a:r>
          </a:p>
        </p:txBody>
      </p:sp>
      <p:sp>
        <p:nvSpPr>
          <p:cNvPr id="10" name="Evidence">
            <a:extLst xmlns:a="http://schemas.openxmlformats.org/drawingml/2006/main">
              <a:ext uri="{FF2B5EF4-FFF2-40B4-BE49-F238E27FC236}">
                <a16:creationId xmlns:a16="http://schemas.microsoft.com/office/drawing/2014/main" id="{7A113CF8-C68C-4C59-95F1-A4C4EBE7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09750"/>
            <a:ext cx="26289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3FF"/>
          </a:solidFill>
          <a:ln xmlns:a="http://schemas.openxmlformats.org/drawingml/2006/main" w="15240">
            <a:solidFill>
              <a:srgbClr val="A100FF"/>
            </a:solidFill>
          </a:ln>
        </p:spPr>
      </p:sp>
      <p:sp>
        <p:nvSpPr>
          <p:cNvPr id="11" name="Evidence title">
            <a:extLst xmlns:a="http://schemas.openxmlformats.org/drawingml/2006/main">
              <a:ext uri="{FF2B5EF4-FFF2-40B4-BE49-F238E27FC236}">
                <a16:creationId xmlns:a16="http://schemas.microsoft.com/office/drawing/2014/main" id="{CDC92FBE-811F-4E79-9B5E-8BCDEDB7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95262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Application evidence</a:t>
            </a:r>
          </a:p>
        </p:txBody>
      </p:sp>
      <p:sp>
        <p:nvSpPr>
          <p:cNvPr id="12" name="Evidence detail">
            <a:extLst xmlns:a="http://schemas.openxmlformats.org/drawingml/2006/main">
              <a:ext uri="{FF2B5EF4-FFF2-40B4-BE49-F238E27FC236}">
                <a16:creationId xmlns:a16="http://schemas.microsoft.com/office/drawing/2014/main" id="{CB655CB4-A90D-438D-8CEC-51BD640A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314575"/>
            <a:ext cx="2324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Published graph;</a:t>
            </a:r>
          </a:p>
          <a:p xmlns:a="http://schemas.openxmlformats.org/drawingml/2006/main">
            <a:pPr>
              <a:defRPr sz="13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commit-pinned code index</a:t>
            </a:r>
          </a:p>
        </p:txBody>
      </p:sp>
      <p:sp>
        <p:nvSpPr>
          <p:cNvPr id="13" name="Use">
            <a:extLst xmlns:a="http://schemas.openxmlformats.org/drawingml/2006/main">
              <a:ext uri="{FF2B5EF4-FFF2-40B4-BE49-F238E27FC236}">
                <a16:creationId xmlns:a16="http://schemas.microsoft.com/office/drawing/2014/main" id="{4C803B08-42EA-4690-BA9E-2A9A4F44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809750"/>
            <a:ext cx="26289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3FF"/>
          </a:solidFill>
          <a:ln xmlns:a="http://schemas.openxmlformats.org/drawingml/2006/main" w="15240">
            <a:solidFill>
              <a:srgbClr val="A100FF"/>
            </a:solidFill>
          </a:ln>
        </p:spPr>
      </p:sp>
      <p:sp>
        <p:nvSpPr>
          <p:cNvPr id="14" name="Use title">
            <a:extLst xmlns:a="http://schemas.openxmlformats.org/drawingml/2006/main">
              <a:ext uri="{FF2B5EF4-FFF2-40B4-BE49-F238E27FC236}">
                <a16:creationId xmlns:a16="http://schemas.microsoft.com/office/drawing/2014/main" id="{B35E5CD7-BD0D-4AFA-AC5F-E1DB2958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5262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Experiences</a:t>
            </a:r>
          </a:p>
        </p:txBody>
      </p:sp>
      <p:sp>
        <p:nvSpPr>
          <p:cNvPr id="15" name="Use detail">
            <a:extLst xmlns:a="http://schemas.openxmlformats.org/drawingml/2006/main">
              <a:ext uri="{FF2B5EF4-FFF2-40B4-BE49-F238E27FC236}">
                <a16:creationId xmlns:a16="http://schemas.microsoft.com/office/drawing/2014/main" id="{DC23DA57-1C43-4FE8-A15B-6DF33AA4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14575"/>
            <a:ext cx="2324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Chat / API, Code Factory,</a:t>
            </a:r>
          </a:p>
          <a:p xmlns:a="http://schemas.openxmlformats.org/drawingml/2006/main">
            <a:pPr>
              <a:defRPr sz="13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ServiceOps triage</a:t>
            </a:r>
          </a:p>
        </p:txBody>
      </p:sp>
      <p:cxnSp>
        <p:nvCxnSpPr>
          <p:cNvPr id="45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24200" y="2395538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100FF"/>
            </a:solidFill>
            <a:tailEnd type="triangle" w="med" len="med"/>
          </a:ln>
        </p:spPr>
      </p:cxnSp>
      <p:cxnSp>
        <p:nvCxnSpPr>
          <p:cNvPr id="4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143625" y="2395538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100FF"/>
            </a:solidFill>
            <a:tailEnd type="triangle" w="med" len="med"/>
          </a:ln>
        </p:spPr>
      </p:cxnSp>
      <p:cxnSp>
        <p:nvCxnSpPr>
          <p:cNvPr id="47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163050" y="2395538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100FF"/>
            </a:solidFill>
            <a:tailEnd type="triangle" w="med" len="med"/>
          </a:ln>
        </p:spPr>
      </p:cxnSp>
      <p:sp>
        <p:nvSpPr>
          <p:cNvPr id="19" name="Cross-cutting controls">
            <a:extLst xmlns:a="http://schemas.openxmlformats.org/drawingml/2006/main">
              <a:ext uri="{FF2B5EF4-FFF2-40B4-BE49-F238E27FC236}">
                <a16:creationId xmlns:a16="http://schemas.microsoft.com/office/drawing/2014/main" id="{20324246-4919-4E59-B5C1-1D9D85E6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670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500C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Across every path: application grants, task-level model choice and AI usage receipts</a:t>
            </a:r>
          </a:p>
        </p:txBody>
      </p:sp>
      <p:sp>
        <p:nvSpPr>
          <p:cNvPr id="20" name="SDLC header">
            <a:extLst xmlns:a="http://schemas.openxmlformats.org/drawingml/2006/main">
              <a:ext uri="{FF2B5EF4-FFF2-40B4-BE49-F238E27FC236}">
                <a16:creationId xmlns:a16="http://schemas.microsoft.com/office/drawing/2014/main" id="{50962839-DF15-42D8-B058-0E8BEA37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52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00C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SDLC</a:t>
            </a:r>
          </a:p>
        </p:txBody>
      </p:sp>
      <p:sp>
        <p:nvSpPr>
          <p:cNvPr id="21" name="SDLC journey">
            <a:extLst xmlns:a="http://schemas.openxmlformats.org/drawingml/2006/main">
              <a:ext uri="{FF2B5EF4-FFF2-40B4-BE49-F238E27FC236}">
                <a16:creationId xmlns:a16="http://schemas.microsoft.com/office/drawing/2014/main" id="{65B23198-5206-4B97-A169-CD6D535F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3325"/>
            <a:ext cx="53625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Ticket to approved draft PR</a:t>
            </a:r>
          </a:p>
        </p:txBody>
      </p:sp>
      <p:sp>
        <p:nvSpPr>
          <p:cNvPr id="22" name="SDLC value">
            <a:extLst xmlns:a="http://schemas.openxmlformats.org/drawingml/2006/main">
              <a:ext uri="{FF2B5EF4-FFF2-40B4-BE49-F238E27FC236}">
                <a16:creationId xmlns:a16="http://schemas.microsoft.com/office/drawing/2014/main" id="{C0FD5D09-71E6-49DE-A97B-83CF155B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76725"/>
            <a:ext cx="5286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Finds requirement-to-code gaps using published evidence and a commit-pinned code index. Human approval gates the draft PR.</a:t>
            </a:r>
          </a:p>
        </p:txBody>
      </p:sp>
      <p:sp>
        <p:nvSpPr>
          <p:cNvPr id="23" name="ServiceOps header">
            <a:extLst xmlns:a="http://schemas.openxmlformats.org/drawingml/2006/main">
              <a:ext uri="{FF2B5EF4-FFF2-40B4-BE49-F238E27FC236}">
                <a16:creationId xmlns:a16="http://schemas.microsoft.com/office/drawing/2014/main" id="{59AE8C1E-7199-4306-BAF7-B63835F1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3528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00C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SERVICEOPS</a:t>
            </a:r>
          </a:p>
        </p:txBody>
      </p:sp>
      <p:sp>
        <p:nvSpPr>
          <p:cNvPr id="24" name="ServiceOps journey">
            <a:extLst xmlns:a="http://schemas.openxmlformats.org/drawingml/2006/main">
              <a:ext uri="{FF2B5EF4-FFF2-40B4-BE49-F238E27FC236}">
                <a16:creationId xmlns:a16="http://schemas.microsoft.com/office/drawing/2014/main" id="{261388AB-8C08-4B4C-96EB-75408700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743325"/>
            <a:ext cx="53054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Incident to evidence brief and verdict</a:t>
            </a:r>
          </a:p>
        </p:txBody>
      </p:sp>
      <p:sp>
        <p:nvSpPr>
          <p:cNvPr id="25" name="ServiceOps value">
            <a:extLst xmlns:a="http://schemas.openxmlformats.org/drawingml/2006/main">
              <a:ext uri="{FF2B5EF4-FFF2-40B4-BE49-F238E27FC236}">
                <a16:creationId xmlns:a16="http://schemas.microsoft.com/office/drawing/2014/main" id="{D9B7D12C-CE21-4621-B693-44D8D872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276725"/>
            <a:ext cx="53054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Combines resolved precedents, recent same-CI changes and published graph quotes. Offers read-only next checks and abstains when evidence is weak.</a:t>
            </a:r>
          </a:p>
        </p:txBody>
      </p:sp>
      <p:sp>
        <p:nvSpPr>
          <p:cNvPr id="26" name="Wow banner">
            <a:extLst xmlns:a="http://schemas.openxmlformats.org/drawingml/2006/main">
              <a:ext uri="{FF2B5EF4-FFF2-40B4-BE49-F238E27FC236}">
                <a16:creationId xmlns:a16="http://schemas.microsoft.com/office/drawing/2014/main" id="{75D7CAF0-7366-4922-A855-35C61A87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53075"/>
            <a:ext cx="112014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00C0"/>
          </a:solidFill>
          <a:ln xmlns:a="http://schemas.openxmlformats.org/drawingml/2006/main" w="0">
            <a:solidFill>
              <a:srgbClr val="7500C0"/>
            </a:solidFill>
          </a:ln>
        </p:spPr>
      </p:sp>
      <p:sp>
        <p:nvSpPr>
          <p:cNvPr id="27" name="Wow heading">
            <a:extLst xmlns:a="http://schemas.openxmlformats.org/drawingml/2006/main">
              <a:ext uri="{FF2B5EF4-FFF2-40B4-BE49-F238E27FC236}">
                <a16:creationId xmlns:a16="http://schemas.microsoft.com/office/drawing/2014/main" id="{E3C2EE22-9A35-438A-97BE-AD461179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WOW FACTOR</a:t>
            </a:r>
          </a:p>
        </p:txBody>
      </p:sp>
      <p:sp>
        <p:nvSpPr>
          <p:cNvPr id="28" name="Wow statement">
            <a:extLst xmlns:a="http://schemas.openxmlformats.org/drawingml/2006/main">
              <a:ext uri="{FF2B5EF4-FFF2-40B4-BE49-F238E27FC236}">
                <a16:creationId xmlns:a16="http://schemas.microsoft.com/office/drawing/2014/main" id="{D31E4602-9AB4-4429-BDF1-B6A6FC12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1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Cited draft PRs and incident briefs in one governed application workspace.</a:t>
            </a:r>
          </a:p>
        </p:txBody>
      </p:sp>
      <p:sp>
        <p:nvSpPr>
          <p:cNvPr id="29" name="Scope note">
            <a:extLst xmlns:a="http://schemas.openxmlformats.org/drawingml/2006/main">
              <a:ext uri="{FF2B5EF4-FFF2-40B4-BE49-F238E27FC236}">
                <a16:creationId xmlns:a16="http://schemas.microsoft.com/office/drawing/2014/main" id="{292C14A5-55F3-4B14-B6F1-0462B061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15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64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D6476"/>
                </a:solidFill>
                <a:latin typeface="Arial"/>
                <a:ea typeface="Arial"/>
                <a:cs typeface="Arial"/>
              </a:rPr>
              <a:t>Current build: connector sync is opt-in (15-minute minimum); triage runs on demand. Production hardening remains in progress.</a:t>
            </a:r>
          </a:p>
        </p:txBody>
      </p:sp>
    </p:spTree>
    <p:extLst>
      <p:ext uri="{BB962C8B-B14F-4D97-AF65-F5344CB8AC3E}">
        <p14:creationId xmlns:p14="http://schemas.microsoft.com/office/powerpoint/2010/main" val="17399238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2026-09-25T11:57:32.2300000Z</dcterms:created>
  <dcterms:modified xsi:type="dcterms:W3CDTF">2026-09-25T11:57:32.2300000Z</dcterms:modified>
</coreProperties>
</file>